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5765800" cy="3244850"/>
  <p:notesSz cx="5765800" cy="3244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1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580"/>
              </a:lnSpc>
            </a:pPr>
            <a:fld id="{81D60167-4931-47E6-BA6A-407CBD079E47}" type="slidenum">
              <a:rPr dirty="0" spc="-20"/>
              <a:t>#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15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0" i="1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580"/>
              </a:lnSpc>
            </a:pPr>
            <a:fld id="{81D60167-4931-47E6-BA6A-407CBD079E47}" type="slidenum">
              <a:rPr dirty="0" spc="-20"/>
              <a:t>#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15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580"/>
              </a:lnSpc>
            </a:pPr>
            <a:fld id="{81D60167-4931-47E6-BA6A-407CBD079E47}" type="slidenum">
              <a:rPr dirty="0" spc="-20"/>
              <a:t>#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15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580"/>
              </a:lnSpc>
            </a:pPr>
            <a:fld id="{81D60167-4931-47E6-BA6A-407CBD079E47}" type="slidenum">
              <a:rPr dirty="0" spc="-20"/>
              <a:t>#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15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580"/>
              </a:lnSpc>
            </a:pPr>
            <a:fld id="{81D60167-4931-47E6-BA6A-407CBD079E47}" type="slidenum">
              <a:rPr dirty="0" spc="-20"/>
              <a:t>#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15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3060"/>
            <a:ext cx="822960" cy="2893695"/>
          </a:xfrm>
          <a:custGeom>
            <a:avLst/>
            <a:gdLst/>
            <a:ahLst/>
            <a:cxnLst/>
            <a:rect l="l" t="t" r="r" b="b"/>
            <a:pathLst>
              <a:path w="822960" h="2893695">
                <a:moveTo>
                  <a:pt x="822413" y="0"/>
                </a:moveTo>
                <a:lnTo>
                  <a:pt x="0" y="0"/>
                </a:lnTo>
                <a:lnTo>
                  <a:pt x="0" y="2893314"/>
                </a:lnTo>
                <a:lnTo>
                  <a:pt x="822413" y="2893314"/>
                </a:lnTo>
                <a:lnTo>
                  <a:pt x="822413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7714" y="-1501"/>
            <a:ext cx="3273425" cy="248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51611" y="1572557"/>
            <a:ext cx="4679315" cy="1025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1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89689" y="3138668"/>
            <a:ext cx="215900" cy="89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580"/>
              </a:lnSpc>
            </a:pPr>
            <a:fld id="{81D60167-4931-47E6-BA6A-407CBD079E47}" type="slidenum">
              <a:rPr dirty="0" spc="-20"/>
              <a:t>#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15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8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2.xml"/><Relationship Id="rId11" Type="http://schemas.openxmlformats.org/officeDocument/2006/relationships/slide" Target="slide13.xml"/><Relationship Id="rId12" Type="http://schemas.openxmlformats.org/officeDocument/2006/relationships/image" Target="../media/image1.jpg"/><Relationship Id="rId13" Type="http://schemas.openxmlformats.org/officeDocument/2006/relationships/image" Target="../media/image2.png"/><Relationship Id="rId14" Type="http://schemas.openxmlformats.org/officeDocument/2006/relationships/image" Target="../media/image3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8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2.xml"/><Relationship Id="rId11" Type="http://schemas.openxmlformats.org/officeDocument/2006/relationships/slide" Target="slide13.xml"/><Relationship Id="rId12" Type="http://schemas.openxmlformats.org/officeDocument/2006/relationships/image" Target="../media/image1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8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2.xml"/><Relationship Id="rId11" Type="http://schemas.openxmlformats.org/officeDocument/2006/relationships/slide" Target="slide13.xml"/><Relationship Id="rId12" Type="http://schemas.openxmlformats.org/officeDocument/2006/relationships/image" Target="../media/image1.jpg"/><Relationship Id="rId13" Type="http://schemas.openxmlformats.org/officeDocument/2006/relationships/image" Target="../media/image4.png"/><Relationship Id="rId14" Type="http://schemas.openxmlformats.org/officeDocument/2006/relationships/image" Target="../media/image3.png"/><Relationship Id="rId15" Type="http://schemas.openxmlformats.org/officeDocument/2006/relationships/image" Target="../media/image5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8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2.xml"/><Relationship Id="rId11" Type="http://schemas.openxmlformats.org/officeDocument/2006/relationships/slide" Target="slide13.xml"/><Relationship Id="rId12" Type="http://schemas.openxmlformats.org/officeDocument/2006/relationships/image" Target="../media/image1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8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2.xml"/><Relationship Id="rId11" Type="http://schemas.openxmlformats.org/officeDocument/2006/relationships/slide" Target="slide13.xml"/><Relationship Id="rId12" Type="http://schemas.openxmlformats.org/officeDocument/2006/relationships/image" Target="../media/image1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8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2.xml"/><Relationship Id="rId11" Type="http://schemas.openxmlformats.org/officeDocument/2006/relationships/slide" Target="slide13.xml"/><Relationship Id="rId12" Type="http://schemas.openxmlformats.org/officeDocument/2006/relationships/image" Target="../media/image1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8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2.xml"/><Relationship Id="rId11" Type="http://schemas.openxmlformats.org/officeDocument/2006/relationships/slide" Target="slide13.xml"/><Relationship Id="rId12" Type="http://schemas.openxmlformats.org/officeDocument/2006/relationships/image" Target="../media/image1.jpg"/><Relationship Id="rId13" Type="http://schemas.openxmlformats.org/officeDocument/2006/relationships/image" Target="../media/image4.png"/><Relationship Id="rId14" Type="http://schemas.openxmlformats.org/officeDocument/2006/relationships/image" Target="../media/image5.png"/><Relationship Id="rId15" Type="http://schemas.openxmlformats.org/officeDocument/2006/relationships/image" Target="../media/image2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8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2.xml"/><Relationship Id="rId11" Type="http://schemas.openxmlformats.org/officeDocument/2006/relationships/slide" Target="slide13.xml"/><Relationship Id="rId12" Type="http://schemas.openxmlformats.org/officeDocument/2006/relationships/image" Target="../media/image1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8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2.xml"/><Relationship Id="rId11" Type="http://schemas.openxmlformats.org/officeDocument/2006/relationships/slide" Target="slide13.xml"/><Relationship Id="rId12" Type="http://schemas.openxmlformats.org/officeDocument/2006/relationships/image" Target="../media/image1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8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2.xml"/><Relationship Id="rId11" Type="http://schemas.openxmlformats.org/officeDocument/2006/relationships/slide" Target="slide13.xml"/><Relationship Id="rId12" Type="http://schemas.openxmlformats.org/officeDocument/2006/relationships/image" Target="../media/image1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8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2.xml"/><Relationship Id="rId11" Type="http://schemas.openxmlformats.org/officeDocument/2006/relationships/slide" Target="slide13.xml"/><Relationship Id="rId12" Type="http://schemas.openxmlformats.org/officeDocument/2006/relationships/image" Target="../media/image1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8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2.xml"/><Relationship Id="rId11" Type="http://schemas.openxmlformats.org/officeDocument/2006/relationships/slide" Target="slide13.xml"/><Relationship Id="rId12" Type="http://schemas.openxmlformats.org/officeDocument/2006/relationships/image" Target="../media/image1.jpg"/><Relationship Id="rId13" Type="http://schemas.openxmlformats.org/officeDocument/2006/relationships/image" Target="../media/image6.png"/><Relationship Id="rId14" Type="http://schemas.openxmlformats.org/officeDocument/2006/relationships/image" Target="../media/image7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Relationship Id="rId3" Type="http://schemas.openxmlformats.org/officeDocument/2006/relationships/slide" Target="slide14.xml"/><Relationship Id="rId4" Type="http://schemas.openxmlformats.org/officeDocument/2006/relationships/image" Target="../media/image1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02411" y="569442"/>
            <a:ext cx="4577715" cy="632460"/>
          </a:xfrm>
          <a:prstGeom prst="rect"/>
          <a:solidFill>
            <a:srgbClr val="003A70"/>
          </a:solidFill>
        </p:spPr>
        <p:txBody>
          <a:bodyPr wrap="square" lIns="0" tIns="85090" rIns="0" bIns="0" rtlCol="0" vert="horz">
            <a:spAutoFit/>
          </a:bodyPr>
          <a:lstStyle/>
          <a:p>
            <a:pPr marL="778510" marR="244475" indent="-527685">
              <a:lnSpc>
                <a:spcPct val="124500"/>
              </a:lnSpc>
              <a:spcBef>
                <a:spcPts val="670"/>
              </a:spcBef>
            </a:pPr>
            <a:r>
              <a:rPr dirty="0" sz="1200" spc="-25" b="0">
                <a:solidFill>
                  <a:srgbClr val="FFFFFF"/>
                </a:solidFill>
                <a:latin typeface="Arial"/>
                <a:cs typeface="Arial"/>
              </a:rPr>
              <a:t>PHỐI</a:t>
            </a:r>
            <a:r>
              <a:rPr dirty="0" sz="1200" spc="-6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70" b="0">
                <a:solidFill>
                  <a:srgbClr val="FFFFFF"/>
                </a:solidFill>
                <a:latin typeface="Arial"/>
                <a:cs typeface="Arial"/>
              </a:rPr>
              <a:t>HỢP</a:t>
            </a:r>
            <a:r>
              <a:rPr dirty="0" sz="1200" spc="-1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60" b="0">
                <a:solidFill>
                  <a:srgbClr val="FFFFFF"/>
                </a:solidFill>
                <a:latin typeface="Arial"/>
                <a:cs typeface="Arial"/>
              </a:rPr>
              <a:t>CHUỖI</a:t>
            </a:r>
            <a:r>
              <a:rPr dirty="0" sz="1200" spc="-2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90" b="0">
                <a:solidFill>
                  <a:srgbClr val="FFFFFF"/>
                </a:solidFill>
                <a:latin typeface="Arial"/>
                <a:cs typeface="Arial"/>
              </a:rPr>
              <a:t>CUNG</a:t>
            </a:r>
            <a:r>
              <a:rPr dirty="0" sz="1200" spc="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60" b="0">
                <a:solidFill>
                  <a:srgbClr val="FFFFFF"/>
                </a:solidFill>
                <a:latin typeface="Arial"/>
                <a:cs typeface="Arial"/>
              </a:rPr>
              <a:t>ỨNG</a:t>
            </a:r>
            <a:r>
              <a:rPr dirty="0" sz="1200" spc="5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55" b="0">
                <a:solidFill>
                  <a:srgbClr val="FFFFFF"/>
                </a:solidFill>
                <a:latin typeface="Arial"/>
                <a:cs typeface="Arial"/>
              </a:rPr>
              <a:t>BẰNG</a:t>
            </a:r>
            <a:r>
              <a:rPr dirty="0" sz="1200" spc="-30" b="0">
                <a:solidFill>
                  <a:srgbClr val="FFFFFF"/>
                </a:solidFill>
                <a:latin typeface="Arial"/>
                <a:cs typeface="Arial"/>
              </a:rPr>
              <a:t> LÝ</a:t>
            </a:r>
            <a:r>
              <a:rPr dirty="0" sz="1200" spc="-5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0">
                <a:solidFill>
                  <a:srgbClr val="FFFFFF"/>
                </a:solidFill>
                <a:latin typeface="Arial"/>
                <a:cs typeface="Arial"/>
              </a:rPr>
              <a:t>THUYẾT</a:t>
            </a:r>
            <a:r>
              <a:rPr dirty="0" sz="1200" spc="-2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0">
                <a:solidFill>
                  <a:srgbClr val="FFFFFF"/>
                </a:solidFill>
                <a:latin typeface="Arial"/>
                <a:cs typeface="Arial"/>
              </a:rPr>
              <a:t>TRÒ</a:t>
            </a:r>
            <a:r>
              <a:rPr dirty="0" sz="1200" spc="-1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50" b="0">
                <a:solidFill>
                  <a:srgbClr val="FFFFFF"/>
                </a:solidFill>
                <a:latin typeface="Arial"/>
                <a:cs typeface="Arial"/>
              </a:rPr>
              <a:t>CHƠI </a:t>
            </a:r>
            <a:r>
              <a:rPr dirty="0" sz="1200" spc="-70" b="0">
                <a:solidFill>
                  <a:srgbClr val="FFFFFF"/>
                </a:solidFill>
                <a:latin typeface="Arial"/>
                <a:cs typeface="Arial"/>
              </a:rPr>
              <a:t>HỢP</a:t>
            </a:r>
            <a:r>
              <a:rPr dirty="0" sz="1200" spc="-1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45" b="0">
                <a:solidFill>
                  <a:srgbClr val="FFFFFF"/>
                </a:solidFill>
                <a:latin typeface="Arial"/>
                <a:cs typeface="Arial"/>
              </a:rPr>
              <a:t>TÁC:</a:t>
            </a:r>
            <a:r>
              <a:rPr dirty="0" sz="1200" spc="-4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0">
                <a:solidFill>
                  <a:srgbClr val="FFFFFF"/>
                </a:solidFill>
                <a:latin typeface="Arial"/>
                <a:cs typeface="Arial"/>
              </a:rPr>
              <a:t>MÔ</a:t>
            </a:r>
            <a:r>
              <a:rPr dirty="0" sz="1200" spc="-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20" b="0">
                <a:solidFill>
                  <a:srgbClr val="FFFFFF"/>
                </a:solidFill>
                <a:latin typeface="Arial"/>
                <a:cs typeface="Arial"/>
              </a:rPr>
              <a:t>HÌNH</a:t>
            </a:r>
            <a:r>
              <a:rPr dirty="0" sz="120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95" b="0">
                <a:solidFill>
                  <a:srgbClr val="FFFFFF"/>
                </a:solidFill>
                <a:latin typeface="Arial"/>
                <a:cs typeface="Arial"/>
              </a:rPr>
              <a:t>THƯƠNG</a:t>
            </a:r>
            <a:r>
              <a:rPr dirty="0" sz="1200" spc="1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30" b="0">
                <a:solidFill>
                  <a:srgbClr val="FFFFFF"/>
                </a:solidFill>
                <a:latin typeface="Arial"/>
                <a:cs typeface="Arial"/>
              </a:rPr>
              <a:t>LƯỢNG</a:t>
            </a:r>
            <a:r>
              <a:rPr dirty="0" sz="1200" spc="4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20" b="0">
                <a:solidFill>
                  <a:srgbClr val="FFFFFF"/>
                </a:solidFill>
                <a:latin typeface="Arial"/>
                <a:cs typeface="Arial"/>
              </a:rPr>
              <a:t>NASH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04148" y="1447263"/>
            <a:ext cx="217487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b="1">
                <a:latin typeface="Arial"/>
                <a:cs typeface="Arial"/>
              </a:rPr>
              <a:t>SINH</a:t>
            </a:r>
            <a:r>
              <a:rPr dirty="0" sz="1200" spc="16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VIÊN:</a:t>
            </a:r>
            <a:r>
              <a:rPr dirty="0" sz="1200" spc="1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LƯU</a:t>
            </a:r>
            <a:r>
              <a:rPr dirty="0" sz="1200" spc="16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BẢO</a:t>
            </a:r>
            <a:r>
              <a:rPr dirty="0" sz="1200" spc="160" b="1">
                <a:latin typeface="Arial"/>
                <a:cs typeface="Arial"/>
              </a:rPr>
              <a:t> </a:t>
            </a:r>
            <a:r>
              <a:rPr dirty="0" sz="1200" spc="-20" b="1">
                <a:latin typeface="Arial"/>
                <a:cs typeface="Arial"/>
              </a:rPr>
              <a:t>PHÚC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08401" y="2222886"/>
            <a:ext cx="11658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ahoma"/>
                <a:cs typeface="Tahoma"/>
              </a:rPr>
              <a:t>HÀ</a:t>
            </a:r>
            <a:r>
              <a:rPr dirty="0" sz="1000" spc="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NỘI</a:t>
            </a:r>
            <a:r>
              <a:rPr dirty="0" sz="1000" spc="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-</a:t>
            </a:r>
            <a:r>
              <a:rPr dirty="0" sz="1000" spc="25">
                <a:latin typeface="Tahoma"/>
                <a:cs typeface="Tahoma"/>
              </a:rPr>
              <a:t> </a:t>
            </a:r>
            <a:r>
              <a:rPr dirty="0" sz="1000" spc="60">
                <a:latin typeface="Tahoma"/>
                <a:cs typeface="Tahoma"/>
              </a:rPr>
              <a:t>NĂM</a:t>
            </a:r>
            <a:r>
              <a:rPr dirty="0" sz="1000" spc="2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2026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2534" y="359958"/>
            <a:ext cx="397510" cy="6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480"/>
              </a:lnSpc>
            </a:pPr>
            <a:r>
              <a:rPr dirty="0" sz="500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Mô</a:t>
            </a:r>
            <a:r>
              <a:rPr dirty="0" sz="500" spc="40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hình</a:t>
            </a:r>
            <a:r>
              <a:rPr dirty="0" sz="500" spc="45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-30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Nash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260" y="680081"/>
            <a:ext cx="66929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Tổng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quan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và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Mô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spc="-2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hình</a:t>
            </a:r>
            <a:r>
              <a:rPr dirty="0" sz="500" spc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spc="-2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Nash</a:t>
            </a:r>
            <a:endParaRPr sz="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260" y="893771"/>
            <a:ext cx="771525" cy="365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Trường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hợp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1:</a:t>
            </a:r>
            <a:r>
              <a:rPr dirty="0" sz="500" spc="7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Thái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độ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 spc="-2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rủi</a:t>
            </a:r>
            <a:r>
              <a:rPr dirty="0" sz="500" spc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ro</a:t>
            </a:r>
            <a:r>
              <a:rPr dirty="0" sz="500" spc="1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tương</a:t>
            </a:r>
            <a:r>
              <a:rPr dirty="0" sz="500" spc="1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 spc="-2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đồng</a:t>
            </a:r>
            <a:endParaRPr sz="500">
              <a:latin typeface="Arial"/>
              <a:cs typeface="Arial"/>
            </a:endParaRPr>
          </a:p>
          <a:p>
            <a:pPr marL="37465" marR="244475">
              <a:lnSpc>
                <a:spcPct val="152200"/>
              </a:lnSpc>
              <a:spcBef>
                <a:spcPts val="15"/>
              </a:spcBef>
            </a:pP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Thiết</a:t>
            </a:r>
            <a:r>
              <a:rPr dirty="0" sz="400" spc="2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lập</a:t>
            </a:r>
            <a:r>
              <a:rPr dirty="0" sz="400" spc="25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mô</a:t>
            </a:r>
            <a:r>
              <a:rPr dirty="0" sz="400" spc="3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400" spc="-2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hình</a:t>
            </a:r>
            <a:r>
              <a:rPr dirty="0" sz="400" spc="500">
                <a:solidFill>
                  <a:srgbClr val="909090"/>
                </a:solidFill>
                <a:latin typeface="Arial"/>
                <a:cs typeface="Arial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Giải</a:t>
            </a:r>
            <a:r>
              <a:rPr dirty="0" sz="400" spc="5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pháp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và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Kết</a:t>
            </a:r>
            <a:r>
              <a:rPr dirty="0" sz="400" spc="5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400" spc="-25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quả</a:t>
            </a:r>
            <a:endParaRPr sz="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260" y="1293046"/>
            <a:ext cx="663575" cy="45783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Trường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hợp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2:</a:t>
            </a:r>
            <a:r>
              <a:rPr dirty="0" sz="500" spc="7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Bất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spc="-2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đối</a:t>
            </a:r>
            <a:r>
              <a:rPr dirty="0" sz="500" spc="50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xứng</a:t>
            </a:r>
            <a:r>
              <a:rPr dirty="0" sz="500" spc="1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(Thực</a:t>
            </a:r>
            <a:r>
              <a:rPr dirty="0" sz="500" spc="1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spc="-2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tế)</a:t>
            </a:r>
            <a:endParaRPr sz="500">
              <a:latin typeface="Arial"/>
              <a:cs typeface="Arial"/>
            </a:endParaRPr>
          </a:p>
          <a:p>
            <a:pPr marL="37465" marR="52705">
              <a:lnSpc>
                <a:spcPct val="152200"/>
              </a:lnSpc>
              <a:spcBef>
                <a:spcPts val="15"/>
              </a:spcBef>
            </a:pP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Giả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định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và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Bài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400" spc="-2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toán</a:t>
            </a:r>
            <a:r>
              <a:rPr dirty="0" sz="400" spc="500">
                <a:solidFill>
                  <a:srgbClr val="909090"/>
                </a:solidFill>
                <a:latin typeface="Arial"/>
                <a:cs typeface="Arial"/>
              </a:rPr>
              <a:t> </a:t>
            </a:r>
            <a:r>
              <a:rPr dirty="0" sz="400" spc="-10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Chứng</a:t>
            </a:r>
            <a:r>
              <a:rPr dirty="0" sz="400" spc="-5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minh </a:t>
            </a:r>
            <a:r>
              <a:rPr dirty="0" sz="400" spc="-10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mệnh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 đề </a:t>
            </a:r>
            <a:r>
              <a:rPr dirty="0" sz="400" spc="-50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7</a:t>
            </a:r>
            <a:r>
              <a:rPr dirty="0" sz="400" spc="500">
                <a:solidFill>
                  <a:srgbClr val="909090"/>
                </a:solidFill>
                <a:latin typeface="Arial"/>
                <a:cs typeface="Arial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Kiểm</a:t>
            </a:r>
            <a:r>
              <a:rPr dirty="0" sz="400" spc="-5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400" spc="-10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chứng</a:t>
            </a:r>
            <a:r>
              <a:rPr dirty="0" sz="400" spc="5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thực</a:t>
            </a:r>
            <a:r>
              <a:rPr dirty="0" sz="400" spc="5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400" spc="-10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nghiệm</a:t>
            </a:r>
            <a:endParaRPr sz="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260" y="1785120"/>
            <a:ext cx="26670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11" action="ppaction://hlinksldjump"/>
              </a:rPr>
              <a:t>Kết</a:t>
            </a:r>
            <a:r>
              <a:rPr dirty="0" sz="500" spc="60">
                <a:solidFill>
                  <a:srgbClr val="9DBDD8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dirty="0" sz="500" spc="-20">
                <a:solidFill>
                  <a:srgbClr val="9DBDD8"/>
                </a:solidFill>
                <a:latin typeface="Arial"/>
                <a:cs typeface="Arial"/>
                <a:hlinkClick r:id="rId11" action="ppaction://hlinksldjump"/>
              </a:rPr>
              <a:t>luận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0"/>
            <a:ext cx="5760085" cy="631825"/>
            <a:chOff x="0" y="0"/>
            <a:chExt cx="5760085" cy="631825"/>
          </a:xfrm>
        </p:grpSpPr>
        <p:sp>
          <p:nvSpPr>
            <p:cNvPr id="8" name="object 8"/>
            <p:cNvSpPr/>
            <p:nvPr/>
          </p:nvSpPr>
          <p:spPr>
            <a:xfrm>
              <a:off x="0" y="0"/>
              <a:ext cx="5760085" cy="253365"/>
            </a:xfrm>
            <a:custGeom>
              <a:avLst/>
              <a:gdLst/>
              <a:ahLst/>
              <a:cxnLst/>
              <a:rect l="l" t="t" r="r" b="b"/>
              <a:pathLst>
                <a:path w="5760085" h="253365">
                  <a:moveTo>
                    <a:pt x="5759996" y="0"/>
                  </a:moveTo>
                  <a:lnTo>
                    <a:pt x="0" y="0"/>
                  </a:lnTo>
                  <a:lnTo>
                    <a:pt x="0" y="253047"/>
                  </a:lnTo>
                  <a:lnTo>
                    <a:pt x="5759996" y="25304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0" y="1250"/>
              <a:ext cx="839748" cy="630066"/>
            </a:xfrm>
            <a:prstGeom prst="rect">
              <a:avLst/>
            </a:prstGeom>
          </p:spPr>
        </p:pic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917714" y="-1501"/>
            <a:ext cx="79121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Nội</a:t>
            </a:r>
            <a:r>
              <a:rPr dirty="0" spc="155"/>
              <a:t> </a:t>
            </a:r>
            <a:r>
              <a:rPr dirty="0" spc="-35"/>
              <a:t>dung</a:t>
            </a:r>
          </a:p>
        </p:txBody>
      </p:sp>
      <p:pic>
        <p:nvPicPr>
          <p:cNvPr id="11" name="object 1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40296" y="861592"/>
            <a:ext cx="121435" cy="12143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959053" y="821034"/>
            <a:ext cx="168719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dirty="0" sz="900" spc="3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  <a:hlinkClick r:id="rId3" action="ppaction://hlinksldjump"/>
              </a:rPr>
              <a:t>Tổng</a:t>
            </a:r>
            <a:r>
              <a:rPr dirty="0" sz="1000" spc="-20"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1000" spc="-40">
                <a:latin typeface="Tahoma"/>
                <a:cs typeface="Tahoma"/>
                <a:hlinkClick r:id="rId3" action="ppaction://hlinksldjump"/>
              </a:rPr>
              <a:t>quan</a:t>
            </a:r>
            <a:r>
              <a:rPr dirty="0" sz="1000" spc="-20"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1000">
                <a:latin typeface="Tahoma"/>
                <a:cs typeface="Tahoma"/>
                <a:hlinkClick r:id="rId3" action="ppaction://hlinksldjump"/>
              </a:rPr>
              <a:t>và</a:t>
            </a:r>
            <a:r>
              <a:rPr dirty="0" sz="1000" spc="-20"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1000">
                <a:latin typeface="Tahoma"/>
                <a:cs typeface="Tahoma"/>
                <a:hlinkClick r:id="rId3" action="ppaction://hlinksldjump"/>
              </a:rPr>
              <a:t>Mô</a:t>
            </a:r>
            <a:r>
              <a:rPr dirty="0" sz="1000" spc="-20">
                <a:latin typeface="Tahoma"/>
                <a:cs typeface="Tahoma"/>
                <a:hlinkClick r:id="rId3" action="ppaction://hlinksldjump"/>
              </a:rPr>
              <a:t> hình Nash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40296" y="1203172"/>
            <a:ext cx="121435" cy="121435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959053" y="1162613"/>
            <a:ext cx="23577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dirty="0" sz="900" spc="3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  <a:hlinkClick r:id="rId4" action="ppaction://hlinksldjump"/>
              </a:rPr>
              <a:t>Trường</a:t>
            </a:r>
            <a:r>
              <a:rPr dirty="0" sz="1000" spc="-20"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1000" spc="-40">
                <a:latin typeface="Tahoma"/>
                <a:cs typeface="Tahoma"/>
                <a:hlinkClick r:id="rId4" action="ppaction://hlinksldjump"/>
              </a:rPr>
              <a:t>hợp</a:t>
            </a:r>
            <a:r>
              <a:rPr dirty="0" sz="1000" spc="-25"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1000" spc="-45">
                <a:latin typeface="Tahoma"/>
                <a:cs typeface="Tahoma"/>
                <a:hlinkClick r:id="rId4" action="ppaction://hlinksldjump"/>
              </a:rPr>
              <a:t>1:</a:t>
            </a:r>
            <a:r>
              <a:rPr dirty="0" sz="1000" spc="-20"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1000">
                <a:latin typeface="Tahoma"/>
                <a:cs typeface="Tahoma"/>
                <a:hlinkClick r:id="rId4" action="ppaction://hlinksldjump"/>
              </a:rPr>
              <a:t>Thái</a:t>
            </a:r>
            <a:r>
              <a:rPr dirty="0" sz="1000" spc="-20">
                <a:latin typeface="Tahoma"/>
                <a:cs typeface="Tahoma"/>
                <a:hlinkClick r:id="rId4" action="ppaction://hlinksldjump"/>
              </a:rPr>
              <a:t> độ</a:t>
            </a:r>
            <a:r>
              <a:rPr dirty="0" sz="1000" spc="-25"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1000">
                <a:latin typeface="Tahoma"/>
                <a:cs typeface="Tahoma"/>
                <a:hlinkClick r:id="rId4" action="ppaction://hlinksldjump"/>
              </a:rPr>
              <a:t>rủi</a:t>
            </a:r>
            <a:r>
              <a:rPr dirty="0" sz="1000" spc="-20"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1000">
                <a:latin typeface="Tahoma"/>
                <a:cs typeface="Tahoma"/>
                <a:hlinkClick r:id="rId4" action="ppaction://hlinksldjump"/>
              </a:rPr>
              <a:t>ro</a:t>
            </a:r>
            <a:r>
              <a:rPr dirty="0" sz="1000" spc="-20"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1000" spc="-50">
                <a:latin typeface="Tahoma"/>
                <a:cs typeface="Tahoma"/>
                <a:hlinkClick r:id="rId4" action="ppaction://hlinksldjump"/>
              </a:rPr>
              <a:t>tương</a:t>
            </a:r>
            <a:r>
              <a:rPr dirty="0" sz="1000" spc="-20">
                <a:latin typeface="Tahoma"/>
                <a:cs typeface="Tahoma"/>
                <a:hlinkClick r:id="rId4" action="ppaction://hlinksldjump"/>
              </a:rPr>
              <a:t> đồng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40296" y="1544738"/>
            <a:ext cx="121435" cy="12143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959053" y="1504180"/>
            <a:ext cx="22180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r>
              <a:rPr dirty="0" sz="900" spc="3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  <a:hlinkClick r:id="rId7" action="ppaction://hlinksldjump"/>
              </a:rPr>
              <a:t>Trường</a:t>
            </a:r>
            <a:r>
              <a:rPr dirty="0" sz="1000" spc="-15"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1000" spc="-40">
                <a:latin typeface="Tahoma"/>
                <a:cs typeface="Tahoma"/>
                <a:hlinkClick r:id="rId7" action="ppaction://hlinksldjump"/>
              </a:rPr>
              <a:t>hợp</a:t>
            </a:r>
            <a:r>
              <a:rPr dirty="0" sz="1000" spc="-10"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1000" spc="-45">
                <a:latin typeface="Tahoma"/>
                <a:cs typeface="Tahoma"/>
                <a:hlinkClick r:id="rId7" action="ppaction://hlinksldjump"/>
              </a:rPr>
              <a:t>2:</a:t>
            </a:r>
            <a:r>
              <a:rPr dirty="0" sz="1000" spc="-15"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1000">
                <a:latin typeface="Tahoma"/>
                <a:cs typeface="Tahoma"/>
                <a:hlinkClick r:id="rId7" action="ppaction://hlinksldjump"/>
              </a:rPr>
              <a:t>Bất</a:t>
            </a:r>
            <a:r>
              <a:rPr dirty="0" sz="1000" spc="-10">
                <a:latin typeface="Tahoma"/>
                <a:cs typeface="Tahoma"/>
                <a:hlinkClick r:id="rId7" action="ppaction://hlinksldjump"/>
              </a:rPr>
              <a:t> đối</a:t>
            </a:r>
            <a:r>
              <a:rPr dirty="0" sz="1000" spc="-15"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1000" spc="-55">
                <a:latin typeface="Tahoma"/>
                <a:cs typeface="Tahoma"/>
                <a:hlinkClick r:id="rId7" action="ppaction://hlinksldjump"/>
              </a:rPr>
              <a:t>xứng</a:t>
            </a:r>
            <a:r>
              <a:rPr dirty="0" sz="1000" spc="-15"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1000">
                <a:latin typeface="Tahoma"/>
                <a:cs typeface="Tahoma"/>
                <a:hlinkClick r:id="rId7" action="ppaction://hlinksldjump"/>
              </a:rPr>
              <a:t>(Thực</a:t>
            </a:r>
            <a:r>
              <a:rPr dirty="0" sz="1000" spc="-5"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1000" spc="-25">
                <a:latin typeface="Tahoma"/>
                <a:cs typeface="Tahoma"/>
                <a:hlinkClick r:id="rId7" action="ppaction://hlinksldjump"/>
              </a:rPr>
              <a:t>tế)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40296" y="1886317"/>
            <a:ext cx="121435" cy="121435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959053" y="1845759"/>
            <a:ext cx="6223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r>
              <a:rPr dirty="0" sz="900" spc="3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  <a:hlinkClick r:id="rId11" action="ppaction://hlinksldjump"/>
              </a:rPr>
              <a:t>Kết</a:t>
            </a:r>
            <a:r>
              <a:rPr dirty="0" sz="1000" spc="15"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000" spc="-25">
                <a:latin typeface="Tahoma"/>
                <a:cs typeface="Tahoma"/>
                <a:hlinkClick r:id="rId11" action="ppaction://hlinksldjump"/>
              </a:rPr>
              <a:t>luận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15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2534" y="359958"/>
            <a:ext cx="397510" cy="6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480"/>
              </a:lnSpc>
            </a:pPr>
            <a:r>
              <a:rPr dirty="0" sz="500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Mô</a:t>
            </a:r>
            <a:r>
              <a:rPr dirty="0" sz="500" spc="40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hình</a:t>
            </a:r>
            <a:r>
              <a:rPr dirty="0" sz="500" spc="45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-30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Nash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260" y="680081"/>
            <a:ext cx="66929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solidFill>
                  <a:srgbClr val="2071B4"/>
                </a:solidFill>
                <a:latin typeface="Arial"/>
                <a:cs typeface="Arial"/>
                <a:hlinkClick r:id="rId3" action="ppaction://hlinksldjump"/>
              </a:rPr>
              <a:t>Tổng</a:t>
            </a:r>
            <a:r>
              <a:rPr dirty="0" sz="500" spc="25">
                <a:solidFill>
                  <a:srgbClr val="2071B4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2071B4"/>
                </a:solidFill>
                <a:latin typeface="Arial"/>
                <a:cs typeface="Arial"/>
                <a:hlinkClick r:id="rId3" action="ppaction://hlinksldjump"/>
              </a:rPr>
              <a:t>quan</a:t>
            </a:r>
            <a:r>
              <a:rPr dirty="0" sz="500" spc="25">
                <a:solidFill>
                  <a:srgbClr val="2071B4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2071B4"/>
                </a:solidFill>
                <a:latin typeface="Arial"/>
                <a:cs typeface="Arial"/>
                <a:hlinkClick r:id="rId3" action="ppaction://hlinksldjump"/>
              </a:rPr>
              <a:t>và</a:t>
            </a:r>
            <a:r>
              <a:rPr dirty="0" sz="500" spc="25">
                <a:solidFill>
                  <a:srgbClr val="2071B4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2071B4"/>
                </a:solidFill>
                <a:latin typeface="Arial"/>
                <a:cs typeface="Arial"/>
                <a:hlinkClick r:id="rId3" action="ppaction://hlinksldjump"/>
              </a:rPr>
              <a:t>Mô</a:t>
            </a:r>
            <a:r>
              <a:rPr dirty="0" sz="500" spc="25">
                <a:solidFill>
                  <a:srgbClr val="2071B4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spc="-20">
                <a:solidFill>
                  <a:srgbClr val="2071B4"/>
                </a:solidFill>
                <a:latin typeface="Arial"/>
                <a:cs typeface="Arial"/>
                <a:hlinkClick r:id="rId3" action="ppaction://hlinksldjump"/>
              </a:rPr>
              <a:t>hình</a:t>
            </a:r>
            <a:r>
              <a:rPr dirty="0" sz="500" spc="500">
                <a:solidFill>
                  <a:srgbClr val="2071B4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spc="-20">
                <a:solidFill>
                  <a:srgbClr val="2071B4"/>
                </a:solidFill>
                <a:latin typeface="Arial"/>
                <a:cs typeface="Arial"/>
                <a:hlinkClick r:id="rId3" action="ppaction://hlinksldjump"/>
              </a:rPr>
              <a:t>Nash</a:t>
            </a:r>
            <a:endParaRPr sz="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260" y="893771"/>
            <a:ext cx="771525" cy="365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Trường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hợp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1:</a:t>
            </a:r>
            <a:r>
              <a:rPr dirty="0" sz="500" spc="7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Thái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độ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 spc="-2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rủi</a:t>
            </a:r>
            <a:r>
              <a:rPr dirty="0" sz="500" spc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ro</a:t>
            </a:r>
            <a:r>
              <a:rPr dirty="0" sz="500" spc="1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tương</a:t>
            </a:r>
            <a:r>
              <a:rPr dirty="0" sz="500" spc="1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 spc="-2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đồng</a:t>
            </a:r>
            <a:endParaRPr sz="500">
              <a:latin typeface="Arial"/>
              <a:cs typeface="Arial"/>
            </a:endParaRPr>
          </a:p>
          <a:p>
            <a:pPr marL="37465" marR="244475">
              <a:lnSpc>
                <a:spcPct val="152200"/>
              </a:lnSpc>
              <a:spcBef>
                <a:spcPts val="15"/>
              </a:spcBef>
            </a:pP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Thiết</a:t>
            </a:r>
            <a:r>
              <a:rPr dirty="0" sz="400" spc="2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lập</a:t>
            </a:r>
            <a:r>
              <a:rPr dirty="0" sz="400" spc="25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mô</a:t>
            </a:r>
            <a:r>
              <a:rPr dirty="0" sz="400" spc="3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400" spc="-2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hình</a:t>
            </a:r>
            <a:r>
              <a:rPr dirty="0" sz="400" spc="500">
                <a:solidFill>
                  <a:srgbClr val="909090"/>
                </a:solidFill>
                <a:latin typeface="Arial"/>
                <a:cs typeface="Arial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Giải</a:t>
            </a:r>
            <a:r>
              <a:rPr dirty="0" sz="400" spc="5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pháp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và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Kết</a:t>
            </a:r>
            <a:r>
              <a:rPr dirty="0" sz="400" spc="5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400" spc="-25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quả</a:t>
            </a:r>
            <a:endParaRPr sz="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260" y="1293046"/>
            <a:ext cx="663575" cy="45783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Trường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hợp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2:</a:t>
            </a:r>
            <a:r>
              <a:rPr dirty="0" sz="500" spc="7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Bất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spc="-2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đối</a:t>
            </a:r>
            <a:r>
              <a:rPr dirty="0" sz="500" spc="50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xứng</a:t>
            </a:r>
            <a:r>
              <a:rPr dirty="0" sz="500" spc="1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(Thực</a:t>
            </a:r>
            <a:r>
              <a:rPr dirty="0" sz="500" spc="1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spc="-2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tế)</a:t>
            </a:r>
            <a:endParaRPr sz="500">
              <a:latin typeface="Arial"/>
              <a:cs typeface="Arial"/>
            </a:endParaRPr>
          </a:p>
          <a:p>
            <a:pPr marL="37465" marR="52705">
              <a:lnSpc>
                <a:spcPct val="152200"/>
              </a:lnSpc>
              <a:spcBef>
                <a:spcPts val="15"/>
              </a:spcBef>
            </a:pP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Giả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định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và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Bài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400" spc="-2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toán</a:t>
            </a:r>
            <a:r>
              <a:rPr dirty="0" sz="400" spc="500">
                <a:solidFill>
                  <a:srgbClr val="909090"/>
                </a:solidFill>
                <a:latin typeface="Arial"/>
                <a:cs typeface="Arial"/>
              </a:rPr>
              <a:t> </a:t>
            </a:r>
            <a:r>
              <a:rPr dirty="0" sz="400" spc="-10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Chứng</a:t>
            </a:r>
            <a:r>
              <a:rPr dirty="0" sz="400" spc="-5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minh </a:t>
            </a:r>
            <a:r>
              <a:rPr dirty="0" sz="400" spc="-10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mệnh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 đề </a:t>
            </a:r>
            <a:r>
              <a:rPr dirty="0" sz="400" spc="-50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7</a:t>
            </a:r>
            <a:r>
              <a:rPr dirty="0" sz="400" spc="500">
                <a:solidFill>
                  <a:srgbClr val="909090"/>
                </a:solidFill>
                <a:latin typeface="Arial"/>
                <a:cs typeface="Arial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Kiểm</a:t>
            </a:r>
            <a:r>
              <a:rPr dirty="0" sz="400" spc="-5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400" spc="-10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chứng</a:t>
            </a:r>
            <a:r>
              <a:rPr dirty="0" sz="400" spc="5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thực</a:t>
            </a:r>
            <a:r>
              <a:rPr dirty="0" sz="400" spc="5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400" spc="-10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nghiệm</a:t>
            </a:r>
            <a:endParaRPr sz="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260" y="1785120"/>
            <a:ext cx="26670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11" action="ppaction://hlinksldjump"/>
              </a:rPr>
              <a:t>Kết</a:t>
            </a:r>
            <a:r>
              <a:rPr dirty="0" sz="500" spc="60">
                <a:solidFill>
                  <a:srgbClr val="9DBDD8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dirty="0" sz="500" spc="-20">
                <a:solidFill>
                  <a:srgbClr val="9DBDD8"/>
                </a:solidFill>
                <a:latin typeface="Arial"/>
                <a:cs typeface="Arial"/>
                <a:hlinkClick r:id="rId11" action="ppaction://hlinksldjump"/>
              </a:rPr>
              <a:t>luận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0"/>
            <a:ext cx="5760085" cy="631825"/>
            <a:chOff x="0" y="0"/>
            <a:chExt cx="5760085" cy="631825"/>
          </a:xfrm>
        </p:grpSpPr>
        <p:sp>
          <p:nvSpPr>
            <p:cNvPr id="8" name="object 8"/>
            <p:cNvSpPr/>
            <p:nvPr/>
          </p:nvSpPr>
          <p:spPr>
            <a:xfrm>
              <a:off x="0" y="0"/>
              <a:ext cx="5760085" cy="253365"/>
            </a:xfrm>
            <a:custGeom>
              <a:avLst/>
              <a:gdLst/>
              <a:ahLst/>
              <a:cxnLst/>
              <a:rect l="l" t="t" r="r" b="b"/>
              <a:pathLst>
                <a:path w="5760085" h="253365">
                  <a:moveTo>
                    <a:pt x="5759996" y="0"/>
                  </a:moveTo>
                  <a:lnTo>
                    <a:pt x="0" y="0"/>
                  </a:lnTo>
                  <a:lnTo>
                    <a:pt x="0" y="253047"/>
                  </a:lnTo>
                  <a:lnTo>
                    <a:pt x="5759996" y="25304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0" y="1250"/>
              <a:ext cx="839748" cy="630066"/>
            </a:xfrm>
            <a:prstGeom prst="rect">
              <a:avLst/>
            </a:prstGeom>
          </p:spPr>
        </p:pic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Vấn</a:t>
            </a:r>
            <a:r>
              <a:rPr dirty="0" spc="50"/>
              <a:t> </a:t>
            </a:r>
            <a:r>
              <a:rPr dirty="0"/>
              <a:t>đề</a:t>
            </a:r>
            <a:r>
              <a:rPr dirty="0" spc="55"/>
              <a:t> </a:t>
            </a:r>
            <a:r>
              <a:rPr dirty="0" spc="-25"/>
              <a:t>nghiên</a:t>
            </a:r>
            <a:r>
              <a:rPr dirty="0" spc="55"/>
              <a:t> </a:t>
            </a:r>
            <a:r>
              <a:rPr dirty="0" spc="-35"/>
              <a:t>cứu</a:t>
            </a:r>
            <a:r>
              <a:rPr dirty="0" spc="55"/>
              <a:t> </a:t>
            </a:r>
            <a:r>
              <a:rPr dirty="0" spc="170"/>
              <a:t>&amp;</a:t>
            </a:r>
            <a:r>
              <a:rPr dirty="0" spc="55"/>
              <a:t> </a:t>
            </a:r>
            <a:r>
              <a:rPr dirty="0" spc="75"/>
              <a:t>Mô</a:t>
            </a:r>
            <a:r>
              <a:rPr dirty="0" spc="50"/>
              <a:t> </a:t>
            </a:r>
            <a:r>
              <a:rPr dirty="0"/>
              <a:t>hình</a:t>
            </a:r>
            <a:r>
              <a:rPr dirty="0" spc="55"/>
              <a:t> </a:t>
            </a:r>
            <a:r>
              <a:rPr dirty="0" spc="-20"/>
              <a:t>Nash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15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116241" y="689208"/>
            <a:ext cx="889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i="1">
                <a:solidFill>
                  <a:srgbClr val="2071B4"/>
                </a:solidFill>
                <a:latin typeface="DejaVu Sans Condensed"/>
                <a:cs typeface="DejaVu Sans Condensed"/>
              </a:rPr>
              <a:t>•</a:t>
            </a:r>
            <a:endParaRPr sz="1000">
              <a:latin typeface="DejaVu Sans Condensed"/>
              <a:cs typeface="DejaVu Sans Condensed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42771" y="705020"/>
            <a:ext cx="4178300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latin typeface="Arial"/>
                <a:cs typeface="Arial"/>
              </a:rPr>
              <a:t>Vấn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đề:</a:t>
            </a:r>
            <a:r>
              <a:rPr dirty="0" sz="1000" spc="-5" b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Hợp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đồng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60">
                <a:latin typeface="Tahoma"/>
                <a:cs typeface="Tahoma"/>
              </a:rPr>
              <a:t>quyền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chọn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tạo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ra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“Lõi”</a:t>
            </a:r>
            <a:r>
              <a:rPr dirty="0" sz="1000" spc="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với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vô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số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cặp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(</a:t>
            </a:r>
            <a:r>
              <a:rPr dirty="0" sz="1000" i="1">
                <a:latin typeface="Trebuchet MS"/>
                <a:cs typeface="Trebuchet MS"/>
              </a:rPr>
              <a:t>o</a:t>
            </a:r>
            <a:r>
              <a:rPr dirty="0" sz="1000" i="1">
                <a:latin typeface="Times New Roman"/>
                <a:cs typeface="Times New Roman"/>
              </a:rPr>
              <a:t>,</a:t>
            </a:r>
            <a:r>
              <a:rPr dirty="0" sz="1000" spc="-85" i="1">
                <a:latin typeface="Times New Roman"/>
                <a:cs typeface="Times New Roman"/>
              </a:rPr>
              <a:t> </a:t>
            </a:r>
            <a:r>
              <a:rPr dirty="0" sz="1000" i="1">
                <a:latin typeface="Trebuchet MS"/>
                <a:cs typeface="Trebuchet MS"/>
              </a:rPr>
              <a:t>e</a:t>
            </a:r>
            <a:r>
              <a:rPr dirty="0" sz="1000">
                <a:latin typeface="Tahoma"/>
                <a:cs typeface="Tahoma"/>
              </a:rPr>
              <a:t>)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tối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ưu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Pareto, </a:t>
            </a:r>
            <a:r>
              <a:rPr dirty="0" sz="1000" spc="-60">
                <a:latin typeface="Tahoma"/>
                <a:cs typeface="Tahoma"/>
              </a:rPr>
              <a:t>nhưng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chưa </a:t>
            </a:r>
            <a:r>
              <a:rPr dirty="0" sz="1000" spc="-20">
                <a:latin typeface="Tahoma"/>
                <a:cs typeface="Tahoma"/>
              </a:rPr>
              <a:t>xác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định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được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điểm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phân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chia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cụ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thể.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90841" y="1023613"/>
            <a:ext cx="3542665" cy="58864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64465" indent="-126364">
              <a:lnSpc>
                <a:spcPct val="100000"/>
              </a:lnSpc>
              <a:spcBef>
                <a:spcPts val="475"/>
              </a:spcBef>
              <a:buClr>
                <a:srgbClr val="2071B4"/>
              </a:buClr>
              <a:buFont typeface="DejaVu Sans Condensed"/>
              <a:buChar char="•"/>
              <a:tabLst>
                <a:tab pos="164465" algn="l"/>
              </a:tabLst>
            </a:pPr>
            <a:r>
              <a:rPr dirty="0" sz="1000" spc="-10" b="1">
                <a:latin typeface="Arial"/>
                <a:cs typeface="Arial"/>
              </a:rPr>
              <a:t>Giải</a:t>
            </a:r>
            <a:r>
              <a:rPr dirty="0" sz="1000" spc="15" b="1">
                <a:latin typeface="Arial"/>
                <a:cs typeface="Arial"/>
              </a:rPr>
              <a:t> </a:t>
            </a:r>
            <a:r>
              <a:rPr dirty="0" sz="1000" spc="-35" b="1">
                <a:latin typeface="Arial"/>
                <a:cs typeface="Arial"/>
              </a:rPr>
              <a:t>pháp:</a:t>
            </a:r>
            <a:r>
              <a:rPr dirty="0" sz="1000" spc="-5" b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Áp</a:t>
            </a:r>
            <a:r>
              <a:rPr dirty="0" sz="1000" spc="-45">
                <a:latin typeface="Tahoma"/>
                <a:cs typeface="Tahoma"/>
              </a:rPr>
              <a:t> dụng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 b="1">
                <a:latin typeface="Arial"/>
                <a:cs typeface="Arial"/>
              </a:rPr>
              <a:t>Giải</a:t>
            </a:r>
            <a:r>
              <a:rPr dirty="0" sz="1000" spc="20" b="1">
                <a:latin typeface="Arial"/>
                <a:cs typeface="Arial"/>
              </a:rPr>
              <a:t> </a:t>
            </a:r>
            <a:r>
              <a:rPr dirty="0" sz="1000" spc="-25" b="1">
                <a:latin typeface="Arial"/>
                <a:cs typeface="Arial"/>
              </a:rPr>
              <a:t>pháp</a:t>
            </a:r>
            <a:r>
              <a:rPr dirty="0" sz="1000" spc="15" b="1">
                <a:latin typeface="Arial"/>
                <a:cs typeface="Arial"/>
              </a:rPr>
              <a:t> </a:t>
            </a:r>
            <a:r>
              <a:rPr dirty="0" sz="1000" spc="-50" b="1">
                <a:latin typeface="Arial"/>
                <a:cs typeface="Arial"/>
              </a:rPr>
              <a:t>Thương</a:t>
            </a:r>
            <a:r>
              <a:rPr dirty="0" sz="1000" spc="20" b="1">
                <a:latin typeface="Arial"/>
                <a:cs typeface="Arial"/>
              </a:rPr>
              <a:t> </a:t>
            </a:r>
            <a:r>
              <a:rPr dirty="0" sz="1000" spc="-80" b="1">
                <a:latin typeface="Arial"/>
                <a:cs typeface="Arial"/>
              </a:rPr>
              <a:t>lượng</a:t>
            </a:r>
            <a:r>
              <a:rPr dirty="0" sz="1000" spc="20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Nash</a:t>
            </a:r>
            <a:r>
              <a:rPr dirty="0" sz="1000" spc="20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(NBS)</a:t>
            </a:r>
            <a:r>
              <a:rPr dirty="0" sz="1000" spc="-10">
                <a:latin typeface="Tahoma"/>
                <a:cs typeface="Tahoma"/>
              </a:rPr>
              <a:t>.</a:t>
            </a:r>
            <a:endParaRPr sz="1000">
              <a:latin typeface="Tahoma"/>
              <a:cs typeface="Tahoma"/>
            </a:endParaRPr>
          </a:p>
          <a:p>
            <a:pPr marL="164465" indent="-126364">
              <a:lnSpc>
                <a:spcPct val="100000"/>
              </a:lnSpc>
              <a:spcBef>
                <a:spcPts val="380"/>
              </a:spcBef>
              <a:buClr>
                <a:srgbClr val="2071B4"/>
              </a:buClr>
              <a:buFont typeface="DejaVu Sans Condensed"/>
              <a:buChar char="•"/>
              <a:tabLst>
                <a:tab pos="164465" algn="l"/>
              </a:tabLst>
            </a:pPr>
            <a:r>
              <a:rPr dirty="0" sz="1000" spc="-35" b="1">
                <a:latin typeface="Arial"/>
                <a:cs typeface="Arial"/>
              </a:rPr>
              <a:t>Nguyên</a:t>
            </a:r>
            <a:r>
              <a:rPr dirty="0" sz="1000" spc="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tắc</a:t>
            </a:r>
            <a:r>
              <a:rPr dirty="0" sz="1000" spc="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cốt</a:t>
            </a:r>
            <a:r>
              <a:rPr dirty="0" sz="1000" spc="25" b="1">
                <a:latin typeface="Arial"/>
                <a:cs typeface="Arial"/>
              </a:rPr>
              <a:t> </a:t>
            </a:r>
            <a:r>
              <a:rPr dirty="0" sz="1000" spc="-20" b="1">
                <a:latin typeface="Arial"/>
                <a:cs typeface="Arial"/>
              </a:rPr>
              <a:t>lõi:</a:t>
            </a:r>
            <a:endParaRPr sz="1000">
              <a:latin typeface="Arial"/>
              <a:cs typeface="Arial"/>
            </a:endParaRPr>
          </a:p>
          <a:p>
            <a:pPr lvl="1" marL="417195" indent="-121920">
              <a:lnSpc>
                <a:spcPct val="100000"/>
              </a:lnSpc>
              <a:spcBef>
                <a:spcPts val="195"/>
              </a:spcBef>
              <a:buClr>
                <a:srgbClr val="2071B4"/>
              </a:buClr>
              <a:buFont typeface="DejaVu Sans"/>
              <a:buChar char="•"/>
              <a:tabLst>
                <a:tab pos="417195" algn="l"/>
              </a:tabLst>
            </a:pPr>
            <a:r>
              <a:rPr dirty="0" sz="900">
                <a:latin typeface="Tahoma"/>
                <a:cs typeface="Tahoma"/>
              </a:rPr>
              <a:t>Chỉ</a:t>
            </a:r>
            <a:r>
              <a:rPr dirty="0" sz="900" spc="-35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phân</a:t>
            </a:r>
            <a:r>
              <a:rPr dirty="0" sz="900" spc="-3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chia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35" b="1">
                <a:latin typeface="Arial"/>
                <a:cs typeface="Arial"/>
              </a:rPr>
              <a:t>Lợi</a:t>
            </a:r>
            <a:r>
              <a:rPr dirty="0" sz="900" spc="15" b="1">
                <a:latin typeface="Arial"/>
                <a:cs typeface="Arial"/>
              </a:rPr>
              <a:t> </a:t>
            </a:r>
            <a:r>
              <a:rPr dirty="0" sz="900" spc="-35" b="1">
                <a:latin typeface="Arial"/>
                <a:cs typeface="Arial"/>
              </a:rPr>
              <a:t>nhuận</a:t>
            </a:r>
            <a:r>
              <a:rPr dirty="0" sz="900" spc="15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thặng</a:t>
            </a:r>
            <a:r>
              <a:rPr dirty="0" sz="900" spc="15" b="1">
                <a:latin typeface="Arial"/>
                <a:cs typeface="Arial"/>
              </a:rPr>
              <a:t> </a:t>
            </a:r>
            <a:r>
              <a:rPr dirty="0" sz="900" spc="-35" b="1">
                <a:latin typeface="Arial"/>
                <a:cs typeface="Arial"/>
              </a:rPr>
              <a:t>dư</a:t>
            </a:r>
            <a:r>
              <a:rPr dirty="0" sz="900" b="1">
                <a:latin typeface="Arial"/>
                <a:cs typeface="Arial"/>
              </a:rPr>
              <a:t> </a:t>
            </a:r>
            <a:r>
              <a:rPr dirty="0" sz="900" spc="-20">
                <a:latin typeface="Tahoma"/>
                <a:cs typeface="Tahoma"/>
              </a:rPr>
              <a:t>(</a:t>
            </a:r>
            <a:r>
              <a:rPr dirty="0" sz="900" spc="-20">
                <a:latin typeface="Garamond"/>
                <a:cs typeface="Garamond"/>
              </a:rPr>
              <a:t>∆</a:t>
            </a:r>
            <a:r>
              <a:rPr dirty="0" sz="900" spc="-20" i="1">
                <a:latin typeface="Arial"/>
                <a:cs typeface="Arial"/>
              </a:rPr>
              <a:t>π</a:t>
            </a:r>
            <a:r>
              <a:rPr dirty="0" sz="900" spc="-20">
                <a:latin typeface="Tahoma"/>
                <a:cs typeface="Tahoma"/>
              </a:rPr>
              <a:t>).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87448" y="1639524"/>
            <a:ext cx="9359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03555" algn="l"/>
                <a:tab pos="840105" algn="l"/>
              </a:tabLst>
            </a:pPr>
            <a:r>
              <a:rPr dirty="0" sz="600" spc="-10" i="1">
                <a:latin typeface="Calibri"/>
                <a:cs typeface="Calibri"/>
              </a:rPr>
              <a:t>system</a:t>
            </a:r>
            <a:r>
              <a:rPr dirty="0" sz="600" i="1">
                <a:latin typeface="Calibri"/>
                <a:cs typeface="Calibri"/>
              </a:rPr>
              <a:t>	</a:t>
            </a:r>
            <a:r>
              <a:rPr dirty="0" sz="600" spc="-25" i="1">
                <a:latin typeface="Calibri"/>
                <a:cs typeface="Calibri"/>
              </a:rPr>
              <a:t>wm</a:t>
            </a:r>
            <a:r>
              <a:rPr dirty="0" sz="600" i="1">
                <a:latin typeface="Calibri"/>
                <a:cs typeface="Calibri"/>
              </a:rPr>
              <a:t>	</a:t>
            </a:r>
            <a:r>
              <a:rPr dirty="0" sz="600" spc="-25" i="1">
                <a:latin typeface="Calibri"/>
                <a:cs typeface="Calibri"/>
              </a:rPr>
              <a:t>wr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48638" y="1588917"/>
            <a:ext cx="156083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60020" indent="-121920">
              <a:lnSpc>
                <a:spcPct val="100000"/>
              </a:lnSpc>
              <a:spcBef>
                <a:spcPts val="95"/>
              </a:spcBef>
              <a:buClr>
                <a:srgbClr val="2071B4"/>
              </a:buClr>
              <a:buFont typeface="DejaVu Sans"/>
              <a:buChar char="•"/>
              <a:tabLst>
                <a:tab pos="160020" algn="l"/>
                <a:tab pos="812800" algn="l"/>
                <a:tab pos="1195070" algn="l"/>
              </a:tabLst>
            </a:pPr>
            <a:r>
              <a:rPr dirty="0" sz="900" spc="65">
                <a:latin typeface="Garamond"/>
                <a:cs typeface="Garamond"/>
              </a:rPr>
              <a:t>∆</a:t>
            </a:r>
            <a:r>
              <a:rPr dirty="0" sz="900" spc="65" i="1">
                <a:latin typeface="Arial"/>
                <a:cs typeface="Arial"/>
              </a:rPr>
              <a:t>π</a:t>
            </a:r>
            <a:r>
              <a:rPr dirty="0" sz="900" spc="40" i="1">
                <a:latin typeface="Arial"/>
                <a:cs typeface="Arial"/>
              </a:rPr>
              <a:t> </a:t>
            </a:r>
            <a:r>
              <a:rPr dirty="0" sz="900" spc="110">
                <a:latin typeface="Garamond"/>
                <a:cs typeface="Garamond"/>
              </a:rPr>
              <a:t>=</a:t>
            </a:r>
            <a:r>
              <a:rPr dirty="0" sz="900" spc="35">
                <a:latin typeface="Garamond"/>
                <a:cs typeface="Garamond"/>
              </a:rPr>
              <a:t> </a:t>
            </a:r>
            <a:r>
              <a:rPr dirty="0" sz="900" spc="-50" i="1">
                <a:latin typeface="Arial"/>
                <a:cs typeface="Arial"/>
              </a:rPr>
              <a:t>π</a:t>
            </a:r>
            <a:r>
              <a:rPr dirty="0" sz="900" i="1">
                <a:latin typeface="Arial"/>
                <a:cs typeface="Arial"/>
              </a:rPr>
              <a:t>	</a:t>
            </a:r>
            <a:r>
              <a:rPr dirty="0" sz="900" spc="-45" i="1">
                <a:latin typeface="DejaVu Sans"/>
                <a:cs typeface="DejaVu Sans"/>
              </a:rPr>
              <a:t>−</a:t>
            </a:r>
            <a:r>
              <a:rPr dirty="0" sz="900" spc="-80" i="1">
                <a:latin typeface="DejaVu Sans"/>
                <a:cs typeface="DejaVu Sans"/>
              </a:rPr>
              <a:t> </a:t>
            </a:r>
            <a:r>
              <a:rPr dirty="0" sz="900" spc="-35">
                <a:latin typeface="Garamond"/>
                <a:cs typeface="Garamond"/>
              </a:rPr>
              <a:t>(</a:t>
            </a:r>
            <a:r>
              <a:rPr dirty="0" sz="900" spc="-35" i="1">
                <a:latin typeface="Arial"/>
                <a:cs typeface="Arial"/>
              </a:rPr>
              <a:t>π</a:t>
            </a:r>
            <a:r>
              <a:rPr dirty="0" sz="900" i="1">
                <a:latin typeface="Arial"/>
                <a:cs typeface="Arial"/>
              </a:rPr>
              <a:t>	</a:t>
            </a:r>
            <a:r>
              <a:rPr dirty="0" sz="900" spc="110">
                <a:latin typeface="Garamond"/>
                <a:cs typeface="Garamond"/>
              </a:rPr>
              <a:t>+</a:t>
            </a:r>
            <a:r>
              <a:rPr dirty="0" sz="900" spc="-45">
                <a:latin typeface="Garamond"/>
                <a:cs typeface="Garamond"/>
              </a:rPr>
              <a:t> </a:t>
            </a:r>
            <a:r>
              <a:rPr dirty="0" sz="900" i="1">
                <a:latin typeface="Arial"/>
                <a:cs typeface="Arial"/>
              </a:rPr>
              <a:t>π</a:t>
            </a:r>
            <a:r>
              <a:rPr dirty="0" sz="900" spc="459" i="1">
                <a:latin typeface="Arial"/>
                <a:cs typeface="Arial"/>
              </a:rPr>
              <a:t> </a:t>
            </a:r>
            <a:r>
              <a:rPr dirty="0" sz="900" spc="40">
                <a:latin typeface="Garamond"/>
                <a:cs typeface="Garamond"/>
              </a:rPr>
              <a:t>)</a:t>
            </a:r>
            <a:endParaRPr sz="900">
              <a:latin typeface="Garamond"/>
              <a:cs typeface="Garamond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90841" y="1691656"/>
            <a:ext cx="2543810" cy="39116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417195">
              <a:lnSpc>
                <a:spcPct val="100000"/>
              </a:lnSpc>
              <a:spcBef>
                <a:spcPts val="380"/>
              </a:spcBef>
            </a:pPr>
            <a:r>
              <a:rPr dirty="0" sz="900">
                <a:latin typeface="Tahoma"/>
                <a:cs typeface="Tahoma"/>
              </a:rPr>
              <a:t>(Lợi</a:t>
            </a:r>
            <a:r>
              <a:rPr dirty="0" sz="900" spc="-20">
                <a:latin typeface="Tahoma"/>
                <a:cs typeface="Tahoma"/>
              </a:rPr>
              <a:t> nhuận </a:t>
            </a:r>
            <a:r>
              <a:rPr dirty="0" sz="900" spc="-10">
                <a:latin typeface="Tahoma"/>
                <a:cs typeface="Tahoma"/>
              </a:rPr>
              <a:t>hệ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thống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-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Lợi</a:t>
            </a:r>
            <a:r>
              <a:rPr dirty="0" sz="900" spc="-20">
                <a:latin typeface="Tahoma"/>
                <a:cs typeface="Tahoma"/>
              </a:rPr>
              <a:t> nhuận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bảo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lưu).</a:t>
            </a:r>
            <a:endParaRPr sz="900">
              <a:latin typeface="Tahoma"/>
              <a:cs typeface="Tahoma"/>
            </a:endParaRPr>
          </a:p>
          <a:p>
            <a:pPr marL="164465" indent="-126364">
              <a:lnSpc>
                <a:spcPct val="100000"/>
              </a:lnSpc>
              <a:spcBef>
                <a:spcPts val="315"/>
              </a:spcBef>
              <a:buClr>
                <a:srgbClr val="2071B4"/>
              </a:buClr>
              <a:buFont typeface="DejaVu Sans Condensed"/>
              <a:buChar char="•"/>
              <a:tabLst>
                <a:tab pos="164465" algn="l"/>
              </a:tabLst>
            </a:pPr>
            <a:r>
              <a:rPr dirty="0" sz="1000" b="1">
                <a:latin typeface="Arial"/>
                <a:cs typeface="Arial"/>
              </a:rPr>
              <a:t>Hàm</a:t>
            </a:r>
            <a:r>
              <a:rPr dirty="0" sz="1000" spc="2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mục</a:t>
            </a:r>
            <a:r>
              <a:rPr dirty="0" sz="1000" spc="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tiêu: </a:t>
            </a:r>
            <a:r>
              <a:rPr dirty="0" sz="1000">
                <a:latin typeface="Tahoma"/>
                <a:cs typeface="Tahoma"/>
              </a:rPr>
              <a:t>Tối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đa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hóa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Tích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số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Nash: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89898" y="2183579"/>
            <a:ext cx="16560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55">
                <a:latin typeface="Tahoma"/>
                <a:cs typeface="Tahoma"/>
              </a:rPr>
              <a:t>max</a:t>
            </a:r>
            <a:r>
              <a:rPr dirty="0" sz="1000" spc="-1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Ω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i="1">
                <a:latin typeface="Trebuchet MS"/>
                <a:cs typeface="Trebuchet MS"/>
              </a:rPr>
              <a:t>U</a:t>
            </a:r>
            <a:r>
              <a:rPr dirty="0" baseline="-11904" sz="1050" i="1">
                <a:latin typeface="Calibri"/>
                <a:cs typeface="Calibri"/>
              </a:rPr>
              <a:t>r</a:t>
            </a:r>
            <a:r>
              <a:rPr dirty="0" baseline="-11904" sz="1050" spc="-37" i="1">
                <a:latin typeface="Calibri"/>
                <a:cs typeface="Calibri"/>
              </a:rPr>
              <a:t> </a:t>
            </a:r>
            <a:r>
              <a:rPr dirty="0" sz="1000" spc="70">
                <a:latin typeface="Tahoma"/>
                <a:cs typeface="Tahoma"/>
              </a:rPr>
              <a:t>(∆</a:t>
            </a:r>
            <a:r>
              <a:rPr dirty="0" sz="1000" spc="70" i="1">
                <a:latin typeface="Times New Roman"/>
                <a:cs typeface="Times New Roman"/>
              </a:rPr>
              <a:t>π</a:t>
            </a:r>
            <a:r>
              <a:rPr dirty="0" baseline="-11904" sz="1050" spc="104" i="1">
                <a:latin typeface="Calibri"/>
                <a:cs typeface="Calibri"/>
              </a:rPr>
              <a:t>r</a:t>
            </a:r>
            <a:r>
              <a:rPr dirty="0" baseline="-11904" sz="1050" spc="-30" i="1">
                <a:latin typeface="Calibri"/>
                <a:cs typeface="Calibri"/>
              </a:rPr>
              <a:t> </a:t>
            </a:r>
            <a:r>
              <a:rPr dirty="0" sz="1000" spc="-10">
                <a:latin typeface="Tahoma"/>
                <a:cs typeface="Tahoma"/>
              </a:rPr>
              <a:t>)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 spc="-20" i="1">
                <a:latin typeface="DejaVu Sans Condensed"/>
                <a:cs typeface="DejaVu Sans Condensed"/>
              </a:rPr>
              <a:t>·</a:t>
            </a:r>
            <a:r>
              <a:rPr dirty="0" sz="1000" spc="-45" i="1">
                <a:latin typeface="DejaVu Sans Condensed"/>
                <a:cs typeface="DejaVu Sans Condensed"/>
              </a:rPr>
              <a:t> </a:t>
            </a:r>
            <a:r>
              <a:rPr dirty="0" sz="1000" spc="55" i="1">
                <a:latin typeface="Trebuchet MS"/>
                <a:cs typeface="Trebuchet MS"/>
              </a:rPr>
              <a:t>U</a:t>
            </a:r>
            <a:r>
              <a:rPr dirty="0" baseline="-11904" sz="1050" spc="82" i="1">
                <a:latin typeface="Calibri"/>
                <a:cs typeface="Calibri"/>
              </a:rPr>
              <a:t>m</a:t>
            </a:r>
            <a:r>
              <a:rPr dirty="0" sz="1000" spc="55">
                <a:latin typeface="Tahoma"/>
                <a:cs typeface="Tahoma"/>
              </a:rPr>
              <a:t>(∆</a:t>
            </a:r>
            <a:r>
              <a:rPr dirty="0" sz="1000" spc="55" i="1">
                <a:latin typeface="Times New Roman"/>
                <a:cs typeface="Times New Roman"/>
              </a:rPr>
              <a:t>π</a:t>
            </a:r>
            <a:r>
              <a:rPr dirty="0" baseline="-11904" sz="1050" spc="82" i="1">
                <a:latin typeface="Calibri"/>
                <a:cs typeface="Calibri"/>
              </a:rPr>
              <a:t>m</a:t>
            </a:r>
            <a:r>
              <a:rPr dirty="0" sz="1000" spc="55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405609" y="2183579"/>
            <a:ext cx="1873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Tahoma"/>
                <a:cs typeface="Tahoma"/>
              </a:rPr>
              <a:t>(1)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2534" y="359958"/>
            <a:ext cx="397510" cy="6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480"/>
              </a:lnSpc>
            </a:pPr>
            <a:r>
              <a:rPr dirty="0" sz="500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Mô</a:t>
            </a:r>
            <a:r>
              <a:rPr dirty="0" sz="500" spc="40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hình</a:t>
            </a:r>
            <a:r>
              <a:rPr dirty="0" sz="500" spc="45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-30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Nash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260" y="680081"/>
            <a:ext cx="66929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Tổng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quan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và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Mô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spc="-2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hình</a:t>
            </a:r>
            <a:r>
              <a:rPr dirty="0" sz="500" spc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spc="-2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Nash</a:t>
            </a:r>
            <a:endParaRPr sz="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260" y="893771"/>
            <a:ext cx="771525" cy="365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500" spc="-10">
                <a:solidFill>
                  <a:srgbClr val="2071B4"/>
                </a:solidFill>
                <a:latin typeface="Arial"/>
                <a:cs typeface="Arial"/>
                <a:hlinkClick r:id="rId4" action="ppaction://hlinksldjump"/>
              </a:rPr>
              <a:t>Trường</a:t>
            </a:r>
            <a:r>
              <a:rPr dirty="0" sz="500" spc="20">
                <a:solidFill>
                  <a:srgbClr val="2071B4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 spc="-10">
                <a:solidFill>
                  <a:srgbClr val="2071B4"/>
                </a:solidFill>
                <a:latin typeface="Arial"/>
                <a:cs typeface="Arial"/>
                <a:hlinkClick r:id="rId4" action="ppaction://hlinksldjump"/>
              </a:rPr>
              <a:t>hợp</a:t>
            </a:r>
            <a:r>
              <a:rPr dirty="0" sz="500" spc="25">
                <a:solidFill>
                  <a:srgbClr val="2071B4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2071B4"/>
                </a:solidFill>
                <a:latin typeface="Arial"/>
                <a:cs typeface="Arial"/>
                <a:hlinkClick r:id="rId4" action="ppaction://hlinksldjump"/>
              </a:rPr>
              <a:t>1:</a:t>
            </a:r>
            <a:r>
              <a:rPr dirty="0" sz="500" spc="75">
                <a:solidFill>
                  <a:srgbClr val="2071B4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2071B4"/>
                </a:solidFill>
                <a:latin typeface="Arial"/>
                <a:cs typeface="Arial"/>
                <a:hlinkClick r:id="rId4" action="ppaction://hlinksldjump"/>
              </a:rPr>
              <a:t>Thái</a:t>
            </a:r>
            <a:r>
              <a:rPr dirty="0" sz="500" spc="25">
                <a:solidFill>
                  <a:srgbClr val="2071B4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2071B4"/>
                </a:solidFill>
                <a:latin typeface="Arial"/>
                <a:cs typeface="Arial"/>
                <a:hlinkClick r:id="rId4" action="ppaction://hlinksldjump"/>
              </a:rPr>
              <a:t>độ</a:t>
            </a:r>
            <a:r>
              <a:rPr dirty="0" sz="500" spc="20">
                <a:solidFill>
                  <a:srgbClr val="2071B4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 spc="-25">
                <a:solidFill>
                  <a:srgbClr val="2071B4"/>
                </a:solidFill>
                <a:latin typeface="Arial"/>
                <a:cs typeface="Arial"/>
                <a:hlinkClick r:id="rId4" action="ppaction://hlinksldjump"/>
              </a:rPr>
              <a:t>rủi</a:t>
            </a:r>
            <a:r>
              <a:rPr dirty="0" sz="500" spc="500">
                <a:solidFill>
                  <a:srgbClr val="2071B4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2071B4"/>
                </a:solidFill>
                <a:latin typeface="Arial"/>
                <a:cs typeface="Arial"/>
                <a:hlinkClick r:id="rId4" action="ppaction://hlinksldjump"/>
              </a:rPr>
              <a:t>ro</a:t>
            </a:r>
            <a:r>
              <a:rPr dirty="0" sz="500" spc="10">
                <a:solidFill>
                  <a:srgbClr val="2071B4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 spc="-10">
                <a:solidFill>
                  <a:srgbClr val="2071B4"/>
                </a:solidFill>
                <a:latin typeface="Arial"/>
                <a:cs typeface="Arial"/>
                <a:hlinkClick r:id="rId4" action="ppaction://hlinksldjump"/>
              </a:rPr>
              <a:t>tương</a:t>
            </a:r>
            <a:r>
              <a:rPr dirty="0" sz="500" spc="15">
                <a:solidFill>
                  <a:srgbClr val="2071B4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 spc="-20">
                <a:solidFill>
                  <a:srgbClr val="2071B4"/>
                </a:solidFill>
                <a:latin typeface="Arial"/>
                <a:cs typeface="Arial"/>
                <a:hlinkClick r:id="rId4" action="ppaction://hlinksldjump"/>
              </a:rPr>
              <a:t>đồng</a:t>
            </a:r>
            <a:endParaRPr sz="500">
              <a:latin typeface="Arial"/>
              <a:cs typeface="Arial"/>
            </a:endParaRPr>
          </a:p>
          <a:p>
            <a:pPr marL="37465" marR="244475">
              <a:lnSpc>
                <a:spcPct val="152200"/>
              </a:lnSpc>
              <a:spcBef>
                <a:spcPts val="15"/>
              </a:spcBef>
            </a:pP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Thiết</a:t>
            </a:r>
            <a:r>
              <a:rPr dirty="0" sz="400" spc="2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lập</a:t>
            </a:r>
            <a:r>
              <a:rPr dirty="0" sz="400" spc="25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mô</a:t>
            </a:r>
            <a:r>
              <a:rPr dirty="0" sz="400" spc="3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400" spc="-2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hình</a:t>
            </a:r>
            <a:r>
              <a:rPr dirty="0" sz="400" spc="500">
                <a:solidFill>
                  <a:srgbClr val="909090"/>
                </a:solidFill>
                <a:latin typeface="Arial"/>
                <a:cs typeface="Arial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Giải</a:t>
            </a:r>
            <a:r>
              <a:rPr dirty="0" sz="400" spc="5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pháp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và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Kết</a:t>
            </a:r>
            <a:r>
              <a:rPr dirty="0" sz="400" spc="5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400" spc="-25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quả</a:t>
            </a:r>
            <a:endParaRPr sz="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260" y="1293046"/>
            <a:ext cx="663575" cy="45783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Trường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hợp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2:</a:t>
            </a:r>
            <a:r>
              <a:rPr dirty="0" sz="500" spc="7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Bất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spc="-2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đối</a:t>
            </a:r>
            <a:r>
              <a:rPr dirty="0" sz="500" spc="50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xứng</a:t>
            </a:r>
            <a:r>
              <a:rPr dirty="0" sz="500" spc="1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(Thực</a:t>
            </a:r>
            <a:r>
              <a:rPr dirty="0" sz="500" spc="1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spc="-2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tế)</a:t>
            </a:r>
            <a:endParaRPr sz="500">
              <a:latin typeface="Arial"/>
              <a:cs typeface="Arial"/>
            </a:endParaRPr>
          </a:p>
          <a:p>
            <a:pPr marL="37465" marR="52705">
              <a:lnSpc>
                <a:spcPct val="152200"/>
              </a:lnSpc>
              <a:spcBef>
                <a:spcPts val="15"/>
              </a:spcBef>
            </a:pP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Giả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định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và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Bài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400" spc="-2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toán</a:t>
            </a:r>
            <a:r>
              <a:rPr dirty="0" sz="400" spc="500">
                <a:solidFill>
                  <a:srgbClr val="909090"/>
                </a:solidFill>
                <a:latin typeface="Arial"/>
                <a:cs typeface="Arial"/>
              </a:rPr>
              <a:t> </a:t>
            </a:r>
            <a:r>
              <a:rPr dirty="0" sz="400" spc="-10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Chứng</a:t>
            </a:r>
            <a:r>
              <a:rPr dirty="0" sz="400" spc="-5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minh </a:t>
            </a:r>
            <a:r>
              <a:rPr dirty="0" sz="400" spc="-10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mệnh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 đề </a:t>
            </a:r>
            <a:r>
              <a:rPr dirty="0" sz="400" spc="-50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7</a:t>
            </a:r>
            <a:r>
              <a:rPr dirty="0" sz="400" spc="500">
                <a:solidFill>
                  <a:srgbClr val="909090"/>
                </a:solidFill>
                <a:latin typeface="Arial"/>
                <a:cs typeface="Arial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Kiểm</a:t>
            </a:r>
            <a:r>
              <a:rPr dirty="0" sz="400" spc="-5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400" spc="-10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chứng</a:t>
            </a:r>
            <a:r>
              <a:rPr dirty="0" sz="400" spc="5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thực</a:t>
            </a:r>
            <a:r>
              <a:rPr dirty="0" sz="400" spc="5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400" spc="-10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nghiệm</a:t>
            </a:r>
            <a:endParaRPr sz="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260" y="1785120"/>
            <a:ext cx="26670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11" action="ppaction://hlinksldjump"/>
              </a:rPr>
              <a:t>Kết</a:t>
            </a:r>
            <a:r>
              <a:rPr dirty="0" sz="500" spc="60">
                <a:solidFill>
                  <a:srgbClr val="9DBDD8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dirty="0" sz="500" spc="-20">
                <a:solidFill>
                  <a:srgbClr val="9DBDD8"/>
                </a:solidFill>
                <a:latin typeface="Arial"/>
                <a:cs typeface="Arial"/>
                <a:hlinkClick r:id="rId11" action="ppaction://hlinksldjump"/>
              </a:rPr>
              <a:t>luận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0"/>
            <a:ext cx="5760085" cy="631825"/>
            <a:chOff x="0" y="0"/>
            <a:chExt cx="5760085" cy="631825"/>
          </a:xfrm>
        </p:grpSpPr>
        <p:sp>
          <p:nvSpPr>
            <p:cNvPr id="8" name="object 8"/>
            <p:cNvSpPr/>
            <p:nvPr/>
          </p:nvSpPr>
          <p:spPr>
            <a:xfrm>
              <a:off x="0" y="0"/>
              <a:ext cx="5760085" cy="253365"/>
            </a:xfrm>
            <a:custGeom>
              <a:avLst/>
              <a:gdLst/>
              <a:ahLst/>
              <a:cxnLst/>
              <a:rect l="l" t="t" r="r" b="b"/>
              <a:pathLst>
                <a:path w="5760085" h="253365">
                  <a:moveTo>
                    <a:pt x="5759996" y="0"/>
                  </a:moveTo>
                  <a:lnTo>
                    <a:pt x="0" y="0"/>
                  </a:lnTo>
                  <a:lnTo>
                    <a:pt x="0" y="253047"/>
                  </a:lnTo>
                  <a:lnTo>
                    <a:pt x="5759996" y="25304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0" y="1250"/>
              <a:ext cx="839748" cy="630066"/>
            </a:xfrm>
            <a:prstGeom prst="rect">
              <a:avLst/>
            </a:prstGeom>
          </p:spPr>
        </p:pic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917714" y="-1501"/>
            <a:ext cx="79121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Nội</a:t>
            </a:r>
            <a:r>
              <a:rPr dirty="0" spc="155"/>
              <a:t> </a:t>
            </a:r>
            <a:r>
              <a:rPr dirty="0" spc="-35"/>
              <a:t>dung</a:t>
            </a:r>
          </a:p>
        </p:txBody>
      </p:sp>
      <p:pic>
        <p:nvPicPr>
          <p:cNvPr id="11" name="object 1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40296" y="774839"/>
            <a:ext cx="121435" cy="12143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959053" y="734280"/>
            <a:ext cx="168719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dirty="0" sz="900" spc="3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CCCCCC"/>
                </a:solidFill>
                <a:latin typeface="Tahoma"/>
                <a:cs typeface="Tahoma"/>
                <a:hlinkClick r:id="rId3" action="ppaction://hlinksldjump"/>
              </a:rPr>
              <a:t>Tổng</a:t>
            </a:r>
            <a:r>
              <a:rPr dirty="0" sz="1000" spc="-20">
                <a:solidFill>
                  <a:srgbClr val="CCCCCC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1000" spc="-40">
                <a:solidFill>
                  <a:srgbClr val="CCCCCC"/>
                </a:solidFill>
                <a:latin typeface="Tahoma"/>
                <a:cs typeface="Tahoma"/>
                <a:hlinkClick r:id="rId3" action="ppaction://hlinksldjump"/>
              </a:rPr>
              <a:t>quan</a:t>
            </a:r>
            <a:r>
              <a:rPr dirty="0" sz="1000" spc="-20">
                <a:solidFill>
                  <a:srgbClr val="CCCCCC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1000">
                <a:solidFill>
                  <a:srgbClr val="CCCCCC"/>
                </a:solidFill>
                <a:latin typeface="Tahoma"/>
                <a:cs typeface="Tahoma"/>
                <a:hlinkClick r:id="rId3" action="ppaction://hlinksldjump"/>
              </a:rPr>
              <a:t>và</a:t>
            </a:r>
            <a:r>
              <a:rPr dirty="0" sz="1000" spc="-20">
                <a:solidFill>
                  <a:srgbClr val="CCCCCC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1000">
                <a:solidFill>
                  <a:srgbClr val="CCCCCC"/>
                </a:solidFill>
                <a:latin typeface="Tahoma"/>
                <a:cs typeface="Tahoma"/>
                <a:hlinkClick r:id="rId3" action="ppaction://hlinksldjump"/>
              </a:rPr>
              <a:t>Mô</a:t>
            </a:r>
            <a:r>
              <a:rPr dirty="0" sz="1000" spc="-20">
                <a:solidFill>
                  <a:srgbClr val="CCCCCC"/>
                </a:solidFill>
                <a:latin typeface="Tahoma"/>
                <a:cs typeface="Tahoma"/>
                <a:hlinkClick r:id="rId3" action="ppaction://hlinksldjump"/>
              </a:rPr>
              <a:t> hình Nash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40296" y="1116405"/>
            <a:ext cx="121435" cy="121435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959053" y="1075847"/>
            <a:ext cx="2357755" cy="4813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5910" marR="5080" indent="-283845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dirty="0" sz="900" spc="3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  <a:hlinkClick r:id="rId4" action="ppaction://hlinksldjump"/>
              </a:rPr>
              <a:t>Trường</a:t>
            </a:r>
            <a:r>
              <a:rPr dirty="0" sz="1000" spc="-20"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1000" spc="-40">
                <a:latin typeface="Tahoma"/>
                <a:cs typeface="Tahoma"/>
                <a:hlinkClick r:id="rId4" action="ppaction://hlinksldjump"/>
              </a:rPr>
              <a:t>hợp</a:t>
            </a:r>
            <a:r>
              <a:rPr dirty="0" sz="1000" spc="-25"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1000" spc="-45">
                <a:latin typeface="Tahoma"/>
                <a:cs typeface="Tahoma"/>
                <a:hlinkClick r:id="rId4" action="ppaction://hlinksldjump"/>
              </a:rPr>
              <a:t>1:</a:t>
            </a:r>
            <a:r>
              <a:rPr dirty="0" sz="1000" spc="-20"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1000">
                <a:latin typeface="Tahoma"/>
                <a:cs typeface="Tahoma"/>
                <a:hlinkClick r:id="rId4" action="ppaction://hlinksldjump"/>
              </a:rPr>
              <a:t>Thái</a:t>
            </a:r>
            <a:r>
              <a:rPr dirty="0" sz="1000" spc="-20">
                <a:latin typeface="Tahoma"/>
                <a:cs typeface="Tahoma"/>
                <a:hlinkClick r:id="rId4" action="ppaction://hlinksldjump"/>
              </a:rPr>
              <a:t> độ</a:t>
            </a:r>
            <a:r>
              <a:rPr dirty="0" sz="1000" spc="-25"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1000">
                <a:latin typeface="Tahoma"/>
                <a:cs typeface="Tahoma"/>
                <a:hlinkClick r:id="rId4" action="ppaction://hlinksldjump"/>
              </a:rPr>
              <a:t>rủi</a:t>
            </a:r>
            <a:r>
              <a:rPr dirty="0" sz="1000" spc="-20"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1000">
                <a:latin typeface="Tahoma"/>
                <a:cs typeface="Tahoma"/>
                <a:hlinkClick r:id="rId4" action="ppaction://hlinksldjump"/>
              </a:rPr>
              <a:t>ro</a:t>
            </a:r>
            <a:r>
              <a:rPr dirty="0" sz="1000" spc="-20"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1000" spc="-50">
                <a:latin typeface="Tahoma"/>
                <a:cs typeface="Tahoma"/>
                <a:hlinkClick r:id="rId4" action="ppaction://hlinksldjump"/>
              </a:rPr>
              <a:t>tương</a:t>
            </a:r>
            <a:r>
              <a:rPr dirty="0" sz="1000" spc="-20"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1000" spc="-25">
                <a:latin typeface="Tahoma"/>
                <a:cs typeface="Tahoma"/>
                <a:hlinkClick r:id="rId4" action="ppaction://hlinksldjump"/>
              </a:rPr>
              <a:t>đồng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  <a:hlinkClick r:id="rId5" action="ppaction://hlinksldjump"/>
              </a:rPr>
              <a:t>Thiết</a:t>
            </a:r>
            <a:r>
              <a:rPr dirty="0" sz="1000" spc="-50">
                <a:latin typeface="Tahoma"/>
                <a:cs typeface="Tahoma"/>
                <a:hlinkClick r:id="rId5" action="ppaction://hlinksldjump"/>
              </a:rPr>
              <a:t> </a:t>
            </a:r>
            <a:r>
              <a:rPr dirty="0" sz="1000">
                <a:latin typeface="Tahoma"/>
                <a:cs typeface="Tahoma"/>
                <a:hlinkClick r:id="rId5" action="ppaction://hlinksldjump"/>
              </a:rPr>
              <a:t>lập</a:t>
            </a:r>
            <a:r>
              <a:rPr dirty="0" sz="1000" spc="-50">
                <a:latin typeface="Tahoma"/>
                <a:cs typeface="Tahoma"/>
                <a:hlinkClick r:id="rId5" action="ppaction://hlinksldjump"/>
              </a:rPr>
              <a:t> </a:t>
            </a:r>
            <a:r>
              <a:rPr dirty="0" sz="1000" spc="-10">
                <a:latin typeface="Tahoma"/>
                <a:cs typeface="Tahoma"/>
                <a:hlinkClick r:id="rId5" action="ppaction://hlinksldjump"/>
              </a:rPr>
              <a:t>mô</a:t>
            </a:r>
            <a:r>
              <a:rPr dirty="0" sz="1000" spc="-50">
                <a:latin typeface="Tahoma"/>
                <a:cs typeface="Tahoma"/>
                <a:hlinkClick r:id="rId5" action="ppaction://hlinksldjump"/>
              </a:rPr>
              <a:t> </a:t>
            </a:r>
            <a:r>
              <a:rPr dirty="0" sz="1000" spc="-20">
                <a:latin typeface="Tahoma"/>
                <a:cs typeface="Tahoma"/>
                <a:hlinkClick r:id="rId5" action="ppaction://hlinksldjump"/>
              </a:rPr>
              <a:t>hình</a:t>
            </a:r>
            <a:endParaRPr sz="1000">
              <a:latin typeface="Tahoma"/>
              <a:cs typeface="Tahoma"/>
            </a:endParaRPr>
          </a:p>
          <a:p>
            <a:pPr marL="295910">
              <a:lnSpc>
                <a:spcPts val="1190"/>
              </a:lnSpc>
            </a:pPr>
            <a:r>
              <a:rPr dirty="0" sz="1000">
                <a:latin typeface="Tahoma"/>
                <a:cs typeface="Tahoma"/>
                <a:hlinkClick r:id="rId6" action="ppaction://hlinksldjump"/>
              </a:rPr>
              <a:t>Giải</a:t>
            </a:r>
            <a:r>
              <a:rPr dirty="0" sz="1000" spc="-25"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1000" spc="-40">
                <a:latin typeface="Tahoma"/>
                <a:cs typeface="Tahoma"/>
                <a:hlinkClick r:id="rId6" action="ppaction://hlinksldjump"/>
              </a:rPr>
              <a:t>pháp</a:t>
            </a:r>
            <a:r>
              <a:rPr dirty="0" sz="1000" spc="-20"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1000">
                <a:latin typeface="Tahoma"/>
                <a:cs typeface="Tahoma"/>
                <a:hlinkClick r:id="rId6" action="ppaction://hlinksldjump"/>
              </a:rPr>
              <a:t>và</a:t>
            </a:r>
            <a:r>
              <a:rPr dirty="0" sz="1000" spc="-20"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1000">
                <a:latin typeface="Tahoma"/>
                <a:cs typeface="Tahoma"/>
                <a:hlinkClick r:id="rId6" action="ppaction://hlinksldjump"/>
              </a:rPr>
              <a:t>Kết</a:t>
            </a:r>
            <a:r>
              <a:rPr dirty="0" sz="1000" spc="-20"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1000" spc="-25">
                <a:latin typeface="Tahoma"/>
                <a:cs typeface="Tahoma"/>
                <a:hlinkClick r:id="rId6" action="ppaction://hlinksldjump"/>
              </a:rPr>
              <a:t>quả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40296" y="1761641"/>
            <a:ext cx="121435" cy="12143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959053" y="1721083"/>
            <a:ext cx="22180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r>
              <a:rPr dirty="0" sz="900" spc="3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CCCCCC"/>
                </a:solidFill>
                <a:latin typeface="Tahoma"/>
                <a:cs typeface="Tahoma"/>
                <a:hlinkClick r:id="rId7" action="ppaction://hlinksldjump"/>
              </a:rPr>
              <a:t>Trường</a:t>
            </a:r>
            <a:r>
              <a:rPr dirty="0" sz="1000" spc="-15">
                <a:solidFill>
                  <a:srgbClr val="CCCCCC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1000" spc="-40">
                <a:solidFill>
                  <a:srgbClr val="CCCCCC"/>
                </a:solidFill>
                <a:latin typeface="Tahoma"/>
                <a:cs typeface="Tahoma"/>
                <a:hlinkClick r:id="rId7" action="ppaction://hlinksldjump"/>
              </a:rPr>
              <a:t>hợp</a:t>
            </a:r>
            <a:r>
              <a:rPr dirty="0" sz="1000" spc="-10">
                <a:solidFill>
                  <a:srgbClr val="CCCCCC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1000" spc="-45">
                <a:solidFill>
                  <a:srgbClr val="CCCCCC"/>
                </a:solidFill>
                <a:latin typeface="Tahoma"/>
                <a:cs typeface="Tahoma"/>
                <a:hlinkClick r:id="rId7" action="ppaction://hlinksldjump"/>
              </a:rPr>
              <a:t>2:</a:t>
            </a:r>
            <a:r>
              <a:rPr dirty="0" sz="1000" spc="-15">
                <a:solidFill>
                  <a:srgbClr val="CCCCCC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1000">
                <a:solidFill>
                  <a:srgbClr val="CCCCCC"/>
                </a:solidFill>
                <a:latin typeface="Tahoma"/>
                <a:cs typeface="Tahoma"/>
                <a:hlinkClick r:id="rId7" action="ppaction://hlinksldjump"/>
              </a:rPr>
              <a:t>Bất</a:t>
            </a:r>
            <a:r>
              <a:rPr dirty="0" sz="1000" spc="-10">
                <a:solidFill>
                  <a:srgbClr val="CCCCCC"/>
                </a:solidFill>
                <a:latin typeface="Tahoma"/>
                <a:cs typeface="Tahoma"/>
                <a:hlinkClick r:id="rId7" action="ppaction://hlinksldjump"/>
              </a:rPr>
              <a:t> đối</a:t>
            </a:r>
            <a:r>
              <a:rPr dirty="0" sz="1000" spc="-15">
                <a:solidFill>
                  <a:srgbClr val="CCCCCC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1000" spc="-55">
                <a:solidFill>
                  <a:srgbClr val="CCCCCC"/>
                </a:solidFill>
                <a:latin typeface="Tahoma"/>
                <a:cs typeface="Tahoma"/>
                <a:hlinkClick r:id="rId7" action="ppaction://hlinksldjump"/>
              </a:rPr>
              <a:t>xứng</a:t>
            </a:r>
            <a:r>
              <a:rPr dirty="0" sz="1000" spc="-15">
                <a:solidFill>
                  <a:srgbClr val="CCCCCC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1000">
                <a:solidFill>
                  <a:srgbClr val="CCCCCC"/>
                </a:solidFill>
                <a:latin typeface="Tahoma"/>
                <a:cs typeface="Tahoma"/>
                <a:hlinkClick r:id="rId7" action="ppaction://hlinksldjump"/>
              </a:rPr>
              <a:t>(Thực</a:t>
            </a:r>
            <a:r>
              <a:rPr dirty="0" sz="1000" spc="-5">
                <a:solidFill>
                  <a:srgbClr val="CCCCCC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1000" spc="-25">
                <a:solidFill>
                  <a:srgbClr val="CCCCCC"/>
                </a:solidFill>
                <a:latin typeface="Tahoma"/>
                <a:cs typeface="Tahoma"/>
                <a:hlinkClick r:id="rId7" action="ppaction://hlinksldjump"/>
              </a:rPr>
              <a:t>tế)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40296" y="2103221"/>
            <a:ext cx="121435" cy="121435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959053" y="2062662"/>
            <a:ext cx="6223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r>
              <a:rPr dirty="0" sz="900" spc="3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CCCCCC"/>
                </a:solidFill>
                <a:latin typeface="Tahoma"/>
                <a:cs typeface="Tahoma"/>
                <a:hlinkClick r:id="rId11" action="ppaction://hlinksldjump"/>
              </a:rPr>
              <a:t>Kết</a:t>
            </a:r>
            <a:r>
              <a:rPr dirty="0" sz="1000" spc="15">
                <a:solidFill>
                  <a:srgbClr val="CCCCCC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000" spc="-25">
                <a:solidFill>
                  <a:srgbClr val="CCCCCC"/>
                </a:solidFill>
                <a:latin typeface="Tahoma"/>
                <a:cs typeface="Tahoma"/>
                <a:hlinkClick r:id="rId11" action="ppaction://hlinksldjump"/>
              </a:rPr>
              <a:t>luận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15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2534" y="359958"/>
            <a:ext cx="397510" cy="6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480"/>
              </a:lnSpc>
            </a:pPr>
            <a:r>
              <a:rPr dirty="0" sz="500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Mô</a:t>
            </a:r>
            <a:r>
              <a:rPr dirty="0" sz="500" spc="40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hình</a:t>
            </a:r>
            <a:r>
              <a:rPr dirty="0" sz="500" spc="45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-30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Nash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260" y="680081"/>
            <a:ext cx="66929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Tổng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quan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và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Mô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spc="-2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hình</a:t>
            </a:r>
            <a:r>
              <a:rPr dirty="0" sz="500" spc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spc="-2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Nash</a:t>
            </a:r>
            <a:endParaRPr sz="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260" y="893771"/>
            <a:ext cx="771525" cy="365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Trường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hợp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1:</a:t>
            </a:r>
            <a:r>
              <a:rPr dirty="0" sz="500" spc="7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Thái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độ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 spc="-2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rủi</a:t>
            </a:r>
            <a:r>
              <a:rPr dirty="0" sz="500" spc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ro</a:t>
            </a:r>
            <a:r>
              <a:rPr dirty="0" sz="500" spc="1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tương</a:t>
            </a:r>
            <a:r>
              <a:rPr dirty="0" sz="500" spc="1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 spc="-2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đồng</a:t>
            </a:r>
            <a:endParaRPr sz="500">
              <a:latin typeface="Arial"/>
              <a:cs typeface="Arial"/>
            </a:endParaRPr>
          </a:p>
          <a:p>
            <a:pPr marL="37465" marR="244475">
              <a:lnSpc>
                <a:spcPct val="152200"/>
              </a:lnSpc>
              <a:spcBef>
                <a:spcPts val="15"/>
              </a:spcBef>
            </a:pPr>
            <a:r>
              <a:rPr dirty="0" sz="400">
                <a:latin typeface="Arial"/>
                <a:cs typeface="Arial"/>
                <a:hlinkClick r:id="rId5" action="ppaction://hlinksldjump"/>
              </a:rPr>
              <a:t>Thiết</a:t>
            </a:r>
            <a:r>
              <a:rPr dirty="0" sz="400" spc="20"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400">
                <a:latin typeface="Arial"/>
                <a:cs typeface="Arial"/>
                <a:hlinkClick r:id="rId5" action="ppaction://hlinksldjump"/>
              </a:rPr>
              <a:t>lập</a:t>
            </a:r>
            <a:r>
              <a:rPr dirty="0" sz="400" spc="25"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400">
                <a:latin typeface="Arial"/>
                <a:cs typeface="Arial"/>
                <a:hlinkClick r:id="rId5" action="ppaction://hlinksldjump"/>
              </a:rPr>
              <a:t>mô</a:t>
            </a:r>
            <a:r>
              <a:rPr dirty="0" sz="400" spc="30"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400" spc="-20">
                <a:latin typeface="Arial"/>
                <a:cs typeface="Arial"/>
                <a:hlinkClick r:id="rId5" action="ppaction://hlinksldjump"/>
              </a:rPr>
              <a:t>hình</a:t>
            </a:r>
            <a:r>
              <a:rPr dirty="0" sz="400" spc="500">
                <a:latin typeface="Arial"/>
                <a:cs typeface="Arial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Giải</a:t>
            </a:r>
            <a:r>
              <a:rPr dirty="0" sz="400" spc="5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pháp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và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Kết</a:t>
            </a:r>
            <a:r>
              <a:rPr dirty="0" sz="400" spc="5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400" spc="-25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quả</a:t>
            </a:r>
            <a:endParaRPr sz="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260" y="1293046"/>
            <a:ext cx="663575" cy="45783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Trường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hợp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2:</a:t>
            </a:r>
            <a:r>
              <a:rPr dirty="0" sz="500" spc="7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Bất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spc="-2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đối</a:t>
            </a:r>
            <a:r>
              <a:rPr dirty="0" sz="500" spc="50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xứng</a:t>
            </a:r>
            <a:r>
              <a:rPr dirty="0" sz="500" spc="1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(Thực</a:t>
            </a:r>
            <a:r>
              <a:rPr dirty="0" sz="500" spc="1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spc="-2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tế)</a:t>
            </a:r>
            <a:endParaRPr sz="500">
              <a:latin typeface="Arial"/>
              <a:cs typeface="Arial"/>
            </a:endParaRPr>
          </a:p>
          <a:p>
            <a:pPr marL="37465" marR="52705">
              <a:lnSpc>
                <a:spcPct val="152200"/>
              </a:lnSpc>
              <a:spcBef>
                <a:spcPts val="15"/>
              </a:spcBef>
            </a:pP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Giả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định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và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Bài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400" spc="-2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toán</a:t>
            </a:r>
            <a:r>
              <a:rPr dirty="0" sz="400" spc="500">
                <a:solidFill>
                  <a:srgbClr val="909090"/>
                </a:solidFill>
                <a:latin typeface="Arial"/>
                <a:cs typeface="Arial"/>
              </a:rPr>
              <a:t> </a:t>
            </a:r>
            <a:r>
              <a:rPr dirty="0" sz="400" spc="-10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Chứng</a:t>
            </a:r>
            <a:r>
              <a:rPr dirty="0" sz="400" spc="-5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minh </a:t>
            </a:r>
            <a:r>
              <a:rPr dirty="0" sz="400" spc="-10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mệnh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 đề </a:t>
            </a:r>
            <a:r>
              <a:rPr dirty="0" sz="400" spc="-50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7</a:t>
            </a:r>
            <a:r>
              <a:rPr dirty="0" sz="400" spc="500">
                <a:solidFill>
                  <a:srgbClr val="909090"/>
                </a:solidFill>
                <a:latin typeface="Arial"/>
                <a:cs typeface="Arial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Kiểm</a:t>
            </a:r>
            <a:r>
              <a:rPr dirty="0" sz="400" spc="-5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400" spc="-10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chứng</a:t>
            </a:r>
            <a:r>
              <a:rPr dirty="0" sz="400" spc="5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thực</a:t>
            </a:r>
            <a:r>
              <a:rPr dirty="0" sz="400" spc="5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400" spc="-10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nghiệm</a:t>
            </a:r>
            <a:endParaRPr sz="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260" y="1785120"/>
            <a:ext cx="26670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11" action="ppaction://hlinksldjump"/>
              </a:rPr>
              <a:t>Kết</a:t>
            </a:r>
            <a:r>
              <a:rPr dirty="0" sz="500" spc="60">
                <a:solidFill>
                  <a:srgbClr val="9DBDD8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dirty="0" sz="500" spc="-20">
                <a:solidFill>
                  <a:srgbClr val="9DBDD8"/>
                </a:solidFill>
                <a:latin typeface="Arial"/>
                <a:cs typeface="Arial"/>
                <a:hlinkClick r:id="rId11" action="ppaction://hlinksldjump"/>
              </a:rPr>
              <a:t>luận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0"/>
            <a:ext cx="5760085" cy="631825"/>
            <a:chOff x="0" y="0"/>
            <a:chExt cx="5760085" cy="631825"/>
          </a:xfrm>
        </p:grpSpPr>
        <p:sp>
          <p:nvSpPr>
            <p:cNvPr id="8" name="object 8"/>
            <p:cNvSpPr/>
            <p:nvPr/>
          </p:nvSpPr>
          <p:spPr>
            <a:xfrm>
              <a:off x="0" y="0"/>
              <a:ext cx="5760085" cy="253365"/>
            </a:xfrm>
            <a:custGeom>
              <a:avLst/>
              <a:gdLst/>
              <a:ahLst/>
              <a:cxnLst/>
              <a:rect l="l" t="t" r="r" b="b"/>
              <a:pathLst>
                <a:path w="5760085" h="253365">
                  <a:moveTo>
                    <a:pt x="5759996" y="0"/>
                  </a:moveTo>
                  <a:lnTo>
                    <a:pt x="0" y="0"/>
                  </a:lnTo>
                  <a:lnTo>
                    <a:pt x="0" y="253047"/>
                  </a:lnTo>
                  <a:lnTo>
                    <a:pt x="5759996" y="25304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0" y="1250"/>
              <a:ext cx="839748" cy="630066"/>
            </a:xfrm>
            <a:prstGeom prst="rect">
              <a:avLst/>
            </a:prstGeom>
          </p:spPr>
        </p:pic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Thiết</a:t>
            </a:r>
            <a:r>
              <a:rPr dirty="0" spc="160"/>
              <a:t> </a:t>
            </a:r>
            <a:r>
              <a:rPr dirty="0"/>
              <a:t>lập</a:t>
            </a:r>
            <a:r>
              <a:rPr dirty="0" spc="160"/>
              <a:t> </a:t>
            </a:r>
            <a:r>
              <a:rPr dirty="0"/>
              <a:t>Bài</a:t>
            </a:r>
            <a:r>
              <a:rPr dirty="0" spc="160"/>
              <a:t> </a:t>
            </a:r>
            <a:r>
              <a:rPr dirty="0" spc="-20"/>
              <a:t>toán</a:t>
            </a:r>
          </a:p>
        </p:txBody>
      </p:sp>
      <p:sp>
        <p:nvSpPr>
          <p:cNvPr id="11" name="object 11"/>
          <p:cNvSpPr/>
          <p:nvPr/>
        </p:nvSpPr>
        <p:spPr>
          <a:xfrm>
            <a:off x="960247" y="577722"/>
            <a:ext cx="4662170" cy="250190"/>
          </a:xfrm>
          <a:custGeom>
            <a:avLst/>
            <a:gdLst/>
            <a:ahLst/>
            <a:cxnLst/>
            <a:rect l="l" t="t" r="r" b="b"/>
            <a:pathLst>
              <a:path w="4662170" h="250190">
                <a:moveTo>
                  <a:pt x="0" y="250177"/>
                </a:moveTo>
                <a:lnTo>
                  <a:pt x="4661916" y="250177"/>
                </a:lnTo>
                <a:lnTo>
                  <a:pt x="4661916" y="0"/>
                </a:lnTo>
                <a:lnTo>
                  <a:pt x="0" y="0"/>
                </a:lnTo>
                <a:lnTo>
                  <a:pt x="0" y="250177"/>
                </a:lnTo>
                <a:close/>
              </a:path>
            </a:pathLst>
          </a:custGeom>
          <a:solidFill>
            <a:srgbClr val="1854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989711" y="598434"/>
            <a:ext cx="124587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1.</a:t>
            </a:r>
            <a:r>
              <a:rPr dirty="0" sz="12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75">
                <a:solidFill>
                  <a:srgbClr val="FFFFFF"/>
                </a:solidFill>
                <a:latin typeface="Arial"/>
                <a:cs typeface="Arial"/>
              </a:rPr>
              <a:t>Giả</a:t>
            </a:r>
            <a:r>
              <a:rPr dirty="0" sz="12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Arial"/>
                <a:cs typeface="Arial"/>
              </a:rPr>
              <a:t>định</a:t>
            </a:r>
            <a:r>
              <a:rPr dirty="0" sz="12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Arial"/>
                <a:cs typeface="Arial"/>
              </a:rPr>
              <a:t>đầu</a:t>
            </a:r>
            <a:r>
              <a:rPr dirty="0" sz="12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55">
                <a:solidFill>
                  <a:srgbClr val="FFFFFF"/>
                </a:solidFill>
                <a:latin typeface="Arial"/>
                <a:cs typeface="Arial"/>
              </a:rPr>
              <a:t>vào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60247" y="827900"/>
            <a:ext cx="4662170" cy="775335"/>
          </a:xfrm>
          <a:custGeom>
            <a:avLst/>
            <a:gdLst/>
            <a:ahLst/>
            <a:cxnLst/>
            <a:rect l="l" t="t" r="r" b="b"/>
            <a:pathLst>
              <a:path w="4662170" h="775335">
                <a:moveTo>
                  <a:pt x="4661916" y="0"/>
                </a:moveTo>
                <a:lnTo>
                  <a:pt x="0" y="0"/>
                </a:lnTo>
                <a:lnTo>
                  <a:pt x="0" y="774954"/>
                </a:lnTo>
                <a:lnTo>
                  <a:pt x="4661916" y="774954"/>
                </a:lnTo>
                <a:lnTo>
                  <a:pt x="4661916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964311" y="802544"/>
            <a:ext cx="3259454" cy="76962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95"/>
              </a:spcBef>
            </a:pPr>
            <a:r>
              <a:rPr dirty="0" sz="1000">
                <a:latin typeface="Tahoma"/>
                <a:cs typeface="Tahoma"/>
              </a:rPr>
              <a:t>Cả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hai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bên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có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cấu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trúc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tâm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lý</a:t>
            </a:r>
            <a:r>
              <a:rPr dirty="0" sz="1000" spc="-40">
                <a:latin typeface="Tahoma"/>
                <a:cs typeface="Tahoma"/>
              </a:rPr>
              <a:t> tương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đồng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(Hàm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Lũy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thừa):</a:t>
            </a:r>
            <a:endParaRPr sz="1000">
              <a:latin typeface="Tahoma"/>
              <a:cs typeface="Tahoma"/>
            </a:endParaRPr>
          </a:p>
          <a:p>
            <a:pPr marL="290830" indent="-126364">
              <a:lnSpc>
                <a:spcPct val="100000"/>
              </a:lnSpc>
              <a:spcBef>
                <a:spcPts val="295"/>
              </a:spcBef>
              <a:buClr>
                <a:srgbClr val="2071B4"/>
              </a:buClr>
              <a:buFont typeface="DejaVu Sans Condensed"/>
              <a:buChar char="•"/>
              <a:tabLst>
                <a:tab pos="290830" algn="l"/>
              </a:tabLst>
            </a:pPr>
            <a:r>
              <a:rPr dirty="0" sz="1000" b="1">
                <a:latin typeface="Arial"/>
                <a:cs typeface="Arial"/>
              </a:rPr>
              <a:t>Nhà</a:t>
            </a:r>
            <a:r>
              <a:rPr dirty="0" sz="1000" spc="40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bán</a:t>
            </a:r>
            <a:r>
              <a:rPr dirty="0" sz="1000" spc="6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lẻ:</a:t>
            </a:r>
            <a:r>
              <a:rPr dirty="0" sz="1000" spc="20" b="1">
                <a:latin typeface="Arial"/>
                <a:cs typeface="Arial"/>
              </a:rPr>
              <a:t> </a:t>
            </a:r>
            <a:r>
              <a:rPr dirty="0" sz="1000" i="1">
                <a:latin typeface="Trebuchet MS"/>
                <a:cs typeface="Trebuchet MS"/>
              </a:rPr>
              <a:t>U</a:t>
            </a:r>
            <a:r>
              <a:rPr dirty="0" baseline="-11904" sz="1050" i="1">
                <a:latin typeface="Calibri"/>
                <a:cs typeface="Calibri"/>
              </a:rPr>
              <a:t>r</a:t>
            </a:r>
            <a:r>
              <a:rPr dirty="0" baseline="-11904" sz="1050" spc="-60" i="1">
                <a:latin typeface="Calibri"/>
                <a:cs typeface="Calibri"/>
              </a:rPr>
              <a:t> </a:t>
            </a:r>
            <a:r>
              <a:rPr dirty="0" sz="1000" spc="70">
                <a:latin typeface="Tahoma"/>
                <a:cs typeface="Tahoma"/>
              </a:rPr>
              <a:t>(∆</a:t>
            </a:r>
            <a:r>
              <a:rPr dirty="0" sz="1000" spc="70" i="1">
                <a:latin typeface="Times New Roman"/>
                <a:cs typeface="Times New Roman"/>
              </a:rPr>
              <a:t>π</a:t>
            </a:r>
            <a:r>
              <a:rPr dirty="0" baseline="-11904" sz="1050" spc="104" i="1">
                <a:latin typeface="Calibri"/>
                <a:cs typeface="Calibri"/>
              </a:rPr>
              <a:t>r</a:t>
            </a:r>
            <a:r>
              <a:rPr dirty="0" baseline="-11904" sz="1050" spc="-60" i="1">
                <a:latin typeface="Calibri"/>
                <a:cs typeface="Calibri"/>
              </a:rPr>
              <a:t> </a:t>
            </a:r>
            <a:r>
              <a:rPr dirty="0" sz="1000">
                <a:latin typeface="Tahoma"/>
                <a:cs typeface="Tahoma"/>
              </a:rPr>
              <a:t>)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70">
                <a:latin typeface="Tahoma"/>
                <a:cs typeface="Tahoma"/>
              </a:rPr>
              <a:t>(∆</a:t>
            </a:r>
            <a:r>
              <a:rPr dirty="0" sz="1000" spc="70" i="1">
                <a:latin typeface="Times New Roman"/>
                <a:cs typeface="Times New Roman"/>
              </a:rPr>
              <a:t>π</a:t>
            </a:r>
            <a:r>
              <a:rPr dirty="0" baseline="-11904" sz="1050" spc="104" i="1">
                <a:latin typeface="Calibri"/>
                <a:cs typeface="Calibri"/>
              </a:rPr>
              <a:t>r</a:t>
            </a:r>
            <a:r>
              <a:rPr dirty="0" baseline="-11904" sz="1050" spc="-67" i="1">
                <a:latin typeface="Calibri"/>
                <a:cs typeface="Calibri"/>
              </a:rPr>
              <a:t> </a:t>
            </a:r>
            <a:r>
              <a:rPr dirty="0" sz="1000" spc="-25">
                <a:latin typeface="Tahoma"/>
                <a:cs typeface="Tahoma"/>
              </a:rPr>
              <a:t>)</a:t>
            </a:r>
            <a:r>
              <a:rPr dirty="0" baseline="27777" sz="1050" spc="-37" b="0" i="1">
                <a:latin typeface="Bookman Old Style"/>
                <a:cs typeface="Bookman Old Style"/>
              </a:rPr>
              <a:t>α</a:t>
            </a:r>
            <a:endParaRPr baseline="27777" sz="1050">
              <a:latin typeface="Bookman Old Style"/>
              <a:cs typeface="Bookman Old Style"/>
            </a:endParaRPr>
          </a:p>
          <a:p>
            <a:pPr marL="290830" indent="-126364">
              <a:lnSpc>
                <a:spcPct val="100000"/>
              </a:lnSpc>
              <a:spcBef>
                <a:spcPts val="290"/>
              </a:spcBef>
              <a:buClr>
                <a:srgbClr val="2071B4"/>
              </a:buClr>
              <a:buFont typeface="DejaVu Sans Condensed"/>
              <a:buChar char="•"/>
              <a:tabLst>
                <a:tab pos="290830" algn="l"/>
              </a:tabLst>
            </a:pPr>
            <a:r>
              <a:rPr dirty="0" sz="1000" b="1">
                <a:latin typeface="Arial"/>
                <a:cs typeface="Arial"/>
              </a:rPr>
              <a:t>Nhà</a:t>
            </a:r>
            <a:r>
              <a:rPr dirty="0" sz="1000" spc="50" b="1">
                <a:latin typeface="Arial"/>
                <a:cs typeface="Arial"/>
              </a:rPr>
              <a:t> </a:t>
            </a:r>
            <a:r>
              <a:rPr dirty="0" sz="1000" spc="-40" b="1">
                <a:latin typeface="Arial"/>
                <a:cs typeface="Arial"/>
              </a:rPr>
              <a:t>sản</a:t>
            </a:r>
            <a:r>
              <a:rPr dirty="0" sz="1000" spc="5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xuất:</a:t>
            </a:r>
            <a:r>
              <a:rPr dirty="0" sz="1000" spc="25" b="1">
                <a:latin typeface="Arial"/>
                <a:cs typeface="Arial"/>
              </a:rPr>
              <a:t> </a:t>
            </a:r>
            <a:r>
              <a:rPr dirty="0" sz="1000" spc="65" i="1">
                <a:latin typeface="Trebuchet MS"/>
                <a:cs typeface="Trebuchet MS"/>
              </a:rPr>
              <a:t>U</a:t>
            </a:r>
            <a:r>
              <a:rPr dirty="0" baseline="-11904" sz="1050" spc="97" i="1">
                <a:latin typeface="Calibri"/>
                <a:cs typeface="Calibri"/>
              </a:rPr>
              <a:t>m</a:t>
            </a:r>
            <a:r>
              <a:rPr dirty="0" sz="1000" spc="65">
                <a:latin typeface="Tahoma"/>
                <a:cs typeface="Tahoma"/>
              </a:rPr>
              <a:t>(∆</a:t>
            </a:r>
            <a:r>
              <a:rPr dirty="0" sz="1000" spc="65" i="1">
                <a:latin typeface="Times New Roman"/>
                <a:cs typeface="Times New Roman"/>
              </a:rPr>
              <a:t>π</a:t>
            </a:r>
            <a:r>
              <a:rPr dirty="0" baseline="-11904" sz="1050" spc="97" i="1">
                <a:latin typeface="Calibri"/>
                <a:cs typeface="Calibri"/>
              </a:rPr>
              <a:t>m</a:t>
            </a:r>
            <a:r>
              <a:rPr dirty="0" sz="1000" spc="65">
                <a:latin typeface="Tahoma"/>
                <a:cs typeface="Tahoma"/>
              </a:rPr>
              <a:t>)</a:t>
            </a:r>
            <a:r>
              <a:rPr dirty="0" sz="1000" spc="-6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65">
                <a:latin typeface="Tahoma"/>
                <a:cs typeface="Tahoma"/>
              </a:rPr>
              <a:t> </a:t>
            </a:r>
            <a:r>
              <a:rPr dirty="0" sz="1000" spc="50">
                <a:latin typeface="Tahoma"/>
                <a:cs typeface="Tahoma"/>
              </a:rPr>
              <a:t>(∆</a:t>
            </a:r>
            <a:r>
              <a:rPr dirty="0" sz="1000" spc="50" i="1">
                <a:latin typeface="Times New Roman"/>
                <a:cs typeface="Times New Roman"/>
              </a:rPr>
              <a:t>π</a:t>
            </a:r>
            <a:r>
              <a:rPr dirty="0" baseline="-11904" sz="1050" spc="75" i="1">
                <a:latin typeface="Calibri"/>
                <a:cs typeface="Calibri"/>
              </a:rPr>
              <a:t>m</a:t>
            </a:r>
            <a:r>
              <a:rPr dirty="0" sz="1000" spc="50">
                <a:latin typeface="Tahoma"/>
                <a:cs typeface="Tahoma"/>
              </a:rPr>
              <a:t>)</a:t>
            </a:r>
            <a:r>
              <a:rPr dirty="0" baseline="27777" sz="1050" spc="75" b="0" i="1">
                <a:latin typeface="Bookman Old Style"/>
                <a:cs typeface="Bookman Old Style"/>
              </a:rPr>
              <a:t>β</a:t>
            </a:r>
            <a:endParaRPr baseline="27777" sz="1050">
              <a:latin typeface="Bookman Old Style"/>
              <a:cs typeface="Bookman Old Style"/>
            </a:endParaRPr>
          </a:p>
          <a:p>
            <a:pPr marL="38100">
              <a:lnSpc>
                <a:spcPct val="100000"/>
              </a:lnSpc>
              <a:spcBef>
                <a:spcPts val="295"/>
              </a:spcBef>
            </a:pPr>
            <a:r>
              <a:rPr dirty="0" sz="900" i="1">
                <a:latin typeface="Arial"/>
                <a:cs typeface="Arial"/>
              </a:rPr>
              <a:t>(α,</a:t>
            </a:r>
            <a:r>
              <a:rPr dirty="0" sz="900" spc="-100" i="1">
                <a:latin typeface="Arial"/>
                <a:cs typeface="Arial"/>
              </a:rPr>
              <a:t> </a:t>
            </a:r>
            <a:r>
              <a:rPr dirty="0" sz="900" i="1">
                <a:latin typeface="Arial"/>
                <a:cs typeface="Arial"/>
              </a:rPr>
              <a:t>β</a:t>
            </a:r>
            <a:r>
              <a:rPr dirty="0" sz="900" spc="50" i="1">
                <a:latin typeface="Arial"/>
                <a:cs typeface="Arial"/>
              </a:rPr>
              <a:t> </a:t>
            </a:r>
            <a:r>
              <a:rPr dirty="0" sz="900" spc="-190" i="1">
                <a:latin typeface="DejaVu Sans"/>
                <a:cs typeface="DejaVu Sans"/>
              </a:rPr>
              <a:t>∈</a:t>
            </a:r>
            <a:r>
              <a:rPr dirty="0" sz="900" spc="-35" i="1">
                <a:latin typeface="DejaVu Sans"/>
                <a:cs typeface="DejaVu Sans"/>
              </a:rPr>
              <a:t> </a:t>
            </a:r>
            <a:r>
              <a:rPr dirty="0" sz="900">
                <a:latin typeface="Garamond"/>
                <a:cs typeface="Garamond"/>
              </a:rPr>
              <a:t>(0</a:t>
            </a:r>
            <a:r>
              <a:rPr dirty="0" sz="900" i="1">
                <a:latin typeface="Arial"/>
                <a:cs typeface="Arial"/>
              </a:rPr>
              <a:t>,</a:t>
            </a:r>
            <a:r>
              <a:rPr dirty="0" sz="900" spc="-100" i="1">
                <a:latin typeface="Arial"/>
                <a:cs typeface="Arial"/>
              </a:rPr>
              <a:t> </a:t>
            </a:r>
            <a:r>
              <a:rPr dirty="0" sz="900">
                <a:latin typeface="Garamond"/>
                <a:cs typeface="Garamond"/>
              </a:rPr>
              <a:t>1]</a:t>
            </a:r>
            <a:r>
              <a:rPr dirty="0" sz="900" i="1">
                <a:latin typeface="Arial"/>
                <a:cs typeface="Arial"/>
              </a:rPr>
              <a:t>:</a:t>
            </a:r>
            <a:r>
              <a:rPr dirty="0" sz="900" spc="60" i="1">
                <a:latin typeface="Arial"/>
                <a:cs typeface="Arial"/>
              </a:rPr>
              <a:t> </a:t>
            </a:r>
            <a:r>
              <a:rPr dirty="0" sz="900" i="1">
                <a:latin typeface="Arial"/>
                <a:cs typeface="Arial"/>
              </a:rPr>
              <a:t>Hệ</a:t>
            </a:r>
            <a:r>
              <a:rPr dirty="0" sz="900" spc="55" i="1">
                <a:latin typeface="Arial"/>
                <a:cs typeface="Arial"/>
              </a:rPr>
              <a:t> </a:t>
            </a:r>
            <a:r>
              <a:rPr dirty="0" sz="900" spc="-30" i="1">
                <a:latin typeface="Arial"/>
                <a:cs typeface="Arial"/>
              </a:rPr>
              <a:t>số</a:t>
            </a:r>
            <a:r>
              <a:rPr dirty="0" sz="900" spc="55" i="1">
                <a:latin typeface="Arial"/>
                <a:cs typeface="Arial"/>
              </a:rPr>
              <a:t> </a:t>
            </a:r>
            <a:r>
              <a:rPr dirty="0" sz="900" spc="-25" i="1">
                <a:latin typeface="Arial"/>
                <a:cs typeface="Arial"/>
              </a:rPr>
              <a:t>chấp</a:t>
            </a:r>
            <a:r>
              <a:rPr dirty="0" sz="900" spc="60" i="1">
                <a:latin typeface="Arial"/>
                <a:cs typeface="Arial"/>
              </a:rPr>
              <a:t> </a:t>
            </a:r>
            <a:r>
              <a:rPr dirty="0" sz="900" spc="-20" i="1">
                <a:latin typeface="Arial"/>
                <a:cs typeface="Arial"/>
              </a:rPr>
              <a:t>nhận</a:t>
            </a:r>
            <a:r>
              <a:rPr dirty="0" sz="900" spc="55" i="1">
                <a:latin typeface="Arial"/>
                <a:cs typeface="Arial"/>
              </a:rPr>
              <a:t> </a:t>
            </a:r>
            <a:r>
              <a:rPr dirty="0" sz="900" i="1">
                <a:latin typeface="Arial"/>
                <a:cs typeface="Arial"/>
              </a:rPr>
              <a:t>rủi</a:t>
            </a:r>
            <a:r>
              <a:rPr dirty="0" sz="900" spc="55" i="1">
                <a:latin typeface="Arial"/>
                <a:cs typeface="Arial"/>
              </a:rPr>
              <a:t> </a:t>
            </a:r>
            <a:r>
              <a:rPr dirty="0" sz="900" spc="-25" i="1">
                <a:latin typeface="Arial"/>
                <a:cs typeface="Arial"/>
              </a:rPr>
              <a:t>ro)</a:t>
            </a:r>
            <a:endParaRPr sz="9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60247" y="1729384"/>
            <a:ext cx="4662170" cy="267970"/>
          </a:xfrm>
          <a:custGeom>
            <a:avLst/>
            <a:gdLst/>
            <a:ahLst/>
            <a:cxnLst/>
            <a:rect l="l" t="t" r="r" b="b"/>
            <a:pathLst>
              <a:path w="4662170" h="267969">
                <a:moveTo>
                  <a:pt x="0" y="267474"/>
                </a:moveTo>
                <a:lnTo>
                  <a:pt x="4661916" y="267474"/>
                </a:lnTo>
                <a:lnTo>
                  <a:pt x="4661916" y="0"/>
                </a:lnTo>
                <a:lnTo>
                  <a:pt x="0" y="0"/>
                </a:lnTo>
                <a:lnTo>
                  <a:pt x="0" y="267474"/>
                </a:lnTo>
                <a:close/>
              </a:path>
            </a:pathLst>
          </a:custGeom>
          <a:solidFill>
            <a:srgbClr val="1854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964311" y="1750095"/>
            <a:ext cx="213487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2.</a:t>
            </a:r>
            <a:r>
              <a:rPr dirty="0" sz="12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Bài</a:t>
            </a:r>
            <a:r>
              <a:rPr dirty="0" sz="12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toán</a:t>
            </a:r>
            <a:r>
              <a:rPr dirty="0" sz="12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tối</a:t>
            </a:r>
            <a:r>
              <a:rPr dirty="0" sz="12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25">
                <a:solidFill>
                  <a:srgbClr val="FFFFFF"/>
                </a:solidFill>
                <a:latin typeface="Arial"/>
                <a:cs typeface="Arial"/>
              </a:rPr>
              <a:t>ưu</a:t>
            </a:r>
            <a:r>
              <a:rPr dirty="0" sz="1200" spc="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65">
                <a:solidFill>
                  <a:srgbClr val="FFFFFF"/>
                </a:solidFill>
                <a:latin typeface="Arial"/>
                <a:cs typeface="Arial"/>
              </a:rPr>
              <a:t>hóa</a:t>
            </a:r>
            <a:r>
              <a:rPr dirty="0" sz="12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75">
                <a:solidFill>
                  <a:srgbClr val="FFFFFF"/>
                </a:solidFill>
                <a:latin typeface="Arial"/>
                <a:cs typeface="Arial"/>
              </a:rPr>
              <a:t>Nash</a:t>
            </a:r>
            <a:r>
              <a:rPr dirty="0" sz="12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dirty="0" sz="1200" spc="-20" i="1">
                <a:solidFill>
                  <a:srgbClr val="FFFFFF"/>
                </a:solidFill>
                <a:latin typeface="Arial Nova"/>
                <a:cs typeface="Arial Nova"/>
              </a:rPr>
              <a:t>P</a:t>
            </a:r>
            <a:r>
              <a:rPr dirty="0" baseline="-13888" sz="1200" spc="-3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dirty="0" sz="1200" spc="-2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60247" y="1996859"/>
            <a:ext cx="4662170" cy="694690"/>
          </a:xfrm>
          <a:custGeom>
            <a:avLst/>
            <a:gdLst/>
            <a:ahLst/>
            <a:cxnLst/>
            <a:rect l="l" t="t" r="r" b="b"/>
            <a:pathLst>
              <a:path w="4662170" h="694689">
                <a:moveTo>
                  <a:pt x="4661916" y="0"/>
                </a:moveTo>
                <a:lnTo>
                  <a:pt x="0" y="0"/>
                </a:lnTo>
                <a:lnTo>
                  <a:pt x="0" y="694118"/>
                </a:lnTo>
                <a:lnTo>
                  <a:pt x="4661916" y="694118"/>
                </a:lnTo>
                <a:lnTo>
                  <a:pt x="4661916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989711" y="2009462"/>
            <a:ext cx="2058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ahoma"/>
                <a:cs typeface="Tahoma"/>
              </a:rPr>
              <a:t>Tìm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tỷ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lệ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chia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140" i="1">
                <a:latin typeface="Times New Roman"/>
                <a:cs typeface="Times New Roman"/>
              </a:rPr>
              <a:t>λ</a:t>
            </a:r>
            <a:r>
              <a:rPr dirty="0" sz="1000" spc="40" i="1">
                <a:latin typeface="Times New Roman"/>
                <a:cs typeface="Times New Roman"/>
              </a:rPr>
              <a:t> </a:t>
            </a:r>
            <a:r>
              <a:rPr dirty="0" sz="1000" spc="-50">
                <a:latin typeface="Tahoma"/>
                <a:cs typeface="Tahoma"/>
              </a:rPr>
              <a:t>để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tối</a:t>
            </a:r>
            <a:r>
              <a:rPr dirty="0" sz="1000" spc="-20">
                <a:latin typeface="Tahoma"/>
                <a:cs typeface="Tahoma"/>
              </a:rPr>
              <a:t> đa </a:t>
            </a:r>
            <a:r>
              <a:rPr dirty="0" sz="1000" spc="-35">
                <a:latin typeface="Tahoma"/>
                <a:cs typeface="Tahoma"/>
              </a:rPr>
              <a:t>hóa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tích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số: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15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313546" y="2287808"/>
            <a:ext cx="1944370" cy="25272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ts val="1075"/>
              </a:lnSpc>
              <a:spcBef>
                <a:spcPts val="95"/>
              </a:spcBef>
            </a:pPr>
            <a:r>
              <a:rPr dirty="0" sz="1000" spc="-55">
                <a:latin typeface="Tahoma"/>
                <a:cs typeface="Tahoma"/>
              </a:rPr>
              <a:t>max</a:t>
            </a:r>
            <a:r>
              <a:rPr dirty="0" sz="1000" spc="-10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Ω(</a:t>
            </a:r>
            <a:r>
              <a:rPr dirty="0" sz="1000" i="1">
                <a:latin typeface="Times New Roman"/>
                <a:cs typeface="Times New Roman"/>
              </a:rPr>
              <a:t>λ</a:t>
            </a:r>
            <a:r>
              <a:rPr dirty="0" sz="1000">
                <a:latin typeface="Tahoma"/>
                <a:cs typeface="Tahoma"/>
              </a:rPr>
              <a:t>)</a:t>
            </a:r>
            <a:r>
              <a:rPr dirty="0" sz="1000" spc="6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5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[</a:t>
            </a:r>
            <a:r>
              <a:rPr dirty="0" sz="1000" i="1">
                <a:latin typeface="Times New Roman"/>
                <a:cs typeface="Times New Roman"/>
              </a:rPr>
              <a:t>λ</a:t>
            </a:r>
            <a:r>
              <a:rPr dirty="0" sz="1000">
                <a:latin typeface="Tahoma"/>
                <a:cs typeface="Tahoma"/>
              </a:rPr>
              <a:t>∆</a:t>
            </a:r>
            <a:r>
              <a:rPr dirty="0" sz="1000" i="1">
                <a:latin typeface="Times New Roman"/>
                <a:cs typeface="Times New Roman"/>
              </a:rPr>
              <a:t>π</a:t>
            </a:r>
            <a:r>
              <a:rPr dirty="0" sz="1000">
                <a:latin typeface="Tahoma"/>
                <a:cs typeface="Tahoma"/>
              </a:rPr>
              <a:t>]</a:t>
            </a:r>
            <a:r>
              <a:rPr dirty="0" baseline="31746" sz="1050" b="0" i="1">
                <a:latin typeface="Bookman Old Style"/>
                <a:cs typeface="Bookman Old Style"/>
              </a:rPr>
              <a:t>α</a:t>
            </a:r>
            <a:r>
              <a:rPr dirty="0" baseline="31746" sz="1050" spc="232" b="0" i="1">
                <a:latin typeface="Bookman Old Style"/>
                <a:cs typeface="Bookman Old Style"/>
              </a:rPr>
              <a:t> </a:t>
            </a:r>
            <a:r>
              <a:rPr dirty="0" sz="1000" spc="-20" i="1">
                <a:latin typeface="DejaVu Sans Condensed"/>
                <a:cs typeface="DejaVu Sans Condensed"/>
              </a:rPr>
              <a:t>·</a:t>
            </a:r>
            <a:r>
              <a:rPr dirty="0" sz="1000" spc="10" i="1">
                <a:latin typeface="DejaVu Sans Condensed"/>
                <a:cs typeface="DejaVu Sans Condensed"/>
              </a:rPr>
              <a:t> </a:t>
            </a:r>
            <a:r>
              <a:rPr dirty="0" sz="1000" spc="-60">
                <a:latin typeface="Tahoma"/>
                <a:cs typeface="Tahoma"/>
              </a:rPr>
              <a:t>[(1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i="1">
                <a:latin typeface="DejaVu Sans Condensed"/>
                <a:cs typeface="DejaVu Sans Condensed"/>
              </a:rPr>
              <a:t>−</a:t>
            </a:r>
            <a:r>
              <a:rPr dirty="0" sz="1000" spc="10" i="1">
                <a:latin typeface="DejaVu Sans Condensed"/>
                <a:cs typeface="DejaVu Sans Condensed"/>
              </a:rPr>
              <a:t> </a:t>
            </a:r>
            <a:r>
              <a:rPr dirty="0" sz="1000" spc="50" i="1">
                <a:latin typeface="Times New Roman"/>
                <a:cs typeface="Times New Roman"/>
              </a:rPr>
              <a:t>λ</a:t>
            </a:r>
            <a:r>
              <a:rPr dirty="0" sz="1000" spc="50">
                <a:latin typeface="Tahoma"/>
                <a:cs typeface="Tahoma"/>
              </a:rPr>
              <a:t>)∆</a:t>
            </a:r>
            <a:r>
              <a:rPr dirty="0" sz="1000" spc="50" i="1">
                <a:latin typeface="Times New Roman"/>
                <a:cs typeface="Times New Roman"/>
              </a:rPr>
              <a:t>π</a:t>
            </a:r>
            <a:r>
              <a:rPr dirty="0" sz="1000" spc="50">
                <a:latin typeface="Tahoma"/>
                <a:cs typeface="Tahoma"/>
              </a:rPr>
              <a:t>]</a:t>
            </a:r>
            <a:r>
              <a:rPr dirty="0" baseline="31746" sz="1050" spc="75" b="0" i="1">
                <a:latin typeface="Bookman Old Style"/>
                <a:cs typeface="Bookman Old Style"/>
              </a:rPr>
              <a:t>β</a:t>
            </a:r>
            <a:endParaRPr baseline="31746" sz="1050">
              <a:latin typeface="Bookman Old Style"/>
              <a:cs typeface="Bookman Old Style"/>
            </a:endParaRPr>
          </a:p>
          <a:p>
            <a:pPr marL="117475">
              <a:lnSpc>
                <a:spcPts val="715"/>
              </a:lnSpc>
            </a:pPr>
            <a:r>
              <a:rPr dirty="0" sz="700" spc="55" b="0" i="1">
                <a:latin typeface="Bookman Old Style"/>
                <a:cs typeface="Bookman Old Style"/>
              </a:rPr>
              <a:t>λ</a:t>
            </a:r>
            <a:endParaRPr sz="700">
              <a:latin typeface="Bookman Old Style"/>
              <a:cs typeface="Bookman Old Styl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405666" y="2287808"/>
            <a:ext cx="1873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Tahoma"/>
                <a:cs typeface="Tahoma"/>
              </a:rPr>
              <a:t>(2)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2534" y="359958"/>
            <a:ext cx="397510" cy="6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480"/>
              </a:lnSpc>
            </a:pPr>
            <a:r>
              <a:rPr dirty="0" sz="500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Mô</a:t>
            </a:r>
            <a:r>
              <a:rPr dirty="0" sz="500" spc="40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hình</a:t>
            </a:r>
            <a:r>
              <a:rPr dirty="0" sz="500" spc="45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-30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Nash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260" y="680081"/>
            <a:ext cx="66929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Tổng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quan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và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Mô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spc="-2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hình</a:t>
            </a:r>
            <a:r>
              <a:rPr dirty="0" sz="500" spc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spc="-2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Nash</a:t>
            </a:r>
            <a:endParaRPr sz="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260" y="893771"/>
            <a:ext cx="771525" cy="365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Trường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hợp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1:</a:t>
            </a:r>
            <a:r>
              <a:rPr dirty="0" sz="500" spc="7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Thái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độ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 spc="-2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rủi</a:t>
            </a:r>
            <a:r>
              <a:rPr dirty="0" sz="500" spc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ro</a:t>
            </a:r>
            <a:r>
              <a:rPr dirty="0" sz="500" spc="1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tương</a:t>
            </a:r>
            <a:r>
              <a:rPr dirty="0" sz="500" spc="1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 spc="-2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đồng</a:t>
            </a:r>
            <a:endParaRPr sz="500">
              <a:latin typeface="Arial"/>
              <a:cs typeface="Arial"/>
            </a:endParaRPr>
          </a:p>
          <a:p>
            <a:pPr marL="37465" marR="244475">
              <a:lnSpc>
                <a:spcPct val="152200"/>
              </a:lnSpc>
              <a:spcBef>
                <a:spcPts val="15"/>
              </a:spcBef>
            </a:pP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Thiết</a:t>
            </a:r>
            <a:r>
              <a:rPr dirty="0" sz="400" spc="2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lập</a:t>
            </a:r>
            <a:r>
              <a:rPr dirty="0" sz="400" spc="25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mô</a:t>
            </a:r>
            <a:r>
              <a:rPr dirty="0" sz="400" spc="3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400" spc="-2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hình</a:t>
            </a:r>
            <a:r>
              <a:rPr dirty="0" sz="400" spc="500">
                <a:solidFill>
                  <a:srgbClr val="909090"/>
                </a:solidFill>
                <a:latin typeface="Arial"/>
                <a:cs typeface="Arial"/>
              </a:rPr>
              <a:t> </a:t>
            </a:r>
            <a:r>
              <a:rPr dirty="0" sz="400">
                <a:latin typeface="Arial"/>
                <a:cs typeface="Arial"/>
                <a:hlinkClick r:id="rId6" action="ppaction://hlinksldjump"/>
              </a:rPr>
              <a:t>Giải</a:t>
            </a:r>
            <a:r>
              <a:rPr dirty="0" sz="400" spc="5"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400">
                <a:latin typeface="Arial"/>
                <a:cs typeface="Arial"/>
                <a:hlinkClick r:id="rId6" action="ppaction://hlinksldjump"/>
              </a:rPr>
              <a:t>pháp</a:t>
            </a:r>
            <a:r>
              <a:rPr dirty="0" sz="400" spc="10"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400">
                <a:latin typeface="Arial"/>
                <a:cs typeface="Arial"/>
                <a:hlinkClick r:id="rId6" action="ppaction://hlinksldjump"/>
              </a:rPr>
              <a:t>và</a:t>
            </a:r>
            <a:r>
              <a:rPr dirty="0" sz="400" spc="10"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400">
                <a:latin typeface="Arial"/>
                <a:cs typeface="Arial"/>
                <a:hlinkClick r:id="rId6" action="ppaction://hlinksldjump"/>
              </a:rPr>
              <a:t>Kết</a:t>
            </a:r>
            <a:r>
              <a:rPr dirty="0" sz="400" spc="5"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400" spc="-25">
                <a:latin typeface="Arial"/>
                <a:cs typeface="Arial"/>
                <a:hlinkClick r:id="rId6" action="ppaction://hlinksldjump"/>
              </a:rPr>
              <a:t>quả</a:t>
            </a:r>
            <a:endParaRPr sz="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260" y="1293046"/>
            <a:ext cx="663575" cy="45783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Trường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hợp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2:</a:t>
            </a:r>
            <a:r>
              <a:rPr dirty="0" sz="500" spc="7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Bất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spc="-2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đối</a:t>
            </a:r>
            <a:r>
              <a:rPr dirty="0" sz="500" spc="50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xứng</a:t>
            </a:r>
            <a:r>
              <a:rPr dirty="0" sz="500" spc="1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(Thực</a:t>
            </a:r>
            <a:r>
              <a:rPr dirty="0" sz="500" spc="1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spc="-2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tế)</a:t>
            </a:r>
            <a:endParaRPr sz="500">
              <a:latin typeface="Arial"/>
              <a:cs typeface="Arial"/>
            </a:endParaRPr>
          </a:p>
          <a:p>
            <a:pPr marL="37465" marR="52705">
              <a:lnSpc>
                <a:spcPct val="152200"/>
              </a:lnSpc>
              <a:spcBef>
                <a:spcPts val="15"/>
              </a:spcBef>
            </a:pP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Giả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định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và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Bài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400" spc="-2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toán</a:t>
            </a:r>
            <a:r>
              <a:rPr dirty="0" sz="400" spc="500">
                <a:solidFill>
                  <a:srgbClr val="909090"/>
                </a:solidFill>
                <a:latin typeface="Arial"/>
                <a:cs typeface="Arial"/>
              </a:rPr>
              <a:t> </a:t>
            </a:r>
            <a:r>
              <a:rPr dirty="0" sz="400" spc="-10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Chứng</a:t>
            </a:r>
            <a:r>
              <a:rPr dirty="0" sz="400" spc="-5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minh </a:t>
            </a:r>
            <a:r>
              <a:rPr dirty="0" sz="400" spc="-10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mệnh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 đề </a:t>
            </a:r>
            <a:r>
              <a:rPr dirty="0" sz="400" spc="-50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7</a:t>
            </a:r>
            <a:r>
              <a:rPr dirty="0" sz="400" spc="500">
                <a:solidFill>
                  <a:srgbClr val="909090"/>
                </a:solidFill>
                <a:latin typeface="Arial"/>
                <a:cs typeface="Arial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Kiểm</a:t>
            </a:r>
            <a:r>
              <a:rPr dirty="0" sz="400" spc="-5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400" spc="-10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chứng</a:t>
            </a:r>
            <a:r>
              <a:rPr dirty="0" sz="400" spc="5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thực</a:t>
            </a:r>
            <a:r>
              <a:rPr dirty="0" sz="400" spc="5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400" spc="-10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nghiệm</a:t>
            </a:r>
            <a:endParaRPr sz="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260" y="1785120"/>
            <a:ext cx="26670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11" action="ppaction://hlinksldjump"/>
              </a:rPr>
              <a:t>Kết</a:t>
            </a:r>
            <a:r>
              <a:rPr dirty="0" sz="500" spc="60">
                <a:solidFill>
                  <a:srgbClr val="9DBDD8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dirty="0" sz="500" spc="-20">
                <a:solidFill>
                  <a:srgbClr val="9DBDD8"/>
                </a:solidFill>
                <a:latin typeface="Arial"/>
                <a:cs typeface="Arial"/>
                <a:hlinkClick r:id="rId11" action="ppaction://hlinksldjump"/>
              </a:rPr>
              <a:t>luận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0"/>
            <a:ext cx="5760085" cy="631825"/>
            <a:chOff x="0" y="0"/>
            <a:chExt cx="5760085" cy="631825"/>
          </a:xfrm>
        </p:grpSpPr>
        <p:sp>
          <p:nvSpPr>
            <p:cNvPr id="8" name="object 8"/>
            <p:cNvSpPr/>
            <p:nvPr/>
          </p:nvSpPr>
          <p:spPr>
            <a:xfrm>
              <a:off x="0" y="0"/>
              <a:ext cx="5760085" cy="253365"/>
            </a:xfrm>
            <a:custGeom>
              <a:avLst/>
              <a:gdLst/>
              <a:ahLst/>
              <a:cxnLst/>
              <a:rect l="l" t="t" r="r" b="b"/>
              <a:pathLst>
                <a:path w="5760085" h="253365">
                  <a:moveTo>
                    <a:pt x="5759996" y="0"/>
                  </a:moveTo>
                  <a:lnTo>
                    <a:pt x="0" y="0"/>
                  </a:lnTo>
                  <a:lnTo>
                    <a:pt x="0" y="253047"/>
                  </a:lnTo>
                  <a:lnTo>
                    <a:pt x="5759996" y="25304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0" y="1250"/>
              <a:ext cx="839748" cy="630066"/>
            </a:xfrm>
            <a:prstGeom prst="rect">
              <a:avLst/>
            </a:prstGeom>
          </p:spPr>
        </p:pic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917714" y="3020"/>
            <a:ext cx="166751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Giải</a:t>
            </a:r>
            <a:r>
              <a:rPr dirty="0" spc="80"/>
              <a:t> </a:t>
            </a:r>
            <a:r>
              <a:rPr dirty="0"/>
              <a:t>bài</a:t>
            </a:r>
            <a:r>
              <a:rPr dirty="0" spc="85"/>
              <a:t> </a:t>
            </a:r>
            <a:r>
              <a:rPr dirty="0"/>
              <a:t>toán</a:t>
            </a:r>
            <a:r>
              <a:rPr dirty="0" spc="85"/>
              <a:t> </a:t>
            </a:r>
            <a:r>
              <a:rPr dirty="0"/>
              <a:t>tối</a:t>
            </a:r>
            <a:r>
              <a:rPr dirty="0" spc="85"/>
              <a:t> </a:t>
            </a:r>
            <a:r>
              <a:rPr dirty="0" spc="-35"/>
              <a:t>ưu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89711" y="682617"/>
            <a:ext cx="2864485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00"/>
              </a:lnSpc>
              <a:spcBef>
                <a:spcPts val="95"/>
              </a:spcBef>
            </a:pPr>
            <a:r>
              <a:rPr dirty="0" sz="1000" spc="-60" b="1">
                <a:latin typeface="Arial"/>
                <a:cs typeface="Arial"/>
              </a:rPr>
              <a:t>Bước</a:t>
            </a:r>
            <a:r>
              <a:rPr dirty="0" sz="1000" spc="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1:</a:t>
            </a:r>
            <a:r>
              <a:rPr dirty="0" sz="1000" spc="20" b="1">
                <a:latin typeface="Arial"/>
                <a:cs typeface="Arial"/>
              </a:rPr>
              <a:t> </a:t>
            </a:r>
            <a:r>
              <a:rPr dirty="0" sz="1000" spc="-20" b="1">
                <a:latin typeface="Arial"/>
                <a:cs typeface="Arial"/>
              </a:rPr>
              <a:t>Logarit</a:t>
            </a:r>
            <a:r>
              <a:rPr dirty="0" sz="1000" spc="20" b="1">
                <a:latin typeface="Arial"/>
                <a:cs typeface="Arial"/>
              </a:rPr>
              <a:t> </a:t>
            </a:r>
            <a:r>
              <a:rPr dirty="0" sz="1000" spc="-20" b="1">
                <a:latin typeface="Arial"/>
                <a:cs typeface="Arial"/>
              </a:rPr>
              <a:t>hóa</a:t>
            </a:r>
            <a:r>
              <a:rPr dirty="0" sz="1000" spc="15" b="1">
                <a:latin typeface="Arial"/>
                <a:cs typeface="Arial"/>
              </a:rPr>
              <a:t> </a:t>
            </a:r>
            <a:r>
              <a:rPr dirty="0" sz="1000" spc="-40" b="1">
                <a:latin typeface="Arial"/>
                <a:cs typeface="Arial"/>
              </a:rPr>
              <a:t>(Log-</a:t>
            </a:r>
            <a:r>
              <a:rPr dirty="0" sz="1000" spc="-10" b="1">
                <a:latin typeface="Arial"/>
                <a:cs typeface="Arial"/>
              </a:rPr>
              <a:t>linearization)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dirty="0" sz="1000" spc="-40">
                <a:latin typeface="Tahoma"/>
                <a:cs typeface="Tahoma"/>
              </a:rPr>
              <a:t>Chuyển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phép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nhân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thành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phép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cộng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để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60">
                <a:latin typeface="Tahoma"/>
                <a:cs typeface="Tahoma"/>
              </a:rPr>
              <a:t>đơn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giản</a:t>
            </a:r>
            <a:r>
              <a:rPr dirty="0" sz="1000" spc="-20">
                <a:latin typeface="Tahoma"/>
                <a:cs typeface="Tahoma"/>
              </a:rPr>
              <a:t> hóa: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06637" y="1074845"/>
            <a:ext cx="2169160" cy="40513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207010">
              <a:lnSpc>
                <a:spcPct val="100000"/>
              </a:lnSpc>
              <a:spcBef>
                <a:spcPts val="395"/>
              </a:spcBef>
            </a:pPr>
            <a:r>
              <a:rPr dirty="0" sz="1000" spc="-25">
                <a:latin typeface="Tahoma"/>
                <a:cs typeface="Tahoma"/>
              </a:rPr>
              <a:t>ln</a:t>
            </a:r>
            <a:r>
              <a:rPr dirty="0" sz="1000" spc="-1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Ω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110" i="1">
                <a:latin typeface="Times New Roman"/>
                <a:cs typeface="Times New Roman"/>
              </a:rPr>
              <a:t>α</a:t>
            </a:r>
            <a:r>
              <a:rPr dirty="0" sz="1000" spc="-60" i="1">
                <a:latin typeface="Times New Roman"/>
                <a:cs typeface="Times New Roman"/>
              </a:rPr>
              <a:t> </a:t>
            </a:r>
            <a:r>
              <a:rPr dirty="0" sz="1000" spc="50">
                <a:latin typeface="Tahoma"/>
                <a:cs typeface="Tahoma"/>
              </a:rPr>
              <a:t>ln(</a:t>
            </a:r>
            <a:r>
              <a:rPr dirty="0" sz="1000" spc="50" i="1">
                <a:latin typeface="Times New Roman"/>
                <a:cs typeface="Times New Roman"/>
              </a:rPr>
              <a:t>λ</a:t>
            </a:r>
            <a:r>
              <a:rPr dirty="0" sz="1000" spc="50">
                <a:latin typeface="Tahoma"/>
                <a:cs typeface="Tahoma"/>
              </a:rPr>
              <a:t>∆</a:t>
            </a:r>
            <a:r>
              <a:rPr dirty="0" sz="1000" spc="50" i="1">
                <a:latin typeface="Times New Roman"/>
                <a:cs typeface="Times New Roman"/>
              </a:rPr>
              <a:t>π</a:t>
            </a:r>
            <a:r>
              <a:rPr dirty="0" sz="1000" spc="50">
                <a:latin typeface="Tahoma"/>
                <a:cs typeface="Tahoma"/>
              </a:rPr>
              <a:t>)</a:t>
            </a:r>
            <a:r>
              <a:rPr dirty="0" sz="1000" spc="-7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70">
                <a:latin typeface="Tahoma"/>
                <a:cs typeface="Tahoma"/>
              </a:rPr>
              <a:t> </a:t>
            </a:r>
            <a:r>
              <a:rPr dirty="0" sz="1000" spc="60" i="1">
                <a:latin typeface="Times New Roman"/>
                <a:cs typeface="Times New Roman"/>
              </a:rPr>
              <a:t>β</a:t>
            </a:r>
            <a:r>
              <a:rPr dirty="0" sz="1000" spc="-10" i="1">
                <a:latin typeface="Times New Roman"/>
                <a:cs typeface="Times New Roman"/>
              </a:rPr>
              <a:t> </a:t>
            </a:r>
            <a:r>
              <a:rPr dirty="0" sz="1000" spc="-30">
                <a:latin typeface="Tahoma"/>
                <a:cs typeface="Tahoma"/>
              </a:rPr>
              <a:t>ln((1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 i="1">
                <a:latin typeface="DejaVu Sans Condensed"/>
                <a:cs typeface="DejaVu Sans Condensed"/>
              </a:rPr>
              <a:t>−</a:t>
            </a:r>
            <a:r>
              <a:rPr dirty="0" sz="1000" spc="-40" i="1">
                <a:latin typeface="DejaVu Sans Condensed"/>
                <a:cs typeface="DejaVu Sans Condensed"/>
              </a:rPr>
              <a:t> </a:t>
            </a:r>
            <a:r>
              <a:rPr dirty="0" sz="1000" spc="65" i="1">
                <a:latin typeface="Times New Roman"/>
                <a:cs typeface="Times New Roman"/>
              </a:rPr>
              <a:t>λ</a:t>
            </a:r>
            <a:r>
              <a:rPr dirty="0" sz="1000" spc="65">
                <a:latin typeface="Tahoma"/>
                <a:cs typeface="Tahoma"/>
              </a:rPr>
              <a:t>)∆</a:t>
            </a:r>
            <a:r>
              <a:rPr dirty="0" sz="1000" spc="65" i="1">
                <a:latin typeface="Times New Roman"/>
                <a:cs typeface="Times New Roman"/>
              </a:rPr>
              <a:t>π</a:t>
            </a:r>
            <a:r>
              <a:rPr dirty="0" sz="1000" spc="65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1000" spc="240" i="1">
                <a:latin typeface="DejaVu Sans Condensed"/>
                <a:cs typeface="DejaVu Sans Condensed"/>
              </a:rPr>
              <a:t>⇒</a:t>
            </a:r>
            <a:r>
              <a:rPr dirty="0" sz="1000" spc="35" i="1">
                <a:latin typeface="DejaVu Sans Condensed"/>
                <a:cs typeface="DejaVu Sans Condensed"/>
              </a:rPr>
              <a:t> </a:t>
            </a:r>
            <a:r>
              <a:rPr dirty="0" sz="1000" i="1">
                <a:latin typeface="Trebuchet MS"/>
                <a:cs typeface="Trebuchet MS"/>
              </a:rPr>
              <a:t>L</a:t>
            </a:r>
            <a:r>
              <a:rPr dirty="0" sz="1000">
                <a:latin typeface="Tahoma"/>
                <a:cs typeface="Tahoma"/>
              </a:rPr>
              <a:t>(</a:t>
            </a:r>
            <a:r>
              <a:rPr dirty="0" sz="1000" i="1">
                <a:latin typeface="Times New Roman"/>
                <a:cs typeface="Times New Roman"/>
              </a:rPr>
              <a:t>λ</a:t>
            </a:r>
            <a:r>
              <a:rPr dirty="0" sz="1000">
                <a:latin typeface="Tahoma"/>
                <a:cs typeface="Tahoma"/>
              </a:rPr>
              <a:t>)</a:t>
            </a:r>
            <a:r>
              <a:rPr dirty="0" sz="1000" spc="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spc="110" i="1">
                <a:latin typeface="Times New Roman"/>
                <a:cs typeface="Times New Roman"/>
              </a:rPr>
              <a:t>α</a:t>
            </a:r>
            <a:r>
              <a:rPr dirty="0" sz="1000" spc="-50" i="1">
                <a:latin typeface="Times New Roman"/>
                <a:cs typeface="Times New Roman"/>
              </a:rPr>
              <a:t> </a:t>
            </a:r>
            <a:r>
              <a:rPr dirty="0" sz="1000">
                <a:latin typeface="Tahoma"/>
                <a:cs typeface="Tahoma"/>
              </a:rPr>
              <a:t>ln(</a:t>
            </a:r>
            <a:r>
              <a:rPr dirty="0" sz="1000" i="1">
                <a:latin typeface="Times New Roman"/>
                <a:cs typeface="Times New Roman"/>
              </a:rPr>
              <a:t>λ</a:t>
            </a:r>
            <a:r>
              <a:rPr dirty="0" sz="1000">
                <a:latin typeface="Tahoma"/>
                <a:cs typeface="Tahoma"/>
              </a:rPr>
              <a:t>)</a:t>
            </a:r>
            <a:r>
              <a:rPr dirty="0" sz="1000" spc="-6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60" i="1">
                <a:latin typeface="Times New Roman"/>
                <a:cs typeface="Times New Roman"/>
              </a:rPr>
              <a:t>β</a:t>
            </a:r>
            <a:r>
              <a:rPr dirty="0" sz="1000" i="1">
                <a:latin typeface="Times New Roman"/>
                <a:cs typeface="Times New Roman"/>
              </a:rPr>
              <a:t> </a:t>
            </a:r>
            <a:r>
              <a:rPr dirty="0" sz="1000" spc="-35">
                <a:latin typeface="Tahoma"/>
                <a:cs typeface="Tahoma"/>
              </a:rPr>
              <a:t>ln(1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i="1">
                <a:latin typeface="DejaVu Sans Condensed"/>
                <a:cs typeface="DejaVu Sans Condensed"/>
              </a:rPr>
              <a:t>−</a:t>
            </a:r>
            <a:r>
              <a:rPr dirty="0" sz="1000" spc="-25" i="1">
                <a:latin typeface="DejaVu Sans Condensed"/>
                <a:cs typeface="DejaVu Sans Condensed"/>
              </a:rPr>
              <a:t> </a:t>
            </a:r>
            <a:r>
              <a:rPr dirty="0" sz="1000" spc="65" i="1">
                <a:latin typeface="Times New Roman"/>
                <a:cs typeface="Times New Roman"/>
              </a:rPr>
              <a:t>λ</a:t>
            </a:r>
            <a:r>
              <a:rPr dirty="0" sz="1000" spc="65">
                <a:latin typeface="Tahoma"/>
                <a:cs typeface="Tahoma"/>
              </a:rPr>
              <a:t>)</a:t>
            </a:r>
            <a:r>
              <a:rPr dirty="0" sz="1000" spc="-6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-50" i="1">
                <a:latin typeface="Trebuchet MS"/>
                <a:cs typeface="Trebuchet MS"/>
              </a:rPr>
              <a:t>C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89711" y="1605500"/>
            <a:ext cx="2052320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00"/>
              </a:lnSpc>
              <a:spcBef>
                <a:spcPts val="95"/>
              </a:spcBef>
            </a:pPr>
            <a:r>
              <a:rPr dirty="0" sz="1000" spc="-60" b="1">
                <a:latin typeface="Arial"/>
                <a:cs typeface="Arial"/>
              </a:rPr>
              <a:t>Bước</a:t>
            </a:r>
            <a:r>
              <a:rPr dirty="0" sz="1000" b="1">
                <a:latin typeface="Arial"/>
                <a:cs typeface="Arial"/>
              </a:rPr>
              <a:t> 2:</a:t>
            </a:r>
            <a:r>
              <a:rPr dirty="0" sz="1000" spc="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Điều</a:t>
            </a:r>
            <a:r>
              <a:rPr dirty="0" sz="1000" spc="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kiện</a:t>
            </a:r>
            <a:r>
              <a:rPr dirty="0" sz="1000" spc="5" b="1">
                <a:latin typeface="Arial"/>
                <a:cs typeface="Arial"/>
              </a:rPr>
              <a:t> </a:t>
            </a:r>
            <a:r>
              <a:rPr dirty="0" sz="1000" spc="-20" b="1">
                <a:latin typeface="Arial"/>
                <a:cs typeface="Arial"/>
              </a:rPr>
              <a:t>bậc</a:t>
            </a:r>
            <a:r>
              <a:rPr dirty="0" sz="1000" spc="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nhất</a:t>
            </a:r>
            <a:r>
              <a:rPr dirty="0" sz="1000" spc="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(FOC)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dirty="0" sz="1000">
                <a:latin typeface="Tahoma"/>
                <a:cs typeface="Tahoma"/>
              </a:rPr>
              <a:t>Lấy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đạo hàm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theo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140" i="1">
                <a:latin typeface="Times New Roman"/>
                <a:cs typeface="Times New Roman"/>
              </a:rPr>
              <a:t>λ</a:t>
            </a:r>
            <a:r>
              <a:rPr dirty="0" sz="1000" spc="20" i="1">
                <a:latin typeface="Times New Roman"/>
                <a:cs typeface="Times New Roman"/>
              </a:rPr>
              <a:t> </a:t>
            </a:r>
            <a:r>
              <a:rPr dirty="0" sz="1000">
                <a:latin typeface="Tahoma"/>
                <a:cs typeface="Tahoma"/>
              </a:rPr>
              <a:t>và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đặt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bằng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0: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722626" y="2202154"/>
            <a:ext cx="148590" cy="0"/>
          </a:xfrm>
          <a:custGeom>
            <a:avLst/>
            <a:gdLst/>
            <a:ahLst/>
            <a:cxnLst/>
            <a:rect l="l" t="t" r="r" b="b"/>
            <a:pathLst>
              <a:path w="148589" h="0">
                <a:moveTo>
                  <a:pt x="0" y="0"/>
                </a:moveTo>
                <a:lnTo>
                  <a:pt x="14800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712567" y="2008967"/>
            <a:ext cx="4508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6870" algn="l"/>
              </a:tabLst>
            </a:pPr>
            <a:r>
              <a:rPr dirty="0" sz="1000" spc="25" i="1">
                <a:latin typeface="Times New Roman"/>
                <a:cs typeface="Times New Roman"/>
              </a:rPr>
              <a:t>∂</a:t>
            </a:r>
            <a:r>
              <a:rPr dirty="0" sz="1000" spc="25" i="1">
                <a:latin typeface="Trebuchet MS"/>
                <a:cs typeface="Trebuchet MS"/>
              </a:rPr>
              <a:t>L</a:t>
            </a:r>
            <a:r>
              <a:rPr dirty="0" sz="1000" i="1">
                <a:latin typeface="Trebuchet MS"/>
                <a:cs typeface="Trebuchet MS"/>
              </a:rPr>
              <a:t>	</a:t>
            </a:r>
            <a:r>
              <a:rPr dirty="0" sz="1000" spc="60" i="1">
                <a:latin typeface="Times New Roman"/>
                <a:cs typeface="Times New Roman"/>
              </a:rPr>
              <a:t>α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069704" y="2202154"/>
            <a:ext cx="81915" cy="0"/>
          </a:xfrm>
          <a:custGeom>
            <a:avLst/>
            <a:gdLst/>
            <a:ahLst/>
            <a:cxnLst/>
            <a:rect l="l" t="t" r="r" b="b"/>
            <a:pathLst>
              <a:path w="81914" h="0">
                <a:moveTo>
                  <a:pt x="0" y="0"/>
                </a:moveTo>
                <a:lnTo>
                  <a:pt x="8140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908261" y="2094565"/>
            <a:ext cx="3975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5750" algn="l"/>
              </a:tabLst>
            </a:pPr>
            <a:r>
              <a:rPr dirty="0" sz="1000" spc="-50">
                <a:latin typeface="Tahoma"/>
                <a:cs typeface="Tahoma"/>
              </a:rPr>
              <a:t>=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-50" i="1">
                <a:latin typeface="DejaVu Sans Condensed"/>
                <a:cs typeface="DejaVu Sans Condensed"/>
              </a:rPr>
              <a:t>−</a:t>
            </a:r>
            <a:endParaRPr sz="1000">
              <a:latin typeface="DejaVu Sans Condensed"/>
              <a:cs typeface="DejaVu Sans Condensed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30142" y="2008967"/>
            <a:ext cx="971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0" i="1">
                <a:latin typeface="Times New Roman"/>
                <a:cs typeface="Times New Roman"/>
              </a:rPr>
              <a:t>β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336112" y="2202154"/>
            <a:ext cx="292100" cy="0"/>
          </a:xfrm>
          <a:custGeom>
            <a:avLst/>
            <a:gdLst/>
            <a:ahLst/>
            <a:cxnLst/>
            <a:rect l="l" t="t" r="r" b="b"/>
            <a:pathLst>
              <a:path w="292100" h="0">
                <a:moveTo>
                  <a:pt x="0" y="0"/>
                </a:moveTo>
                <a:lnTo>
                  <a:pt x="291706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709926" y="2181357"/>
            <a:ext cx="9309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63220" algn="l"/>
                <a:tab pos="626110" algn="l"/>
              </a:tabLst>
            </a:pPr>
            <a:r>
              <a:rPr dirty="0" sz="1000" spc="85" i="1">
                <a:latin typeface="Times New Roman"/>
                <a:cs typeface="Times New Roman"/>
              </a:rPr>
              <a:t>∂λ</a:t>
            </a:r>
            <a:r>
              <a:rPr dirty="0" sz="1000" i="1">
                <a:latin typeface="Times New Roman"/>
                <a:cs typeface="Times New Roman"/>
              </a:rPr>
              <a:t>	</a:t>
            </a:r>
            <a:r>
              <a:rPr dirty="0" sz="1000" spc="90" i="1">
                <a:latin typeface="Times New Roman"/>
                <a:cs typeface="Times New Roman"/>
              </a:rPr>
              <a:t>λ</a:t>
            </a:r>
            <a:r>
              <a:rPr dirty="0" sz="1000" i="1">
                <a:latin typeface="Times New Roman"/>
                <a:cs typeface="Times New Roman"/>
              </a:rPr>
              <a:t>	</a:t>
            </a:r>
            <a:r>
              <a:rPr dirty="0" sz="1000" spc="-55">
                <a:latin typeface="Tahoma"/>
                <a:cs typeface="Tahoma"/>
              </a:rPr>
              <a:t>1</a:t>
            </a:r>
            <a:r>
              <a:rPr dirty="0" sz="1000" spc="-85">
                <a:latin typeface="Tahoma"/>
                <a:cs typeface="Tahoma"/>
              </a:rPr>
              <a:t> </a:t>
            </a:r>
            <a:r>
              <a:rPr dirty="0" sz="1000" i="1">
                <a:latin typeface="DejaVu Sans Condensed"/>
                <a:cs typeface="DejaVu Sans Condensed"/>
              </a:rPr>
              <a:t>−</a:t>
            </a:r>
            <a:r>
              <a:rPr dirty="0" sz="1000" spc="-55" i="1">
                <a:latin typeface="DejaVu Sans Condensed"/>
                <a:cs typeface="DejaVu Sans Condensed"/>
              </a:rPr>
              <a:t> </a:t>
            </a:r>
            <a:r>
              <a:rPr dirty="0" sz="1000" spc="90" i="1">
                <a:latin typeface="Times New Roman"/>
                <a:cs typeface="Times New Roman"/>
              </a:rPr>
              <a:t>λ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15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3665448" y="2094565"/>
            <a:ext cx="2222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405648" y="2094565"/>
            <a:ext cx="1873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Tahoma"/>
                <a:cs typeface="Tahoma"/>
              </a:rPr>
              <a:t>(3)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2534" y="359958"/>
            <a:ext cx="397510" cy="6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480"/>
              </a:lnSpc>
            </a:pPr>
            <a:r>
              <a:rPr dirty="0" sz="500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Mô</a:t>
            </a:r>
            <a:r>
              <a:rPr dirty="0" sz="500" spc="40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hình</a:t>
            </a:r>
            <a:r>
              <a:rPr dirty="0" sz="500" spc="45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-30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Nash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260" y="680081"/>
            <a:ext cx="66929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Tổng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quan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và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Mô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spc="-2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hình</a:t>
            </a:r>
            <a:r>
              <a:rPr dirty="0" sz="500" spc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spc="-2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Nash</a:t>
            </a:r>
            <a:endParaRPr sz="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260" y="893771"/>
            <a:ext cx="771525" cy="365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Trường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hợp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1:</a:t>
            </a:r>
            <a:r>
              <a:rPr dirty="0" sz="500" spc="7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Thái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độ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 spc="-2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rủi</a:t>
            </a:r>
            <a:r>
              <a:rPr dirty="0" sz="500" spc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ro</a:t>
            </a:r>
            <a:r>
              <a:rPr dirty="0" sz="500" spc="1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tương</a:t>
            </a:r>
            <a:r>
              <a:rPr dirty="0" sz="500" spc="1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 spc="-2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đồng</a:t>
            </a:r>
            <a:endParaRPr sz="500">
              <a:latin typeface="Arial"/>
              <a:cs typeface="Arial"/>
            </a:endParaRPr>
          </a:p>
          <a:p>
            <a:pPr marL="37465" marR="244475">
              <a:lnSpc>
                <a:spcPct val="152200"/>
              </a:lnSpc>
              <a:spcBef>
                <a:spcPts val="15"/>
              </a:spcBef>
            </a:pP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Thiết</a:t>
            </a:r>
            <a:r>
              <a:rPr dirty="0" sz="400" spc="2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lập</a:t>
            </a:r>
            <a:r>
              <a:rPr dirty="0" sz="400" spc="25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mô</a:t>
            </a:r>
            <a:r>
              <a:rPr dirty="0" sz="400" spc="3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400" spc="-2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hình</a:t>
            </a:r>
            <a:r>
              <a:rPr dirty="0" sz="400" spc="500">
                <a:solidFill>
                  <a:srgbClr val="909090"/>
                </a:solidFill>
                <a:latin typeface="Arial"/>
                <a:cs typeface="Arial"/>
              </a:rPr>
              <a:t> </a:t>
            </a:r>
            <a:r>
              <a:rPr dirty="0" sz="400">
                <a:latin typeface="Arial"/>
                <a:cs typeface="Arial"/>
                <a:hlinkClick r:id="rId6" action="ppaction://hlinksldjump"/>
              </a:rPr>
              <a:t>Giải</a:t>
            </a:r>
            <a:r>
              <a:rPr dirty="0" sz="400" spc="5"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400">
                <a:latin typeface="Arial"/>
                <a:cs typeface="Arial"/>
                <a:hlinkClick r:id="rId6" action="ppaction://hlinksldjump"/>
              </a:rPr>
              <a:t>pháp</a:t>
            </a:r>
            <a:r>
              <a:rPr dirty="0" sz="400" spc="10"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400">
                <a:latin typeface="Arial"/>
                <a:cs typeface="Arial"/>
                <a:hlinkClick r:id="rId6" action="ppaction://hlinksldjump"/>
              </a:rPr>
              <a:t>và</a:t>
            </a:r>
            <a:r>
              <a:rPr dirty="0" sz="400" spc="10"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400">
                <a:latin typeface="Arial"/>
                <a:cs typeface="Arial"/>
                <a:hlinkClick r:id="rId6" action="ppaction://hlinksldjump"/>
              </a:rPr>
              <a:t>Kết</a:t>
            </a:r>
            <a:r>
              <a:rPr dirty="0" sz="400" spc="5"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400" spc="-25">
                <a:latin typeface="Arial"/>
                <a:cs typeface="Arial"/>
                <a:hlinkClick r:id="rId6" action="ppaction://hlinksldjump"/>
              </a:rPr>
              <a:t>quả</a:t>
            </a:r>
            <a:endParaRPr sz="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260" y="1293046"/>
            <a:ext cx="663575" cy="45783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Trường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hợp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2:</a:t>
            </a:r>
            <a:r>
              <a:rPr dirty="0" sz="500" spc="7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Bất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spc="-2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đối</a:t>
            </a:r>
            <a:r>
              <a:rPr dirty="0" sz="500" spc="50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xứng</a:t>
            </a:r>
            <a:r>
              <a:rPr dirty="0" sz="500" spc="1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(Thực</a:t>
            </a:r>
            <a:r>
              <a:rPr dirty="0" sz="500" spc="1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spc="-2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tế)</a:t>
            </a:r>
            <a:endParaRPr sz="500">
              <a:latin typeface="Arial"/>
              <a:cs typeface="Arial"/>
            </a:endParaRPr>
          </a:p>
          <a:p>
            <a:pPr marL="37465" marR="52705">
              <a:lnSpc>
                <a:spcPct val="152200"/>
              </a:lnSpc>
              <a:spcBef>
                <a:spcPts val="15"/>
              </a:spcBef>
            </a:pP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Giả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định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và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Bài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400" spc="-2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toán</a:t>
            </a:r>
            <a:r>
              <a:rPr dirty="0" sz="400" spc="500">
                <a:solidFill>
                  <a:srgbClr val="909090"/>
                </a:solidFill>
                <a:latin typeface="Arial"/>
                <a:cs typeface="Arial"/>
              </a:rPr>
              <a:t> </a:t>
            </a:r>
            <a:r>
              <a:rPr dirty="0" sz="400" spc="-10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Chứng</a:t>
            </a:r>
            <a:r>
              <a:rPr dirty="0" sz="400" spc="-5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minh </a:t>
            </a:r>
            <a:r>
              <a:rPr dirty="0" sz="400" spc="-10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mệnh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 đề </a:t>
            </a:r>
            <a:r>
              <a:rPr dirty="0" sz="400" spc="-50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7</a:t>
            </a:r>
            <a:r>
              <a:rPr dirty="0" sz="400" spc="500">
                <a:solidFill>
                  <a:srgbClr val="909090"/>
                </a:solidFill>
                <a:latin typeface="Arial"/>
                <a:cs typeface="Arial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Kiểm</a:t>
            </a:r>
            <a:r>
              <a:rPr dirty="0" sz="400" spc="-5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400" spc="-10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chứng</a:t>
            </a:r>
            <a:r>
              <a:rPr dirty="0" sz="400" spc="5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thực</a:t>
            </a:r>
            <a:r>
              <a:rPr dirty="0" sz="400" spc="5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400" spc="-10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nghiệm</a:t>
            </a:r>
            <a:endParaRPr sz="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260" y="1785120"/>
            <a:ext cx="26670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11" action="ppaction://hlinksldjump"/>
              </a:rPr>
              <a:t>Kết</a:t>
            </a:r>
            <a:r>
              <a:rPr dirty="0" sz="500" spc="60">
                <a:solidFill>
                  <a:srgbClr val="9DBDD8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dirty="0" sz="500" spc="-20">
                <a:solidFill>
                  <a:srgbClr val="9DBDD8"/>
                </a:solidFill>
                <a:latin typeface="Arial"/>
                <a:cs typeface="Arial"/>
                <a:hlinkClick r:id="rId11" action="ppaction://hlinksldjump"/>
              </a:rPr>
              <a:t>luận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0"/>
            <a:ext cx="5760085" cy="631825"/>
            <a:chOff x="0" y="0"/>
            <a:chExt cx="5760085" cy="631825"/>
          </a:xfrm>
        </p:grpSpPr>
        <p:sp>
          <p:nvSpPr>
            <p:cNvPr id="8" name="object 8"/>
            <p:cNvSpPr/>
            <p:nvPr/>
          </p:nvSpPr>
          <p:spPr>
            <a:xfrm>
              <a:off x="0" y="0"/>
              <a:ext cx="5760085" cy="253365"/>
            </a:xfrm>
            <a:custGeom>
              <a:avLst/>
              <a:gdLst/>
              <a:ahLst/>
              <a:cxnLst/>
              <a:rect l="l" t="t" r="r" b="b"/>
              <a:pathLst>
                <a:path w="5760085" h="253365">
                  <a:moveTo>
                    <a:pt x="5759996" y="0"/>
                  </a:moveTo>
                  <a:lnTo>
                    <a:pt x="0" y="0"/>
                  </a:lnTo>
                  <a:lnTo>
                    <a:pt x="0" y="253047"/>
                  </a:lnTo>
                  <a:lnTo>
                    <a:pt x="5759996" y="25304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0" y="1250"/>
              <a:ext cx="839748" cy="630066"/>
            </a:xfrm>
            <a:prstGeom prst="rect">
              <a:avLst/>
            </a:prstGeom>
          </p:spPr>
        </p:pic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50"/>
              <a:t>Kết</a:t>
            </a:r>
            <a:r>
              <a:rPr dirty="0" spc="55"/>
              <a:t> </a:t>
            </a:r>
            <a:r>
              <a:rPr dirty="0"/>
              <a:t>quả</a:t>
            </a:r>
            <a:r>
              <a:rPr dirty="0" spc="55"/>
              <a:t> </a:t>
            </a:r>
            <a:r>
              <a:rPr dirty="0" spc="170"/>
              <a:t>&amp;</a:t>
            </a:r>
            <a:r>
              <a:rPr dirty="0" spc="60"/>
              <a:t> </a:t>
            </a:r>
            <a:r>
              <a:rPr dirty="0"/>
              <a:t>mệnh</a:t>
            </a:r>
            <a:r>
              <a:rPr dirty="0" spc="55"/>
              <a:t> </a:t>
            </a:r>
            <a:r>
              <a:rPr dirty="0"/>
              <a:t>đề</a:t>
            </a:r>
            <a:r>
              <a:rPr dirty="0" spc="60"/>
              <a:t> </a:t>
            </a:r>
            <a:r>
              <a:rPr dirty="0" spc="-50"/>
              <a:t>6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89711" y="292727"/>
            <a:ext cx="16287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60" b="1">
                <a:latin typeface="Arial"/>
                <a:cs typeface="Arial"/>
              </a:rPr>
              <a:t>Bước</a:t>
            </a:r>
            <a:r>
              <a:rPr dirty="0" sz="1000" spc="5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3:</a:t>
            </a:r>
            <a:r>
              <a:rPr dirty="0" sz="1000" spc="5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Tìm</a:t>
            </a:r>
            <a:r>
              <a:rPr dirty="0" sz="1000" spc="55" b="1">
                <a:latin typeface="Arial"/>
                <a:cs typeface="Arial"/>
              </a:rPr>
              <a:t> </a:t>
            </a:r>
            <a:r>
              <a:rPr dirty="0" sz="1000" spc="-35" b="1">
                <a:latin typeface="Arial"/>
                <a:cs typeface="Arial"/>
              </a:rPr>
              <a:t>nghiệm</a:t>
            </a:r>
            <a:r>
              <a:rPr dirty="0" sz="1000" spc="5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tối</a:t>
            </a:r>
            <a:r>
              <a:rPr dirty="0" sz="1000" spc="55" b="1">
                <a:latin typeface="Arial"/>
                <a:cs typeface="Arial"/>
              </a:rPr>
              <a:t> </a:t>
            </a:r>
            <a:r>
              <a:rPr dirty="0" sz="1000" spc="-35" b="1">
                <a:latin typeface="Arial"/>
                <a:cs typeface="Arial"/>
              </a:rPr>
              <a:t>ưu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510574" y="737552"/>
            <a:ext cx="81915" cy="0"/>
          </a:xfrm>
          <a:custGeom>
            <a:avLst/>
            <a:gdLst/>
            <a:ahLst/>
            <a:cxnLst/>
            <a:rect l="l" t="t" r="r" b="b"/>
            <a:pathLst>
              <a:path w="81914" h="0">
                <a:moveTo>
                  <a:pt x="0" y="0"/>
                </a:moveTo>
                <a:lnTo>
                  <a:pt x="8140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629611" y="629950"/>
            <a:ext cx="1238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97874" y="544365"/>
            <a:ext cx="4845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9415" algn="l"/>
              </a:tabLst>
            </a:pPr>
            <a:r>
              <a:rPr dirty="0" sz="1000" spc="60" i="1">
                <a:latin typeface="Times New Roman"/>
                <a:cs typeface="Times New Roman"/>
              </a:rPr>
              <a:t>α</a:t>
            </a:r>
            <a:r>
              <a:rPr dirty="0" sz="1000" i="1">
                <a:latin typeface="Times New Roman"/>
                <a:cs typeface="Times New Roman"/>
              </a:rPr>
              <a:t>	</a:t>
            </a:r>
            <a:r>
              <a:rPr dirty="0" sz="1000" spc="10" i="1">
                <a:latin typeface="Times New Roman"/>
                <a:cs typeface="Times New Roman"/>
              </a:rPr>
              <a:t>β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791040" y="737552"/>
            <a:ext cx="292100" cy="0"/>
          </a:xfrm>
          <a:custGeom>
            <a:avLst/>
            <a:gdLst/>
            <a:ahLst/>
            <a:cxnLst/>
            <a:rect l="l" t="t" r="r" b="b"/>
            <a:pathLst>
              <a:path w="292100" h="0">
                <a:moveTo>
                  <a:pt x="0" y="0"/>
                </a:moveTo>
                <a:lnTo>
                  <a:pt x="291706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501671" y="716742"/>
            <a:ext cx="5937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8925" algn="l"/>
              </a:tabLst>
            </a:pPr>
            <a:r>
              <a:rPr dirty="0" sz="1000" spc="90" i="1">
                <a:latin typeface="Times New Roman"/>
                <a:cs typeface="Times New Roman"/>
              </a:rPr>
              <a:t>λ</a:t>
            </a:r>
            <a:r>
              <a:rPr dirty="0" sz="1000" i="1">
                <a:latin typeface="Times New Roman"/>
                <a:cs typeface="Times New Roman"/>
              </a:rPr>
              <a:t>	</a:t>
            </a:r>
            <a:r>
              <a:rPr dirty="0" sz="1000" spc="-55">
                <a:latin typeface="Tahoma"/>
                <a:cs typeface="Tahoma"/>
              </a:rPr>
              <a:t>1</a:t>
            </a:r>
            <a:r>
              <a:rPr dirty="0" sz="1000" spc="-85">
                <a:latin typeface="Tahoma"/>
                <a:cs typeface="Tahoma"/>
              </a:rPr>
              <a:t> </a:t>
            </a:r>
            <a:r>
              <a:rPr dirty="0" sz="1000" i="1">
                <a:latin typeface="DejaVu Sans Condensed"/>
                <a:cs typeface="DejaVu Sans Condensed"/>
              </a:rPr>
              <a:t>−</a:t>
            </a:r>
            <a:r>
              <a:rPr dirty="0" sz="1000" spc="-55" i="1">
                <a:latin typeface="DejaVu Sans Condensed"/>
                <a:cs typeface="DejaVu Sans Condensed"/>
              </a:rPr>
              <a:t> </a:t>
            </a:r>
            <a:r>
              <a:rPr dirty="0" sz="1000" spc="90" i="1">
                <a:latin typeface="Times New Roman"/>
                <a:cs typeface="Times New Roman"/>
              </a:rPr>
              <a:t>λ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20377" y="629950"/>
            <a:ext cx="979169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240" i="1">
                <a:latin typeface="DejaVu Sans Condensed"/>
                <a:cs typeface="DejaVu Sans Condensed"/>
              </a:rPr>
              <a:t>⇒</a:t>
            </a:r>
            <a:r>
              <a:rPr dirty="0" sz="1000" spc="15" i="1">
                <a:latin typeface="DejaVu Sans Condensed"/>
                <a:cs typeface="DejaVu Sans Condensed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α</a:t>
            </a:r>
            <a:r>
              <a:rPr dirty="0" sz="1000">
                <a:latin typeface="Tahoma"/>
                <a:cs typeface="Tahoma"/>
              </a:rPr>
              <a:t>(1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 i="1">
                <a:latin typeface="DejaVu Sans Condensed"/>
                <a:cs typeface="DejaVu Sans Condensed"/>
              </a:rPr>
              <a:t>−</a:t>
            </a:r>
            <a:r>
              <a:rPr dirty="0" sz="1000" spc="-40" i="1">
                <a:latin typeface="DejaVu Sans Condensed"/>
                <a:cs typeface="DejaVu Sans Condensed"/>
              </a:rPr>
              <a:t> </a:t>
            </a:r>
            <a:r>
              <a:rPr dirty="0" sz="1000" spc="65" i="1">
                <a:latin typeface="Times New Roman"/>
                <a:cs typeface="Times New Roman"/>
              </a:rPr>
              <a:t>λ</a:t>
            </a:r>
            <a:r>
              <a:rPr dirty="0" sz="1000" spc="65">
                <a:latin typeface="Tahoma"/>
                <a:cs typeface="Tahoma"/>
              </a:rPr>
              <a:t>)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100" i="1">
                <a:latin typeface="Times New Roman"/>
                <a:cs typeface="Times New Roman"/>
              </a:rPr>
              <a:t>βλ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20377" y="884178"/>
            <a:ext cx="92329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240" i="1">
                <a:latin typeface="DejaVu Sans Condensed"/>
                <a:cs typeface="DejaVu Sans Condensed"/>
              </a:rPr>
              <a:t>⇒</a:t>
            </a:r>
            <a:r>
              <a:rPr dirty="0" sz="1000" spc="10" i="1">
                <a:latin typeface="DejaVu Sans Condensed"/>
                <a:cs typeface="DejaVu Sans Condensed"/>
              </a:rPr>
              <a:t> </a:t>
            </a:r>
            <a:r>
              <a:rPr dirty="0" sz="1000" spc="80" i="1">
                <a:latin typeface="Times New Roman"/>
                <a:cs typeface="Times New Roman"/>
              </a:rPr>
              <a:t>λ</a:t>
            </a:r>
            <a:r>
              <a:rPr dirty="0" sz="1000" spc="80">
                <a:latin typeface="Tahoma"/>
                <a:cs typeface="Tahoma"/>
              </a:rPr>
              <a:t>(</a:t>
            </a:r>
            <a:r>
              <a:rPr dirty="0" sz="1000" spc="80" i="1">
                <a:latin typeface="Times New Roman"/>
                <a:cs typeface="Times New Roman"/>
              </a:rPr>
              <a:t>α</a:t>
            </a:r>
            <a:r>
              <a:rPr dirty="0" sz="1000" spc="-10" i="1">
                <a:latin typeface="Times New Roman"/>
                <a:cs typeface="Times New Roman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 spc="50" i="1">
                <a:latin typeface="Times New Roman"/>
                <a:cs typeface="Times New Roman"/>
              </a:rPr>
              <a:t>β</a:t>
            </a:r>
            <a:r>
              <a:rPr dirty="0" sz="1000" spc="50">
                <a:latin typeface="Tahoma"/>
                <a:cs typeface="Tahoma"/>
              </a:rPr>
              <a:t>)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60" i="1">
                <a:latin typeface="Times New Roman"/>
                <a:cs typeface="Times New Roman"/>
              </a:rPr>
              <a:t>α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60247" y="1284058"/>
            <a:ext cx="4662170" cy="250190"/>
          </a:xfrm>
          <a:custGeom>
            <a:avLst/>
            <a:gdLst/>
            <a:ahLst/>
            <a:cxnLst/>
            <a:rect l="l" t="t" r="r" b="b"/>
            <a:pathLst>
              <a:path w="4662170" h="250190">
                <a:moveTo>
                  <a:pt x="0" y="250164"/>
                </a:moveTo>
                <a:lnTo>
                  <a:pt x="4661916" y="250164"/>
                </a:lnTo>
                <a:lnTo>
                  <a:pt x="4661916" y="0"/>
                </a:lnTo>
                <a:lnTo>
                  <a:pt x="0" y="0"/>
                </a:lnTo>
                <a:lnTo>
                  <a:pt x="0" y="250164"/>
                </a:lnTo>
                <a:close/>
              </a:path>
            </a:pathLst>
          </a:custGeom>
          <a:solidFill>
            <a:srgbClr val="AB2E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989711" y="1304769"/>
            <a:ext cx="68897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0">
                <a:solidFill>
                  <a:srgbClr val="FFFFFF"/>
                </a:solidFill>
                <a:latin typeface="Arial"/>
                <a:cs typeface="Arial"/>
              </a:rPr>
              <a:t>Mệnh</a:t>
            </a: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80">
                <a:solidFill>
                  <a:srgbClr val="FFFFFF"/>
                </a:solidFill>
                <a:latin typeface="Arial"/>
                <a:cs typeface="Arial"/>
              </a:rPr>
              <a:t>đề</a:t>
            </a:r>
            <a:r>
              <a:rPr dirty="0" sz="12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60247" y="1534223"/>
            <a:ext cx="4662170" cy="869315"/>
          </a:xfrm>
          <a:custGeom>
            <a:avLst/>
            <a:gdLst/>
            <a:ahLst/>
            <a:cxnLst/>
            <a:rect l="l" t="t" r="r" b="b"/>
            <a:pathLst>
              <a:path w="4662170" h="869314">
                <a:moveTo>
                  <a:pt x="4661916" y="0"/>
                </a:moveTo>
                <a:lnTo>
                  <a:pt x="0" y="0"/>
                </a:lnTo>
                <a:lnTo>
                  <a:pt x="0" y="869315"/>
                </a:lnTo>
                <a:lnTo>
                  <a:pt x="4661916" y="869315"/>
                </a:lnTo>
                <a:lnTo>
                  <a:pt x="4661916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989711" y="1546839"/>
            <a:ext cx="4430395" cy="4813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Tahoma"/>
                <a:cs typeface="Tahoma"/>
              </a:rPr>
              <a:t>“Dựa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trên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mô</a:t>
            </a:r>
            <a:r>
              <a:rPr dirty="0" sz="1000" spc="-6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hình</a:t>
            </a:r>
            <a:r>
              <a:rPr dirty="0" sz="1000" spc="-45">
                <a:latin typeface="Tahoma"/>
                <a:cs typeface="Tahoma"/>
              </a:rPr>
              <a:t> thương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lượng </a:t>
            </a:r>
            <a:r>
              <a:rPr dirty="0" sz="1000" spc="-20">
                <a:latin typeface="Tahoma"/>
                <a:cs typeface="Tahoma"/>
              </a:rPr>
              <a:t>của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Nash,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nếu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các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thành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viên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có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hàm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thỏa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dụng </a:t>
            </a:r>
            <a:r>
              <a:rPr dirty="0" sz="1000" spc="-45">
                <a:latin typeface="Tahoma"/>
                <a:cs typeface="Tahoma"/>
              </a:rPr>
              <a:t>dạng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lũy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thừa,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tỷ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phần </a:t>
            </a:r>
            <a:r>
              <a:rPr dirty="0" sz="1000">
                <a:latin typeface="Tahoma"/>
                <a:cs typeface="Tahoma"/>
              </a:rPr>
              <a:t>lợi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nhuận</a:t>
            </a:r>
            <a:r>
              <a:rPr dirty="0" sz="1000" spc="-30">
                <a:latin typeface="Tahoma"/>
                <a:cs typeface="Tahoma"/>
              </a:rPr>
              <a:t> thặng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dư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của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mỗi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bên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60">
                <a:latin typeface="Tahoma"/>
                <a:cs typeface="Tahoma"/>
              </a:rPr>
              <a:t>sẽ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b="1">
                <a:latin typeface="Arial"/>
                <a:cs typeface="Arial"/>
              </a:rPr>
              <a:t>tỷ</a:t>
            </a:r>
            <a:r>
              <a:rPr dirty="0" sz="1000" spc="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lệ</a:t>
            </a:r>
            <a:r>
              <a:rPr dirty="0" sz="1000" spc="2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thuận</a:t>
            </a:r>
            <a:r>
              <a:rPr dirty="0" sz="1000" spc="-5" b="1">
                <a:latin typeface="Arial"/>
                <a:cs typeface="Arial"/>
              </a:rPr>
              <a:t> </a:t>
            </a:r>
            <a:r>
              <a:rPr dirty="0" sz="1000" spc="-10">
                <a:latin typeface="Tahoma"/>
                <a:cs typeface="Tahoma"/>
              </a:rPr>
              <a:t>với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mức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độ </a:t>
            </a:r>
            <a:r>
              <a:rPr dirty="0" sz="1000" spc="-30">
                <a:latin typeface="Tahoma"/>
                <a:cs typeface="Tahoma"/>
              </a:rPr>
              <a:t>chấp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nhận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rủi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ro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(</a:t>
            </a:r>
            <a:r>
              <a:rPr dirty="0" sz="1000" i="1">
                <a:latin typeface="Times New Roman"/>
                <a:cs typeface="Times New Roman"/>
              </a:rPr>
              <a:t>α,</a:t>
            </a:r>
            <a:r>
              <a:rPr dirty="0" sz="1000" spc="-85" i="1">
                <a:latin typeface="Times New Roman"/>
                <a:cs typeface="Times New Roman"/>
              </a:rPr>
              <a:t> </a:t>
            </a:r>
            <a:r>
              <a:rPr dirty="0" sz="1000" spc="55" i="1">
                <a:latin typeface="Times New Roman"/>
                <a:cs typeface="Times New Roman"/>
              </a:rPr>
              <a:t>β</a:t>
            </a:r>
            <a:r>
              <a:rPr dirty="0" sz="1000" spc="55">
                <a:latin typeface="Tahoma"/>
                <a:cs typeface="Tahoma"/>
              </a:rPr>
              <a:t>)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của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họ.”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930436" y="2034837"/>
            <a:ext cx="3416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i="1">
                <a:latin typeface="Times New Roman"/>
                <a:cs typeface="Times New Roman"/>
              </a:rPr>
              <a:t>λ</a:t>
            </a:r>
            <a:r>
              <a:rPr dirty="0" baseline="31746" sz="1050" i="1">
                <a:latin typeface="DejaVu Serif"/>
                <a:cs typeface="DejaVu Serif"/>
              </a:rPr>
              <a:t>∗</a:t>
            </a:r>
            <a:r>
              <a:rPr dirty="0" baseline="31746" sz="1050" spc="247" i="1">
                <a:latin typeface="DejaVu Serif"/>
                <a:cs typeface="DejaVu Serif"/>
              </a:rPr>
              <a:t> </a:t>
            </a:r>
            <a:r>
              <a:rPr dirty="0" sz="1000" spc="-5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388143" y="1949251"/>
            <a:ext cx="1066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60" i="1">
                <a:latin typeface="Times New Roman"/>
                <a:cs typeface="Times New Roman"/>
              </a:rPr>
              <a:t>α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284397" y="2142439"/>
            <a:ext cx="314325" cy="0"/>
          </a:xfrm>
          <a:custGeom>
            <a:avLst/>
            <a:gdLst/>
            <a:ahLst/>
            <a:cxnLst/>
            <a:rect l="l" t="t" r="r" b="b"/>
            <a:pathLst>
              <a:path w="314325" h="0">
                <a:moveTo>
                  <a:pt x="0" y="0"/>
                </a:moveTo>
                <a:lnTo>
                  <a:pt x="314286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3271697" y="2121629"/>
            <a:ext cx="3333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10" i="1">
                <a:latin typeface="Times New Roman"/>
                <a:cs typeface="Times New Roman"/>
              </a:rPr>
              <a:t>α</a:t>
            </a:r>
            <a:r>
              <a:rPr dirty="0" sz="1000" spc="-5" i="1">
                <a:latin typeface="Times New Roman"/>
                <a:cs typeface="Times New Roman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 spc="10" i="1">
                <a:latin typeface="Times New Roman"/>
                <a:cs typeface="Times New Roman"/>
              </a:rPr>
              <a:t>β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15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5405666" y="2034837"/>
            <a:ext cx="1873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Tahoma"/>
                <a:cs typeface="Tahoma"/>
              </a:rPr>
              <a:t>(4)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64311" y="2416143"/>
            <a:ext cx="3453129" cy="594995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95"/>
              </a:spcBef>
            </a:pPr>
            <a:r>
              <a:rPr dirty="0" sz="1000" spc="65" b="1">
                <a:latin typeface="Arial"/>
                <a:cs typeface="Arial"/>
              </a:rPr>
              <a:t>Ý</a:t>
            </a:r>
            <a:r>
              <a:rPr dirty="0" sz="1000" spc="8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nghĩa:</a:t>
            </a:r>
            <a:endParaRPr sz="1000">
              <a:latin typeface="Arial"/>
              <a:cs typeface="Arial"/>
            </a:endParaRPr>
          </a:p>
          <a:p>
            <a:pPr marL="290830" indent="-126364">
              <a:lnSpc>
                <a:spcPct val="100000"/>
              </a:lnSpc>
              <a:spcBef>
                <a:spcPts val="295"/>
              </a:spcBef>
              <a:buClr>
                <a:srgbClr val="2071B4"/>
              </a:buClr>
              <a:buFont typeface="DejaVu Sans Condensed"/>
              <a:buChar char="•"/>
              <a:tabLst>
                <a:tab pos="290830" algn="l"/>
              </a:tabLst>
            </a:pPr>
            <a:r>
              <a:rPr dirty="0" sz="1000" spc="110" i="1">
                <a:latin typeface="Times New Roman"/>
                <a:cs typeface="Times New Roman"/>
              </a:rPr>
              <a:t>α</a:t>
            </a:r>
            <a:r>
              <a:rPr dirty="0" sz="1000" spc="-5" i="1">
                <a:latin typeface="Times New Roman"/>
                <a:cs typeface="Times New Roman"/>
              </a:rPr>
              <a:t> </a:t>
            </a:r>
            <a:r>
              <a:rPr dirty="0" sz="1000" spc="90" i="1">
                <a:latin typeface="Times New Roman"/>
                <a:cs typeface="Times New Roman"/>
              </a:rPr>
              <a:t>&gt;</a:t>
            </a:r>
            <a:r>
              <a:rPr dirty="0" sz="1000" spc="-5" i="1">
                <a:latin typeface="Times New Roman"/>
                <a:cs typeface="Times New Roman"/>
              </a:rPr>
              <a:t> </a:t>
            </a:r>
            <a:r>
              <a:rPr dirty="0" sz="1000" spc="60" i="1">
                <a:latin typeface="Times New Roman"/>
                <a:cs typeface="Times New Roman"/>
              </a:rPr>
              <a:t>β</a:t>
            </a:r>
            <a:r>
              <a:rPr dirty="0" sz="1000" spc="90" i="1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ahoma"/>
                <a:cs typeface="Tahoma"/>
              </a:rPr>
              <a:t>(nhà </a:t>
            </a:r>
            <a:r>
              <a:rPr dirty="0" sz="1000" spc="-25">
                <a:latin typeface="Tahoma"/>
                <a:cs typeface="Tahoma"/>
              </a:rPr>
              <a:t>bán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lẻ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ít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sợ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rủi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ro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hơn)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240" i="1">
                <a:latin typeface="DejaVu Sans Condensed"/>
                <a:cs typeface="DejaVu Sans Condensed"/>
              </a:rPr>
              <a:t>→</a:t>
            </a:r>
            <a:r>
              <a:rPr dirty="0" sz="1000" spc="5" i="1">
                <a:latin typeface="DejaVu Sans Condensed"/>
                <a:cs typeface="DejaVu Sans Condensed"/>
              </a:rPr>
              <a:t> </a:t>
            </a:r>
            <a:r>
              <a:rPr dirty="0" sz="1000" spc="-20">
                <a:latin typeface="Tahoma"/>
                <a:cs typeface="Tahoma"/>
              </a:rPr>
              <a:t>Nhận </a:t>
            </a:r>
            <a:r>
              <a:rPr dirty="0" sz="1000" spc="-40">
                <a:latin typeface="Tahoma"/>
                <a:cs typeface="Tahoma"/>
              </a:rPr>
              <a:t>phần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lớn hơn.</a:t>
            </a:r>
            <a:endParaRPr sz="1000">
              <a:latin typeface="Tahoma"/>
              <a:cs typeface="Tahoma"/>
            </a:endParaRPr>
          </a:p>
          <a:p>
            <a:pPr marL="290830" indent="-126364">
              <a:lnSpc>
                <a:spcPct val="100000"/>
              </a:lnSpc>
              <a:spcBef>
                <a:spcPts val="290"/>
              </a:spcBef>
              <a:buClr>
                <a:srgbClr val="2071B4"/>
              </a:buClr>
              <a:buFont typeface="DejaVu Sans Condensed"/>
              <a:buChar char="•"/>
              <a:tabLst>
                <a:tab pos="290830" algn="l"/>
              </a:tabLst>
            </a:pPr>
            <a:r>
              <a:rPr dirty="0" sz="1000" spc="-10">
                <a:latin typeface="Tahoma"/>
                <a:cs typeface="Tahoma"/>
              </a:rPr>
              <a:t>Nếu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110" i="1">
                <a:latin typeface="Times New Roman"/>
                <a:cs typeface="Times New Roman"/>
              </a:rPr>
              <a:t>α</a:t>
            </a:r>
            <a:r>
              <a:rPr dirty="0" sz="1000" spc="15" i="1">
                <a:latin typeface="Times New Roman"/>
                <a:cs typeface="Times New Roman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60" i="1">
                <a:latin typeface="Times New Roman"/>
                <a:cs typeface="Times New Roman"/>
              </a:rPr>
              <a:t>β </a:t>
            </a:r>
            <a:r>
              <a:rPr dirty="0" sz="1000" spc="240" i="1">
                <a:latin typeface="DejaVu Sans Condensed"/>
                <a:cs typeface="DejaVu Sans Condensed"/>
              </a:rPr>
              <a:t>⇒</a:t>
            </a:r>
            <a:r>
              <a:rPr dirty="0" sz="1000" spc="30" i="1">
                <a:latin typeface="DejaVu Sans Condensed"/>
                <a:cs typeface="DejaVu Sans Condensed"/>
              </a:rPr>
              <a:t> </a:t>
            </a:r>
            <a:r>
              <a:rPr dirty="0" sz="1000">
                <a:latin typeface="Tahoma"/>
                <a:cs typeface="Tahoma"/>
              </a:rPr>
              <a:t>Chia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60">
                <a:latin typeface="Tahoma"/>
                <a:cs typeface="Tahoma"/>
              </a:rPr>
              <a:t>đều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(50/50).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2534" y="359958"/>
            <a:ext cx="397510" cy="6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480"/>
              </a:lnSpc>
            </a:pPr>
            <a:r>
              <a:rPr dirty="0" sz="500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Mô</a:t>
            </a:r>
            <a:r>
              <a:rPr dirty="0" sz="500" spc="40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hình</a:t>
            </a:r>
            <a:r>
              <a:rPr dirty="0" sz="500" spc="45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-30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Nash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260" y="680081"/>
            <a:ext cx="66929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Tổng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quan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và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Mô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spc="-2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hình</a:t>
            </a:r>
            <a:r>
              <a:rPr dirty="0" sz="500" spc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spc="-2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Nash</a:t>
            </a:r>
            <a:endParaRPr sz="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260" y="893771"/>
            <a:ext cx="771525" cy="365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Trường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hợp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1:</a:t>
            </a:r>
            <a:r>
              <a:rPr dirty="0" sz="500" spc="7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Thái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độ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 spc="-2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rủi</a:t>
            </a:r>
            <a:r>
              <a:rPr dirty="0" sz="500" spc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ro</a:t>
            </a:r>
            <a:r>
              <a:rPr dirty="0" sz="500" spc="1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tương</a:t>
            </a:r>
            <a:r>
              <a:rPr dirty="0" sz="500" spc="1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 spc="-2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đồng</a:t>
            </a:r>
            <a:endParaRPr sz="500">
              <a:latin typeface="Arial"/>
              <a:cs typeface="Arial"/>
            </a:endParaRPr>
          </a:p>
          <a:p>
            <a:pPr marL="37465" marR="244475">
              <a:lnSpc>
                <a:spcPct val="152200"/>
              </a:lnSpc>
              <a:spcBef>
                <a:spcPts val="15"/>
              </a:spcBef>
            </a:pP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Thiết</a:t>
            </a:r>
            <a:r>
              <a:rPr dirty="0" sz="400" spc="2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lập</a:t>
            </a:r>
            <a:r>
              <a:rPr dirty="0" sz="400" spc="25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mô</a:t>
            </a:r>
            <a:r>
              <a:rPr dirty="0" sz="400" spc="3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400" spc="-2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hình</a:t>
            </a:r>
            <a:r>
              <a:rPr dirty="0" sz="400" spc="500">
                <a:solidFill>
                  <a:srgbClr val="909090"/>
                </a:solidFill>
                <a:latin typeface="Arial"/>
                <a:cs typeface="Arial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Giải</a:t>
            </a:r>
            <a:r>
              <a:rPr dirty="0" sz="400" spc="5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pháp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và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Kết</a:t>
            </a:r>
            <a:r>
              <a:rPr dirty="0" sz="400" spc="5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400" spc="-25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quả</a:t>
            </a:r>
            <a:endParaRPr sz="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260" y="1293046"/>
            <a:ext cx="663575" cy="45783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500" spc="-10">
                <a:solidFill>
                  <a:srgbClr val="2071B4"/>
                </a:solidFill>
                <a:latin typeface="Arial"/>
                <a:cs typeface="Arial"/>
                <a:hlinkClick r:id="rId7" action="ppaction://hlinksldjump"/>
              </a:rPr>
              <a:t>Trường</a:t>
            </a:r>
            <a:r>
              <a:rPr dirty="0" sz="500" spc="20">
                <a:solidFill>
                  <a:srgbClr val="2071B4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spc="-10">
                <a:solidFill>
                  <a:srgbClr val="2071B4"/>
                </a:solidFill>
                <a:latin typeface="Arial"/>
                <a:cs typeface="Arial"/>
                <a:hlinkClick r:id="rId7" action="ppaction://hlinksldjump"/>
              </a:rPr>
              <a:t>hợp</a:t>
            </a:r>
            <a:r>
              <a:rPr dirty="0" sz="500" spc="20">
                <a:solidFill>
                  <a:srgbClr val="2071B4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2071B4"/>
                </a:solidFill>
                <a:latin typeface="Arial"/>
                <a:cs typeface="Arial"/>
                <a:hlinkClick r:id="rId7" action="ppaction://hlinksldjump"/>
              </a:rPr>
              <a:t>2:</a:t>
            </a:r>
            <a:r>
              <a:rPr dirty="0" sz="500" spc="75">
                <a:solidFill>
                  <a:srgbClr val="2071B4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2071B4"/>
                </a:solidFill>
                <a:latin typeface="Arial"/>
                <a:cs typeface="Arial"/>
                <a:hlinkClick r:id="rId7" action="ppaction://hlinksldjump"/>
              </a:rPr>
              <a:t>Bất</a:t>
            </a:r>
            <a:r>
              <a:rPr dirty="0" sz="500" spc="20">
                <a:solidFill>
                  <a:srgbClr val="2071B4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spc="-25">
                <a:solidFill>
                  <a:srgbClr val="2071B4"/>
                </a:solidFill>
                <a:latin typeface="Arial"/>
                <a:cs typeface="Arial"/>
                <a:hlinkClick r:id="rId7" action="ppaction://hlinksldjump"/>
              </a:rPr>
              <a:t>đối</a:t>
            </a:r>
            <a:r>
              <a:rPr dirty="0" sz="500" spc="500">
                <a:solidFill>
                  <a:srgbClr val="2071B4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spc="-10">
                <a:solidFill>
                  <a:srgbClr val="2071B4"/>
                </a:solidFill>
                <a:latin typeface="Arial"/>
                <a:cs typeface="Arial"/>
                <a:hlinkClick r:id="rId7" action="ppaction://hlinksldjump"/>
              </a:rPr>
              <a:t>xứng</a:t>
            </a:r>
            <a:r>
              <a:rPr dirty="0" sz="500" spc="15">
                <a:solidFill>
                  <a:srgbClr val="2071B4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2071B4"/>
                </a:solidFill>
                <a:latin typeface="Arial"/>
                <a:cs typeface="Arial"/>
                <a:hlinkClick r:id="rId7" action="ppaction://hlinksldjump"/>
              </a:rPr>
              <a:t>(Thực</a:t>
            </a:r>
            <a:r>
              <a:rPr dirty="0" sz="500" spc="15">
                <a:solidFill>
                  <a:srgbClr val="2071B4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spc="-25">
                <a:solidFill>
                  <a:srgbClr val="2071B4"/>
                </a:solidFill>
                <a:latin typeface="Arial"/>
                <a:cs typeface="Arial"/>
                <a:hlinkClick r:id="rId7" action="ppaction://hlinksldjump"/>
              </a:rPr>
              <a:t>tế)</a:t>
            </a:r>
            <a:endParaRPr sz="500">
              <a:latin typeface="Arial"/>
              <a:cs typeface="Arial"/>
            </a:endParaRPr>
          </a:p>
          <a:p>
            <a:pPr marL="37465" marR="52705">
              <a:lnSpc>
                <a:spcPct val="152200"/>
              </a:lnSpc>
              <a:spcBef>
                <a:spcPts val="15"/>
              </a:spcBef>
            </a:pP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Giả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định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và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Bài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400" spc="-2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toán</a:t>
            </a:r>
            <a:r>
              <a:rPr dirty="0" sz="400" spc="500">
                <a:solidFill>
                  <a:srgbClr val="909090"/>
                </a:solidFill>
                <a:latin typeface="Arial"/>
                <a:cs typeface="Arial"/>
              </a:rPr>
              <a:t> </a:t>
            </a:r>
            <a:r>
              <a:rPr dirty="0" sz="400" spc="-10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Chứng</a:t>
            </a:r>
            <a:r>
              <a:rPr dirty="0" sz="400" spc="-5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minh </a:t>
            </a:r>
            <a:r>
              <a:rPr dirty="0" sz="400" spc="-10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mệnh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 đề </a:t>
            </a:r>
            <a:r>
              <a:rPr dirty="0" sz="400" spc="-50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7</a:t>
            </a:r>
            <a:r>
              <a:rPr dirty="0" sz="400" spc="500">
                <a:solidFill>
                  <a:srgbClr val="909090"/>
                </a:solidFill>
                <a:latin typeface="Arial"/>
                <a:cs typeface="Arial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Kiểm</a:t>
            </a:r>
            <a:r>
              <a:rPr dirty="0" sz="400" spc="-5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400" spc="-10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chứng</a:t>
            </a:r>
            <a:r>
              <a:rPr dirty="0" sz="400" spc="5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thực</a:t>
            </a:r>
            <a:r>
              <a:rPr dirty="0" sz="400" spc="5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400" spc="-10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nghiệm</a:t>
            </a:r>
            <a:endParaRPr sz="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260" y="1785120"/>
            <a:ext cx="26670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11" action="ppaction://hlinksldjump"/>
              </a:rPr>
              <a:t>Kết</a:t>
            </a:r>
            <a:r>
              <a:rPr dirty="0" sz="500" spc="60">
                <a:solidFill>
                  <a:srgbClr val="9DBDD8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dirty="0" sz="500" spc="-20">
                <a:solidFill>
                  <a:srgbClr val="9DBDD8"/>
                </a:solidFill>
                <a:latin typeface="Arial"/>
                <a:cs typeface="Arial"/>
                <a:hlinkClick r:id="rId11" action="ppaction://hlinksldjump"/>
              </a:rPr>
              <a:t>luận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0"/>
            <a:ext cx="5760085" cy="631825"/>
            <a:chOff x="0" y="0"/>
            <a:chExt cx="5760085" cy="631825"/>
          </a:xfrm>
        </p:grpSpPr>
        <p:sp>
          <p:nvSpPr>
            <p:cNvPr id="8" name="object 8"/>
            <p:cNvSpPr/>
            <p:nvPr/>
          </p:nvSpPr>
          <p:spPr>
            <a:xfrm>
              <a:off x="0" y="0"/>
              <a:ext cx="5760085" cy="253365"/>
            </a:xfrm>
            <a:custGeom>
              <a:avLst/>
              <a:gdLst/>
              <a:ahLst/>
              <a:cxnLst/>
              <a:rect l="l" t="t" r="r" b="b"/>
              <a:pathLst>
                <a:path w="5760085" h="253365">
                  <a:moveTo>
                    <a:pt x="5759996" y="0"/>
                  </a:moveTo>
                  <a:lnTo>
                    <a:pt x="0" y="0"/>
                  </a:lnTo>
                  <a:lnTo>
                    <a:pt x="0" y="253047"/>
                  </a:lnTo>
                  <a:lnTo>
                    <a:pt x="5759996" y="25304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0" y="1250"/>
              <a:ext cx="839748" cy="630066"/>
            </a:xfrm>
            <a:prstGeom prst="rect">
              <a:avLst/>
            </a:prstGeom>
          </p:spPr>
        </p:pic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917714" y="-1501"/>
            <a:ext cx="79121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Nội</a:t>
            </a:r>
            <a:r>
              <a:rPr dirty="0" spc="155"/>
              <a:t> </a:t>
            </a:r>
            <a:r>
              <a:rPr dirty="0" spc="-35"/>
              <a:t>dung</a:t>
            </a:r>
          </a:p>
        </p:txBody>
      </p:sp>
      <p:pic>
        <p:nvPicPr>
          <p:cNvPr id="11" name="object 1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40296" y="731455"/>
            <a:ext cx="121435" cy="12143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959053" y="690897"/>
            <a:ext cx="168719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dirty="0" sz="900" spc="3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CCCCCC"/>
                </a:solidFill>
                <a:latin typeface="Tahoma"/>
                <a:cs typeface="Tahoma"/>
                <a:hlinkClick r:id="rId3" action="ppaction://hlinksldjump"/>
              </a:rPr>
              <a:t>Tổng</a:t>
            </a:r>
            <a:r>
              <a:rPr dirty="0" sz="1000" spc="-20">
                <a:solidFill>
                  <a:srgbClr val="CCCCCC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1000" spc="-40">
                <a:solidFill>
                  <a:srgbClr val="CCCCCC"/>
                </a:solidFill>
                <a:latin typeface="Tahoma"/>
                <a:cs typeface="Tahoma"/>
                <a:hlinkClick r:id="rId3" action="ppaction://hlinksldjump"/>
              </a:rPr>
              <a:t>quan</a:t>
            </a:r>
            <a:r>
              <a:rPr dirty="0" sz="1000" spc="-20">
                <a:solidFill>
                  <a:srgbClr val="CCCCCC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1000">
                <a:solidFill>
                  <a:srgbClr val="CCCCCC"/>
                </a:solidFill>
                <a:latin typeface="Tahoma"/>
                <a:cs typeface="Tahoma"/>
                <a:hlinkClick r:id="rId3" action="ppaction://hlinksldjump"/>
              </a:rPr>
              <a:t>và</a:t>
            </a:r>
            <a:r>
              <a:rPr dirty="0" sz="1000" spc="-20">
                <a:solidFill>
                  <a:srgbClr val="CCCCCC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1000">
                <a:solidFill>
                  <a:srgbClr val="CCCCCC"/>
                </a:solidFill>
                <a:latin typeface="Tahoma"/>
                <a:cs typeface="Tahoma"/>
                <a:hlinkClick r:id="rId3" action="ppaction://hlinksldjump"/>
              </a:rPr>
              <a:t>Mô</a:t>
            </a:r>
            <a:r>
              <a:rPr dirty="0" sz="1000" spc="-20">
                <a:solidFill>
                  <a:srgbClr val="CCCCCC"/>
                </a:solidFill>
                <a:latin typeface="Tahoma"/>
                <a:cs typeface="Tahoma"/>
                <a:hlinkClick r:id="rId3" action="ppaction://hlinksldjump"/>
              </a:rPr>
              <a:t> hình Nash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40296" y="1073035"/>
            <a:ext cx="121435" cy="121435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959053" y="1032476"/>
            <a:ext cx="23577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dirty="0" sz="900" spc="3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Trường</a:t>
            </a:r>
            <a:r>
              <a:rPr dirty="0" sz="1000" spc="-20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1000" spc="-40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hợp</a:t>
            </a:r>
            <a:r>
              <a:rPr dirty="0" sz="1000" spc="-25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1000" spc="-45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1:</a:t>
            </a:r>
            <a:r>
              <a:rPr dirty="0" sz="1000" spc="-20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1000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Thái</a:t>
            </a:r>
            <a:r>
              <a:rPr dirty="0" sz="1000" spc="-20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 độ</a:t>
            </a:r>
            <a:r>
              <a:rPr dirty="0" sz="1000" spc="-25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1000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rủi</a:t>
            </a:r>
            <a:r>
              <a:rPr dirty="0" sz="1000" spc="-20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1000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ro</a:t>
            </a:r>
            <a:r>
              <a:rPr dirty="0" sz="1000" spc="-20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1000" spc="-50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tương</a:t>
            </a:r>
            <a:r>
              <a:rPr dirty="0" sz="1000" spc="-20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 đồng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40296" y="1414601"/>
            <a:ext cx="121435" cy="12143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959053" y="1374043"/>
            <a:ext cx="2218055" cy="6330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5910" marR="5080" indent="-283845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r>
              <a:rPr dirty="0" sz="900" spc="3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  <a:hlinkClick r:id="rId7" action="ppaction://hlinksldjump"/>
              </a:rPr>
              <a:t>Trường</a:t>
            </a:r>
            <a:r>
              <a:rPr dirty="0" sz="1000" spc="-15"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1000" spc="-40">
                <a:latin typeface="Tahoma"/>
                <a:cs typeface="Tahoma"/>
                <a:hlinkClick r:id="rId7" action="ppaction://hlinksldjump"/>
              </a:rPr>
              <a:t>hợp</a:t>
            </a:r>
            <a:r>
              <a:rPr dirty="0" sz="1000" spc="-10"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1000" spc="-45">
                <a:latin typeface="Tahoma"/>
                <a:cs typeface="Tahoma"/>
                <a:hlinkClick r:id="rId7" action="ppaction://hlinksldjump"/>
              </a:rPr>
              <a:t>2:</a:t>
            </a:r>
            <a:r>
              <a:rPr dirty="0" sz="1000" spc="-15"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1000">
                <a:latin typeface="Tahoma"/>
                <a:cs typeface="Tahoma"/>
                <a:hlinkClick r:id="rId7" action="ppaction://hlinksldjump"/>
              </a:rPr>
              <a:t>Bất</a:t>
            </a:r>
            <a:r>
              <a:rPr dirty="0" sz="1000" spc="-10">
                <a:latin typeface="Tahoma"/>
                <a:cs typeface="Tahoma"/>
                <a:hlinkClick r:id="rId7" action="ppaction://hlinksldjump"/>
              </a:rPr>
              <a:t> đối</a:t>
            </a:r>
            <a:r>
              <a:rPr dirty="0" sz="1000" spc="-15"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1000" spc="-55">
                <a:latin typeface="Tahoma"/>
                <a:cs typeface="Tahoma"/>
                <a:hlinkClick r:id="rId7" action="ppaction://hlinksldjump"/>
              </a:rPr>
              <a:t>xứng</a:t>
            </a:r>
            <a:r>
              <a:rPr dirty="0" sz="1000" spc="-15"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1000">
                <a:latin typeface="Tahoma"/>
                <a:cs typeface="Tahoma"/>
                <a:hlinkClick r:id="rId7" action="ppaction://hlinksldjump"/>
              </a:rPr>
              <a:t>(Thực</a:t>
            </a:r>
            <a:r>
              <a:rPr dirty="0" sz="1000" spc="-5"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1000" spc="-25">
                <a:latin typeface="Tahoma"/>
                <a:cs typeface="Tahoma"/>
                <a:hlinkClick r:id="rId7" action="ppaction://hlinksldjump"/>
              </a:rPr>
              <a:t>tế)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  <a:hlinkClick r:id="rId8" action="ppaction://hlinksldjump"/>
              </a:rPr>
              <a:t>Giả</a:t>
            </a:r>
            <a:r>
              <a:rPr dirty="0" sz="1000" spc="-20"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1000" spc="-35">
                <a:latin typeface="Tahoma"/>
                <a:cs typeface="Tahoma"/>
                <a:hlinkClick r:id="rId8" action="ppaction://hlinksldjump"/>
              </a:rPr>
              <a:t>định</a:t>
            </a:r>
            <a:r>
              <a:rPr dirty="0" sz="1000" spc="-20"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1000">
                <a:latin typeface="Tahoma"/>
                <a:cs typeface="Tahoma"/>
                <a:hlinkClick r:id="rId8" action="ppaction://hlinksldjump"/>
              </a:rPr>
              <a:t>và</a:t>
            </a:r>
            <a:r>
              <a:rPr dirty="0" sz="1000" spc="-20"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1000">
                <a:latin typeface="Tahoma"/>
                <a:cs typeface="Tahoma"/>
                <a:hlinkClick r:id="rId8" action="ppaction://hlinksldjump"/>
              </a:rPr>
              <a:t>Bài</a:t>
            </a:r>
            <a:r>
              <a:rPr dirty="0" sz="1000" spc="-15"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1000" spc="-20">
                <a:latin typeface="Tahoma"/>
                <a:cs typeface="Tahoma"/>
                <a:hlinkClick r:id="rId8" action="ppaction://hlinksldjump"/>
              </a:rPr>
              <a:t>toán</a:t>
            </a:r>
            <a:endParaRPr sz="1000">
              <a:latin typeface="Tahoma"/>
              <a:cs typeface="Tahoma"/>
            </a:endParaRPr>
          </a:p>
          <a:p>
            <a:pPr marL="295910" marR="575945">
              <a:lnSpc>
                <a:spcPts val="1200"/>
              </a:lnSpc>
              <a:spcBef>
                <a:spcPts val="30"/>
              </a:spcBef>
            </a:pPr>
            <a:r>
              <a:rPr dirty="0" sz="1000" spc="-35">
                <a:latin typeface="Tahoma"/>
                <a:cs typeface="Tahoma"/>
                <a:hlinkClick r:id="rId9" action="ppaction://hlinksldjump"/>
              </a:rPr>
              <a:t>Chứng</a:t>
            </a:r>
            <a:r>
              <a:rPr dirty="0" sz="1000" spc="-45">
                <a:latin typeface="Tahoma"/>
                <a:cs typeface="Tahoma"/>
                <a:hlinkClick r:id="rId9" action="ppaction://hlinksldjump"/>
              </a:rPr>
              <a:t> </a:t>
            </a:r>
            <a:r>
              <a:rPr dirty="0" sz="1000" spc="-20">
                <a:latin typeface="Tahoma"/>
                <a:cs typeface="Tahoma"/>
                <a:hlinkClick r:id="rId9" action="ppaction://hlinksldjump"/>
              </a:rPr>
              <a:t>minh</a:t>
            </a:r>
            <a:r>
              <a:rPr dirty="0" sz="1000" spc="-30">
                <a:latin typeface="Tahoma"/>
                <a:cs typeface="Tahoma"/>
                <a:hlinkClick r:id="rId9" action="ppaction://hlinksldjump"/>
              </a:rPr>
              <a:t> </a:t>
            </a:r>
            <a:r>
              <a:rPr dirty="0" sz="1000" spc="-60">
                <a:latin typeface="Tahoma"/>
                <a:cs typeface="Tahoma"/>
                <a:hlinkClick r:id="rId9" action="ppaction://hlinksldjump"/>
              </a:rPr>
              <a:t>mệnh</a:t>
            </a:r>
            <a:r>
              <a:rPr dirty="0" sz="1000" spc="-20">
                <a:latin typeface="Tahoma"/>
                <a:cs typeface="Tahoma"/>
                <a:hlinkClick r:id="rId9" action="ppaction://hlinksldjump"/>
              </a:rPr>
              <a:t> </a:t>
            </a:r>
            <a:r>
              <a:rPr dirty="0" sz="1000" spc="-50">
                <a:latin typeface="Tahoma"/>
                <a:cs typeface="Tahoma"/>
                <a:hlinkClick r:id="rId9" action="ppaction://hlinksldjump"/>
              </a:rPr>
              <a:t>đề</a:t>
            </a:r>
            <a:r>
              <a:rPr dirty="0" sz="1000" spc="-30">
                <a:latin typeface="Tahoma"/>
                <a:cs typeface="Tahoma"/>
                <a:hlinkClick r:id="rId9" action="ppaction://hlinksldjump"/>
              </a:rPr>
              <a:t> </a:t>
            </a:r>
            <a:r>
              <a:rPr dirty="0" sz="1000" spc="-50">
                <a:latin typeface="Tahoma"/>
                <a:cs typeface="Tahoma"/>
                <a:hlinkClick r:id="rId9" action="ppaction://hlinksldjump"/>
              </a:rPr>
              <a:t>7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  <a:hlinkClick r:id="rId10" action="ppaction://hlinksldjump"/>
              </a:rPr>
              <a:t>Kiểm</a:t>
            </a:r>
            <a:r>
              <a:rPr dirty="0" sz="1000" spc="-25">
                <a:latin typeface="Tahoma"/>
                <a:cs typeface="Tahoma"/>
                <a:hlinkClick r:id="rId10" action="ppaction://hlinksldjump"/>
              </a:rPr>
              <a:t> </a:t>
            </a:r>
            <a:r>
              <a:rPr dirty="0" sz="1000" spc="-50">
                <a:latin typeface="Tahoma"/>
                <a:cs typeface="Tahoma"/>
                <a:hlinkClick r:id="rId10" action="ppaction://hlinksldjump"/>
              </a:rPr>
              <a:t>chứng</a:t>
            </a:r>
            <a:r>
              <a:rPr dirty="0" sz="1000" spc="-20">
                <a:latin typeface="Tahoma"/>
                <a:cs typeface="Tahoma"/>
                <a:hlinkClick r:id="rId10" action="ppaction://hlinksldjump"/>
              </a:rPr>
              <a:t> </a:t>
            </a:r>
            <a:r>
              <a:rPr dirty="0" sz="1000" spc="-10">
                <a:latin typeface="Tahoma"/>
                <a:cs typeface="Tahoma"/>
                <a:hlinkClick r:id="rId10" action="ppaction://hlinksldjump"/>
              </a:rPr>
              <a:t>thực</a:t>
            </a:r>
            <a:r>
              <a:rPr dirty="0" sz="1000" spc="-25">
                <a:latin typeface="Tahoma"/>
                <a:cs typeface="Tahoma"/>
                <a:hlinkClick r:id="rId10" action="ppaction://hlinksldjump"/>
              </a:rPr>
              <a:t> </a:t>
            </a:r>
            <a:r>
              <a:rPr dirty="0" sz="1000" spc="-50">
                <a:latin typeface="Tahoma"/>
                <a:cs typeface="Tahoma"/>
                <a:hlinkClick r:id="rId10" action="ppaction://hlinksldjump"/>
              </a:rPr>
              <a:t>nghiệm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40296" y="2211666"/>
            <a:ext cx="121435" cy="121435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959053" y="2171108"/>
            <a:ext cx="6223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r>
              <a:rPr dirty="0" sz="900" spc="3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CCCCCC"/>
                </a:solidFill>
                <a:latin typeface="Tahoma"/>
                <a:cs typeface="Tahoma"/>
                <a:hlinkClick r:id="rId11" action="ppaction://hlinksldjump"/>
              </a:rPr>
              <a:t>Kết</a:t>
            </a:r>
            <a:r>
              <a:rPr dirty="0" sz="1000" spc="15">
                <a:solidFill>
                  <a:srgbClr val="CCCCCC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000" spc="-25">
                <a:solidFill>
                  <a:srgbClr val="CCCCCC"/>
                </a:solidFill>
                <a:latin typeface="Tahoma"/>
                <a:cs typeface="Tahoma"/>
                <a:hlinkClick r:id="rId11" action="ppaction://hlinksldjump"/>
              </a:rPr>
              <a:t>luận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15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2534" y="359958"/>
            <a:ext cx="397510" cy="6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480"/>
              </a:lnSpc>
            </a:pPr>
            <a:r>
              <a:rPr dirty="0" sz="500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Mô</a:t>
            </a:r>
            <a:r>
              <a:rPr dirty="0" sz="500" spc="40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hình</a:t>
            </a:r>
            <a:r>
              <a:rPr dirty="0" sz="500" spc="45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-30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Nash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260" y="680081"/>
            <a:ext cx="66929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Tổng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quan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và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Mô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spc="-2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hình</a:t>
            </a:r>
            <a:r>
              <a:rPr dirty="0" sz="500" spc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spc="-2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Nash</a:t>
            </a:r>
            <a:endParaRPr sz="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260" y="893771"/>
            <a:ext cx="771525" cy="365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Trường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hợp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1:</a:t>
            </a:r>
            <a:r>
              <a:rPr dirty="0" sz="500" spc="7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Thái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độ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 spc="-2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rủi</a:t>
            </a:r>
            <a:r>
              <a:rPr dirty="0" sz="500" spc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ro</a:t>
            </a:r>
            <a:r>
              <a:rPr dirty="0" sz="500" spc="1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tương</a:t>
            </a:r>
            <a:r>
              <a:rPr dirty="0" sz="500" spc="1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 spc="-2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đồng</a:t>
            </a:r>
            <a:endParaRPr sz="500">
              <a:latin typeface="Arial"/>
              <a:cs typeface="Arial"/>
            </a:endParaRPr>
          </a:p>
          <a:p>
            <a:pPr marL="37465" marR="244475">
              <a:lnSpc>
                <a:spcPct val="152200"/>
              </a:lnSpc>
              <a:spcBef>
                <a:spcPts val="15"/>
              </a:spcBef>
            </a:pP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Thiết</a:t>
            </a:r>
            <a:r>
              <a:rPr dirty="0" sz="400" spc="2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lập</a:t>
            </a:r>
            <a:r>
              <a:rPr dirty="0" sz="400" spc="25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mô</a:t>
            </a:r>
            <a:r>
              <a:rPr dirty="0" sz="400" spc="3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400" spc="-2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hình</a:t>
            </a:r>
            <a:r>
              <a:rPr dirty="0" sz="400" spc="500">
                <a:solidFill>
                  <a:srgbClr val="909090"/>
                </a:solidFill>
                <a:latin typeface="Arial"/>
                <a:cs typeface="Arial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Giải</a:t>
            </a:r>
            <a:r>
              <a:rPr dirty="0" sz="400" spc="5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pháp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và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Kết</a:t>
            </a:r>
            <a:r>
              <a:rPr dirty="0" sz="400" spc="5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400" spc="-25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quả</a:t>
            </a:r>
            <a:endParaRPr sz="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260" y="1293046"/>
            <a:ext cx="663575" cy="45783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Trường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hợp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2:</a:t>
            </a:r>
            <a:r>
              <a:rPr dirty="0" sz="500" spc="7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Bất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spc="-2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đối</a:t>
            </a:r>
            <a:r>
              <a:rPr dirty="0" sz="500" spc="50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xứng</a:t>
            </a:r>
            <a:r>
              <a:rPr dirty="0" sz="500" spc="1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(Thực</a:t>
            </a:r>
            <a:r>
              <a:rPr dirty="0" sz="500" spc="1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spc="-2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tế)</a:t>
            </a:r>
            <a:endParaRPr sz="500">
              <a:latin typeface="Arial"/>
              <a:cs typeface="Arial"/>
            </a:endParaRPr>
          </a:p>
          <a:p>
            <a:pPr marL="37465" marR="52705">
              <a:lnSpc>
                <a:spcPct val="152200"/>
              </a:lnSpc>
              <a:spcBef>
                <a:spcPts val="15"/>
              </a:spcBef>
            </a:pPr>
            <a:r>
              <a:rPr dirty="0" sz="400">
                <a:latin typeface="Arial"/>
                <a:cs typeface="Arial"/>
                <a:hlinkClick r:id="rId8" action="ppaction://hlinksldjump"/>
              </a:rPr>
              <a:t>Giả</a:t>
            </a:r>
            <a:r>
              <a:rPr dirty="0" sz="400" spc="10"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400">
                <a:latin typeface="Arial"/>
                <a:cs typeface="Arial"/>
                <a:hlinkClick r:id="rId8" action="ppaction://hlinksldjump"/>
              </a:rPr>
              <a:t>định</a:t>
            </a:r>
            <a:r>
              <a:rPr dirty="0" sz="400" spc="10"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400">
                <a:latin typeface="Arial"/>
                <a:cs typeface="Arial"/>
                <a:hlinkClick r:id="rId8" action="ppaction://hlinksldjump"/>
              </a:rPr>
              <a:t>và</a:t>
            </a:r>
            <a:r>
              <a:rPr dirty="0" sz="400" spc="10"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400">
                <a:latin typeface="Arial"/>
                <a:cs typeface="Arial"/>
                <a:hlinkClick r:id="rId8" action="ppaction://hlinksldjump"/>
              </a:rPr>
              <a:t>Bài</a:t>
            </a:r>
            <a:r>
              <a:rPr dirty="0" sz="400" spc="10"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400" spc="-20">
                <a:latin typeface="Arial"/>
                <a:cs typeface="Arial"/>
                <a:hlinkClick r:id="rId8" action="ppaction://hlinksldjump"/>
              </a:rPr>
              <a:t>toán</a:t>
            </a:r>
            <a:r>
              <a:rPr dirty="0" sz="400" spc="500">
                <a:latin typeface="Arial"/>
                <a:cs typeface="Arial"/>
              </a:rPr>
              <a:t> </a:t>
            </a:r>
            <a:r>
              <a:rPr dirty="0" sz="400" spc="-10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Chứng</a:t>
            </a:r>
            <a:r>
              <a:rPr dirty="0" sz="400" spc="-5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minh </a:t>
            </a:r>
            <a:r>
              <a:rPr dirty="0" sz="400" spc="-10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mệnh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 đề </a:t>
            </a:r>
            <a:r>
              <a:rPr dirty="0" sz="400" spc="-50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7</a:t>
            </a:r>
            <a:r>
              <a:rPr dirty="0" sz="400" spc="500">
                <a:solidFill>
                  <a:srgbClr val="909090"/>
                </a:solidFill>
                <a:latin typeface="Arial"/>
                <a:cs typeface="Arial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Kiểm</a:t>
            </a:r>
            <a:r>
              <a:rPr dirty="0" sz="400" spc="-5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400" spc="-10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chứng</a:t>
            </a:r>
            <a:r>
              <a:rPr dirty="0" sz="400" spc="5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thực</a:t>
            </a:r>
            <a:r>
              <a:rPr dirty="0" sz="400" spc="5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400" spc="-10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nghiệm</a:t>
            </a:r>
            <a:endParaRPr sz="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260" y="1785120"/>
            <a:ext cx="26670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11" action="ppaction://hlinksldjump"/>
              </a:rPr>
              <a:t>Kết</a:t>
            </a:r>
            <a:r>
              <a:rPr dirty="0" sz="500" spc="60">
                <a:solidFill>
                  <a:srgbClr val="9DBDD8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dirty="0" sz="500" spc="-20">
                <a:solidFill>
                  <a:srgbClr val="9DBDD8"/>
                </a:solidFill>
                <a:latin typeface="Arial"/>
                <a:cs typeface="Arial"/>
                <a:hlinkClick r:id="rId11" action="ppaction://hlinksldjump"/>
              </a:rPr>
              <a:t>luận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0"/>
            <a:ext cx="5760085" cy="631825"/>
            <a:chOff x="0" y="0"/>
            <a:chExt cx="5760085" cy="631825"/>
          </a:xfrm>
        </p:grpSpPr>
        <p:sp>
          <p:nvSpPr>
            <p:cNvPr id="8" name="object 8"/>
            <p:cNvSpPr/>
            <p:nvPr/>
          </p:nvSpPr>
          <p:spPr>
            <a:xfrm>
              <a:off x="0" y="0"/>
              <a:ext cx="5760085" cy="253365"/>
            </a:xfrm>
            <a:custGeom>
              <a:avLst/>
              <a:gdLst/>
              <a:ahLst/>
              <a:cxnLst/>
              <a:rect l="l" t="t" r="r" b="b"/>
              <a:pathLst>
                <a:path w="5760085" h="253365">
                  <a:moveTo>
                    <a:pt x="5759996" y="0"/>
                  </a:moveTo>
                  <a:lnTo>
                    <a:pt x="0" y="0"/>
                  </a:lnTo>
                  <a:lnTo>
                    <a:pt x="0" y="253047"/>
                  </a:lnTo>
                  <a:lnTo>
                    <a:pt x="5759996" y="25304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0" y="1250"/>
              <a:ext cx="839748" cy="630066"/>
            </a:xfrm>
            <a:prstGeom prst="rect">
              <a:avLst/>
            </a:prstGeom>
          </p:spPr>
        </p:pic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45"/>
              <a:t>Trường</a:t>
            </a:r>
            <a:r>
              <a:rPr dirty="0" spc="70"/>
              <a:t> </a:t>
            </a:r>
            <a:r>
              <a:rPr dirty="0" spc="-55"/>
              <a:t>hợp</a:t>
            </a:r>
            <a:r>
              <a:rPr dirty="0" spc="70"/>
              <a:t> </a:t>
            </a:r>
            <a:r>
              <a:rPr dirty="0"/>
              <a:t>2:</a:t>
            </a:r>
            <a:r>
              <a:rPr dirty="0" spc="70"/>
              <a:t> </a:t>
            </a:r>
            <a:r>
              <a:rPr dirty="0"/>
              <a:t>Bất</a:t>
            </a:r>
            <a:r>
              <a:rPr dirty="0" spc="70"/>
              <a:t> </a:t>
            </a:r>
            <a:r>
              <a:rPr dirty="0"/>
              <a:t>đối</a:t>
            </a:r>
            <a:r>
              <a:rPr dirty="0" spc="75"/>
              <a:t> </a:t>
            </a:r>
            <a:r>
              <a:rPr dirty="0" spc="-45"/>
              <a:t>xứng</a:t>
            </a:r>
            <a:r>
              <a:rPr dirty="0" spc="70"/>
              <a:t> </a:t>
            </a:r>
            <a:r>
              <a:rPr dirty="0"/>
              <a:t>(Thực</a:t>
            </a:r>
            <a:r>
              <a:rPr dirty="0" spc="70"/>
              <a:t> </a:t>
            </a:r>
            <a:r>
              <a:rPr dirty="0" spc="40"/>
              <a:t>tế)</a:t>
            </a:r>
          </a:p>
        </p:txBody>
      </p:sp>
      <p:sp>
        <p:nvSpPr>
          <p:cNvPr id="11" name="object 11"/>
          <p:cNvSpPr/>
          <p:nvPr/>
        </p:nvSpPr>
        <p:spPr>
          <a:xfrm>
            <a:off x="960247" y="577532"/>
            <a:ext cx="4662170" cy="237490"/>
          </a:xfrm>
          <a:custGeom>
            <a:avLst/>
            <a:gdLst/>
            <a:ahLst/>
            <a:cxnLst/>
            <a:rect l="l" t="t" r="r" b="b"/>
            <a:pathLst>
              <a:path w="4662170" h="237490">
                <a:moveTo>
                  <a:pt x="0" y="237299"/>
                </a:moveTo>
                <a:lnTo>
                  <a:pt x="4661916" y="237299"/>
                </a:lnTo>
                <a:lnTo>
                  <a:pt x="4661916" y="0"/>
                </a:lnTo>
                <a:lnTo>
                  <a:pt x="0" y="0"/>
                </a:lnTo>
                <a:lnTo>
                  <a:pt x="0" y="237299"/>
                </a:lnTo>
                <a:close/>
              </a:path>
            </a:pathLst>
          </a:custGeom>
          <a:solidFill>
            <a:srgbClr val="1854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989711" y="585365"/>
            <a:ext cx="131127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1.</a:t>
            </a:r>
            <a:r>
              <a:rPr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75">
                <a:solidFill>
                  <a:srgbClr val="FFFFFF"/>
                </a:solidFill>
                <a:latin typeface="Arial"/>
                <a:cs typeface="Arial"/>
              </a:rPr>
              <a:t>Giả</a:t>
            </a: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Arial"/>
                <a:cs typeface="Arial"/>
              </a:rPr>
              <a:t>định</a:t>
            </a: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Arial"/>
                <a:cs typeface="Arial"/>
              </a:rPr>
              <a:t>thực</a:t>
            </a:r>
            <a:r>
              <a:rPr dirty="0" sz="1200" spc="-20">
                <a:solidFill>
                  <a:srgbClr val="FFFFFF"/>
                </a:solidFill>
                <a:latin typeface="Arial"/>
                <a:cs typeface="Arial"/>
              </a:rPr>
              <a:t> tiễn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60247" y="814831"/>
            <a:ext cx="4662170" cy="795020"/>
          </a:xfrm>
          <a:custGeom>
            <a:avLst/>
            <a:gdLst/>
            <a:ahLst/>
            <a:cxnLst/>
            <a:rect l="l" t="t" r="r" b="b"/>
            <a:pathLst>
              <a:path w="4662170" h="795019">
                <a:moveTo>
                  <a:pt x="4661916" y="0"/>
                </a:moveTo>
                <a:lnTo>
                  <a:pt x="0" y="0"/>
                </a:lnTo>
                <a:lnTo>
                  <a:pt x="0" y="794994"/>
                </a:lnTo>
                <a:lnTo>
                  <a:pt x="4661916" y="794994"/>
                </a:lnTo>
                <a:lnTo>
                  <a:pt x="4661916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116241" y="865395"/>
            <a:ext cx="295529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9065" indent="-126364">
              <a:lnSpc>
                <a:spcPct val="100000"/>
              </a:lnSpc>
              <a:spcBef>
                <a:spcPts val="95"/>
              </a:spcBef>
              <a:buClr>
                <a:srgbClr val="2071B4"/>
              </a:buClr>
              <a:buFont typeface="DejaVu Sans Condensed"/>
              <a:buChar char="•"/>
              <a:tabLst>
                <a:tab pos="139065" algn="l"/>
              </a:tabLst>
            </a:pPr>
            <a:r>
              <a:rPr dirty="0" sz="1000" b="1">
                <a:latin typeface="Arial"/>
                <a:cs typeface="Arial"/>
              </a:rPr>
              <a:t>Nhà</a:t>
            </a:r>
            <a:r>
              <a:rPr dirty="0" sz="1000" spc="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bán</a:t>
            </a:r>
            <a:r>
              <a:rPr dirty="0" sz="1000" spc="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lẻ</a:t>
            </a:r>
            <a:r>
              <a:rPr dirty="0" sz="1000" spc="20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(Risk</a:t>
            </a:r>
            <a:r>
              <a:rPr dirty="0" sz="1000" spc="25" b="1">
                <a:latin typeface="Arial"/>
                <a:cs typeface="Arial"/>
              </a:rPr>
              <a:t> </a:t>
            </a:r>
            <a:r>
              <a:rPr dirty="0" sz="1000" spc="-25" b="1">
                <a:latin typeface="Arial"/>
                <a:cs typeface="Arial"/>
              </a:rPr>
              <a:t>Averse):</a:t>
            </a:r>
            <a:r>
              <a:rPr dirty="0" sz="1000" spc="-5" b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Hàm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Lõm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nghiêm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ngặt.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29753" y="1086462"/>
            <a:ext cx="60769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61975" algn="l"/>
              </a:tabLst>
            </a:pPr>
            <a:r>
              <a:rPr dirty="0" sz="700" spc="-50" i="1">
                <a:latin typeface="Calibri"/>
                <a:cs typeface="Calibri"/>
              </a:rPr>
              <a:t>r</a:t>
            </a:r>
            <a:r>
              <a:rPr dirty="0" sz="700" i="1">
                <a:latin typeface="Calibri"/>
                <a:cs typeface="Calibri"/>
              </a:rPr>
              <a:t>	</a:t>
            </a:r>
            <a:r>
              <a:rPr dirty="0" sz="700" spc="-50" i="1">
                <a:latin typeface="Calibri"/>
                <a:cs typeface="Calibri"/>
              </a:rPr>
              <a:t>r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17371" y="1017224"/>
            <a:ext cx="17291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587375" algn="l"/>
                <a:tab pos="1163955" algn="l"/>
              </a:tabLst>
            </a:pPr>
            <a:r>
              <a:rPr dirty="0" sz="1000" spc="85" i="1">
                <a:latin typeface="Trebuchet MS"/>
                <a:cs typeface="Trebuchet MS"/>
              </a:rPr>
              <a:t>U</a:t>
            </a:r>
            <a:r>
              <a:rPr dirty="0" baseline="27777" sz="1050" spc="127" i="1">
                <a:latin typeface="DejaVu Serif"/>
                <a:cs typeface="DejaVu Serif"/>
              </a:rPr>
              <a:t>′</a:t>
            </a:r>
            <a:r>
              <a:rPr dirty="0" baseline="27777" sz="1050" spc="195" i="1">
                <a:latin typeface="DejaVu Serif"/>
                <a:cs typeface="DejaVu Serif"/>
              </a:rPr>
              <a:t> </a:t>
            </a:r>
            <a:r>
              <a:rPr dirty="0" sz="1000" spc="90" i="1">
                <a:latin typeface="Times New Roman"/>
                <a:cs typeface="Times New Roman"/>
              </a:rPr>
              <a:t>&gt;</a:t>
            </a:r>
            <a:r>
              <a:rPr dirty="0" sz="1000" spc="30" i="1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ahoma"/>
                <a:cs typeface="Tahoma"/>
              </a:rPr>
              <a:t>0</a:t>
            </a:r>
            <a:r>
              <a:rPr dirty="0" sz="1000" spc="-25" i="1">
                <a:latin typeface="Times New Roman"/>
                <a:cs typeface="Times New Roman"/>
              </a:rPr>
              <a:t>,</a:t>
            </a:r>
            <a:r>
              <a:rPr dirty="0" sz="1000" i="1">
                <a:latin typeface="Times New Roman"/>
                <a:cs typeface="Times New Roman"/>
              </a:rPr>
              <a:t>	</a:t>
            </a:r>
            <a:r>
              <a:rPr dirty="0" sz="1000" spc="80" i="1">
                <a:latin typeface="Trebuchet MS"/>
                <a:cs typeface="Trebuchet MS"/>
              </a:rPr>
              <a:t>U</a:t>
            </a:r>
            <a:r>
              <a:rPr dirty="0" baseline="27777" sz="1050" spc="120" i="1">
                <a:latin typeface="DejaVu Serif"/>
                <a:cs typeface="DejaVu Serif"/>
              </a:rPr>
              <a:t>′′</a:t>
            </a:r>
            <a:r>
              <a:rPr dirty="0" baseline="27777" sz="1050" spc="157" i="1">
                <a:latin typeface="DejaVu Serif"/>
                <a:cs typeface="DejaVu Serif"/>
              </a:rPr>
              <a:t> </a:t>
            </a:r>
            <a:r>
              <a:rPr dirty="0" sz="1000" spc="90" i="1">
                <a:latin typeface="Times New Roman"/>
                <a:cs typeface="Times New Roman"/>
              </a:rPr>
              <a:t>&lt;</a:t>
            </a:r>
            <a:r>
              <a:rPr dirty="0" sz="1000" spc="30" i="1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ahoma"/>
                <a:cs typeface="Tahoma"/>
              </a:rPr>
              <a:t>0</a:t>
            </a:r>
            <a:r>
              <a:rPr dirty="0" sz="1000" spc="-25" i="1">
                <a:latin typeface="Times New Roman"/>
                <a:cs typeface="Times New Roman"/>
              </a:rPr>
              <a:t>,</a:t>
            </a:r>
            <a:r>
              <a:rPr dirty="0" sz="1000" i="1">
                <a:latin typeface="Times New Roman"/>
                <a:cs typeface="Times New Roman"/>
              </a:rPr>
              <a:t>	</a:t>
            </a:r>
            <a:r>
              <a:rPr dirty="0" sz="1000" i="1">
                <a:latin typeface="Trebuchet MS"/>
                <a:cs typeface="Trebuchet MS"/>
              </a:rPr>
              <a:t>U</a:t>
            </a:r>
            <a:r>
              <a:rPr dirty="0" sz="1000">
                <a:latin typeface="Tahoma"/>
                <a:cs typeface="Tahoma"/>
              </a:rPr>
              <a:t>(0)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0.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90841" y="1207012"/>
            <a:ext cx="2827655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64465" indent="-126364">
              <a:lnSpc>
                <a:spcPts val="1200"/>
              </a:lnSpc>
              <a:spcBef>
                <a:spcPts val="95"/>
              </a:spcBef>
              <a:buClr>
                <a:srgbClr val="2071B4"/>
              </a:buClr>
              <a:buFont typeface="DejaVu Sans Condensed"/>
              <a:buChar char="•"/>
              <a:tabLst>
                <a:tab pos="164465" algn="l"/>
              </a:tabLst>
            </a:pPr>
            <a:r>
              <a:rPr dirty="0" sz="1000" b="1">
                <a:latin typeface="Arial"/>
                <a:cs typeface="Arial"/>
              </a:rPr>
              <a:t>Nhà</a:t>
            </a:r>
            <a:r>
              <a:rPr dirty="0" sz="1000" spc="5" b="1">
                <a:latin typeface="Arial"/>
                <a:cs typeface="Arial"/>
              </a:rPr>
              <a:t> </a:t>
            </a:r>
            <a:r>
              <a:rPr dirty="0" sz="1000" spc="-40" b="1">
                <a:latin typeface="Arial"/>
                <a:cs typeface="Arial"/>
              </a:rPr>
              <a:t>sản</a:t>
            </a:r>
            <a:r>
              <a:rPr dirty="0" sz="1000" spc="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xuất</a:t>
            </a:r>
            <a:r>
              <a:rPr dirty="0" sz="1000" spc="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(Risk</a:t>
            </a:r>
            <a:r>
              <a:rPr dirty="0" sz="1000" spc="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Neutral):</a:t>
            </a:r>
            <a:r>
              <a:rPr dirty="0" sz="1000" spc="-5" b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Hàm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Tuyến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tính.</a:t>
            </a:r>
            <a:endParaRPr sz="1000">
              <a:latin typeface="Tahoma"/>
              <a:cs typeface="Tahoma"/>
            </a:endParaRPr>
          </a:p>
          <a:p>
            <a:pPr marL="164465">
              <a:lnSpc>
                <a:spcPts val="1200"/>
              </a:lnSpc>
            </a:pPr>
            <a:r>
              <a:rPr dirty="0" sz="1000" i="1">
                <a:latin typeface="Trebuchet MS"/>
                <a:cs typeface="Trebuchet MS"/>
              </a:rPr>
              <a:t>U</a:t>
            </a:r>
            <a:r>
              <a:rPr dirty="0" baseline="-11904" sz="1050" i="1">
                <a:latin typeface="Calibri"/>
                <a:cs typeface="Calibri"/>
              </a:rPr>
              <a:t>m</a:t>
            </a:r>
            <a:r>
              <a:rPr dirty="0" sz="1000">
                <a:latin typeface="Tahoma"/>
                <a:cs typeface="Tahoma"/>
              </a:rPr>
              <a:t>(</a:t>
            </a:r>
            <a:r>
              <a:rPr dirty="0" sz="1000" i="1">
                <a:latin typeface="Trebuchet MS"/>
                <a:cs typeface="Trebuchet MS"/>
              </a:rPr>
              <a:t>y</a:t>
            </a:r>
            <a:r>
              <a:rPr dirty="0" sz="1000" spc="-180" i="1">
                <a:latin typeface="Trebuchet MS"/>
                <a:cs typeface="Trebuchet MS"/>
              </a:rPr>
              <a:t> </a:t>
            </a:r>
            <a:r>
              <a:rPr dirty="0" sz="1000">
                <a:latin typeface="Tahoma"/>
                <a:cs typeface="Tahoma"/>
              </a:rPr>
              <a:t>)</a:t>
            </a:r>
            <a:r>
              <a:rPr dirty="0" sz="1000" spc="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15">
                <a:latin typeface="Tahoma"/>
                <a:cs typeface="Tahoma"/>
              </a:rPr>
              <a:t> </a:t>
            </a:r>
            <a:r>
              <a:rPr dirty="0" sz="1000" spc="-35" i="1">
                <a:latin typeface="Trebuchet MS"/>
                <a:cs typeface="Trebuchet MS"/>
              </a:rPr>
              <a:t>y</a:t>
            </a:r>
            <a:r>
              <a:rPr dirty="0" sz="1000" spc="-175" i="1">
                <a:latin typeface="Trebuchet MS"/>
                <a:cs typeface="Trebuchet MS"/>
              </a:rPr>
              <a:t> </a:t>
            </a:r>
            <a:r>
              <a:rPr dirty="0" sz="1000" spc="-50">
                <a:latin typeface="Tahoma"/>
                <a:cs typeface="Tahoma"/>
              </a:rPr>
              <a:t>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60247" y="1736344"/>
            <a:ext cx="4662170" cy="267970"/>
          </a:xfrm>
          <a:custGeom>
            <a:avLst/>
            <a:gdLst/>
            <a:ahLst/>
            <a:cxnLst/>
            <a:rect l="l" t="t" r="r" b="b"/>
            <a:pathLst>
              <a:path w="4662170" h="267969">
                <a:moveTo>
                  <a:pt x="0" y="267462"/>
                </a:moveTo>
                <a:lnTo>
                  <a:pt x="4661916" y="267462"/>
                </a:lnTo>
                <a:lnTo>
                  <a:pt x="4661916" y="0"/>
                </a:lnTo>
                <a:lnTo>
                  <a:pt x="0" y="0"/>
                </a:lnTo>
                <a:lnTo>
                  <a:pt x="0" y="267462"/>
                </a:lnTo>
                <a:close/>
              </a:path>
            </a:pathLst>
          </a:custGeom>
          <a:solidFill>
            <a:srgbClr val="1854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964311" y="1757067"/>
            <a:ext cx="150558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2.</a:t>
            </a:r>
            <a:r>
              <a:rPr dirty="0" sz="12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Bài</a:t>
            </a:r>
            <a:r>
              <a:rPr dirty="0" sz="12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toán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tối</a:t>
            </a:r>
            <a:r>
              <a:rPr dirty="0" sz="12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25">
                <a:solidFill>
                  <a:srgbClr val="FFFFFF"/>
                </a:solidFill>
                <a:latin typeface="Arial"/>
                <a:cs typeface="Arial"/>
              </a:rPr>
              <a:t>ưu</a:t>
            </a:r>
            <a:r>
              <a:rPr dirty="0" sz="1200" spc="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dirty="0" sz="1200" spc="-20" i="1">
                <a:solidFill>
                  <a:srgbClr val="FFFFFF"/>
                </a:solidFill>
                <a:latin typeface="Arial Nova"/>
                <a:cs typeface="Arial Nova"/>
              </a:rPr>
              <a:t>P</a:t>
            </a:r>
            <a:r>
              <a:rPr dirty="0" baseline="-13888" sz="1200" spc="-3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dirty="0" sz="1200" spc="-2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60247" y="2003805"/>
            <a:ext cx="4662170" cy="687705"/>
          </a:xfrm>
          <a:custGeom>
            <a:avLst/>
            <a:gdLst/>
            <a:ahLst/>
            <a:cxnLst/>
            <a:rect l="l" t="t" r="r" b="b"/>
            <a:pathLst>
              <a:path w="4662170" h="687705">
                <a:moveTo>
                  <a:pt x="4661916" y="0"/>
                </a:moveTo>
                <a:lnTo>
                  <a:pt x="0" y="0"/>
                </a:lnTo>
                <a:lnTo>
                  <a:pt x="0" y="687451"/>
                </a:lnTo>
                <a:lnTo>
                  <a:pt x="4661916" y="687451"/>
                </a:lnTo>
                <a:lnTo>
                  <a:pt x="4661916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989711" y="2016422"/>
            <a:ext cx="34956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ahoma"/>
                <a:cs typeface="Tahoma"/>
              </a:rPr>
              <a:t>Gọi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i="1">
                <a:latin typeface="Trebuchet MS"/>
                <a:cs typeface="Trebuchet MS"/>
              </a:rPr>
              <a:t>x</a:t>
            </a:r>
            <a:r>
              <a:rPr dirty="0" sz="1000" spc="70" i="1">
                <a:latin typeface="Trebuchet MS"/>
                <a:cs typeface="Trebuchet MS"/>
              </a:rPr>
              <a:t> </a:t>
            </a:r>
            <a:r>
              <a:rPr dirty="0" sz="1000">
                <a:latin typeface="Tahoma"/>
                <a:cs typeface="Tahoma"/>
              </a:rPr>
              <a:t>là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thặng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dư</a:t>
            </a:r>
            <a:r>
              <a:rPr dirty="0" sz="1000" spc="-20">
                <a:latin typeface="Tahoma"/>
                <a:cs typeface="Tahoma"/>
              </a:rPr>
              <a:t> của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nhà</a:t>
            </a:r>
            <a:r>
              <a:rPr dirty="0" sz="1000" spc="-25">
                <a:latin typeface="Tahoma"/>
                <a:cs typeface="Tahoma"/>
              </a:rPr>
              <a:t> bán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lẻ,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i="1">
                <a:latin typeface="Trebuchet MS"/>
                <a:cs typeface="Trebuchet MS"/>
              </a:rPr>
              <a:t>y</a:t>
            </a:r>
            <a:r>
              <a:rPr dirty="0" sz="1000" spc="40" i="1">
                <a:latin typeface="Trebuchet MS"/>
                <a:cs typeface="Trebuchet MS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65">
                <a:latin typeface="Tahoma"/>
                <a:cs typeface="Tahoma"/>
              </a:rPr>
              <a:t> </a:t>
            </a:r>
            <a:r>
              <a:rPr dirty="0" sz="1000" spc="130">
                <a:latin typeface="Tahoma"/>
                <a:cs typeface="Tahoma"/>
              </a:rPr>
              <a:t>∆</a:t>
            </a:r>
            <a:r>
              <a:rPr dirty="0" sz="1000" spc="130" i="1">
                <a:latin typeface="Times New Roman"/>
                <a:cs typeface="Times New Roman"/>
              </a:rPr>
              <a:t>π</a:t>
            </a:r>
            <a:r>
              <a:rPr dirty="0" sz="1000" spc="-25" i="1">
                <a:latin typeface="Times New Roman"/>
                <a:cs typeface="Times New Roman"/>
              </a:rPr>
              <a:t> </a:t>
            </a:r>
            <a:r>
              <a:rPr dirty="0" sz="1000" i="1">
                <a:latin typeface="DejaVu Sans Condensed"/>
                <a:cs typeface="DejaVu Sans Condensed"/>
              </a:rPr>
              <a:t>−</a:t>
            </a:r>
            <a:r>
              <a:rPr dirty="0" sz="1000" spc="-70" i="1">
                <a:latin typeface="DejaVu Sans Condensed"/>
                <a:cs typeface="DejaVu Sans Condensed"/>
              </a:rPr>
              <a:t> </a:t>
            </a:r>
            <a:r>
              <a:rPr dirty="0" sz="1000" i="1">
                <a:latin typeface="Trebuchet MS"/>
                <a:cs typeface="Trebuchet MS"/>
              </a:rPr>
              <a:t>x</a:t>
            </a:r>
            <a:r>
              <a:rPr dirty="0" sz="1000" spc="70" i="1">
                <a:latin typeface="Trebuchet MS"/>
                <a:cs typeface="Trebuchet MS"/>
              </a:rPr>
              <a:t> </a:t>
            </a:r>
            <a:r>
              <a:rPr dirty="0" sz="1000" spc="-20">
                <a:latin typeface="Tahoma"/>
                <a:cs typeface="Tahoma"/>
              </a:rPr>
              <a:t>của </a:t>
            </a:r>
            <a:r>
              <a:rPr dirty="0" sz="1000" spc="-35">
                <a:latin typeface="Tahoma"/>
                <a:cs typeface="Tahoma"/>
              </a:rPr>
              <a:t>nhà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sản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xuất.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15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578036" y="2408646"/>
            <a:ext cx="6921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 i="1">
                <a:latin typeface="Calibri"/>
                <a:cs typeface="Calibri"/>
              </a:rPr>
              <a:t>x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468537" y="2294780"/>
            <a:ext cx="16452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55">
                <a:latin typeface="Tahoma"/>
                <a:cs typeface="Tahoma"/>
              </a:rPr>
              <a:t>max</a:t>
            </a:r>
            <a:r>
              <a:rPr dirty="0" sz="1000" spc="-14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Ω(</a:t>
            </a:r>
            <a:r>
              <a:rPr dirty="0" sz="1000" spc="-20" i="1">
                <a:latin typeface="Trebuchet MS"/>
                <a:cs typeface="Trebuchet MS"/>
              </a:rPr>
              <a:t>x</a:t>
            </a:r>
            <a:r>
              <a:rPr dirty="0" sz="1000" spc="-200" i="1">
                <a:latin typeface="Trebuchet MS"/>
                <a:cs typeface="Trebuchet MS"/>
              </a:rPr>
              <a:t> </a:t>
            </a:r>
            <a:r>
              <a:rPr dirty="0" sz="1000">
                <a:latin typeface="Tahoma"/>
                <a:cs typeface="Tahoma"/>
              </a:rPr>
              <a:t>)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i="1">
                <a:latin typeface="Trebuchet MS"/>
                <a:cs typeface="Trebuchet MS"/>
              </a:rPr>
              <a:t>U</a:t>
            </a:r>
            <a:r>
              <a:rPr dirty="0" baseline="-11904" sz="1050" i="1">
                <a:latin typeface="Calibri"/>
                <a:cs typeface="Calibri"/>
              </a:rPr>
              <a:t>r</a:t>
            </a:r>
            <a:r>
              <a:rPr dirty="0" baseline="-11904" sz="1050" spc="-30" i="1">
                <a:latin typeface="Calibri"/>
                <a:cs typeface="Calibri"/>
              </a:rPr>
              <a:t> </a:t>
            </a:r>
            <a:r>
              <a:rPr dirty="0" sz="1000" spc="-30">
                <a:latin typeface="Tahoma"/>
                <a:cs typeface="Tahoma"/>
              </a:rPr>
              <a:t>(</a:t>
            </a:r>
            <a:r>
              <a:rPr dirty="0" sz="1000" spc="-30" i="1">
                <a:latin typeface="Trebuchet MS"/>
                <a:cs typeface="Trebuchet MS"/>
              </a:rPr>
              <a:t>x</a:t>
            </a:r>
            <a:r>
              <a:rPr dirty="0" sz="1000" spc="-204" i="1">
                <a:latin typeface="Trebuchet MS"/>
                <a:cs typeface="Trebuchet MS"/>
              </a:rPr>
              <a:t> </a:t>
            </a:r>
            <a:r>
              <a:rPr dirty="0" sz="1000" spc="-10">
                <a:latin typeface="Tahoma"/>
                <a:cs typeface="Tahoma"/>
              </a:rPr>
              <a:t>)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 spc="-20" i="1">
                <a:latin typeface="DejaVu Sans Condensed"/>
                <a:cs typeface="DejaVu Sans Condensed"/>
              </a:rPr>
              <a:t>·</a:t>
            </a:r>
            <a:r>
              <a:rPr dirty="0" sz="1000" spc="-45" i="1">
                <a:latin typeface="DejaVu Sans Condensed"/>
                <a:cs typeface="DejaVu Sans Condensed"/>
              </a:rPr>
              <a:t> </a:t>
            </a:r>
            <a:r>
              <a:rPr dirty="0" sz="1000" spc="85">
                <a:latin typeface="Tahoma"/>
                <a:cs typeface="Tahoma"/>
              </a:rPr>
              <a:t>(∆</a:t>
            </a:r>
            <a:r>
              <a:rPr dirty="0" sz="1000" spc="85" i="1">
                <a:latin typeface="Times New Roman"/>
                <a:cs typeface="Times New Roman"/>
              </a:rPr>
              <a:t>π</a:t>
            </a:r>
            <a:r>
              <a:rPr dirty="0" sz="1000" spc="30" i="1">
                <a:latin typeface="Times New Roman"/>
                <a:cs typeface="Times New Roman"/>
              </a:rPr>
              <a:t> </a:t>
            </a:r>
            <a:r>
              <a:rPr dirty="0" sz="1000" i="1">
                <a:latin typeface="DejaVu Sans Condensed"/>
                <a:cs typeface="DejaVu Sans Condensed"/>
              </a:rPr>
              <a:t>−</a:t>
            </a:r>
            <a:r>
              <a:rPr dirty="0" sz="1000" spc="-45" i="1">
                <a:latin typeface="DejaVu Sans Condensed"/>
                <a:cs typeface="DejaVu Sans Condensed"/>
              </a:rPr>
              <a:t> </a:t>
            </a:r>
            <a:r>
              <a:rPr dirty="0" sz="1000" spc="-45" i="1">
                <a:latin typeface="Trebuchet MS"/>
                <a:cs typeface="Trebuchet MS"/>
              </a:rPr>
              <a:t>x</a:t>
            </a:r>
            <a:r>
              <a:rPr dirty="0" sz="1000" spc="-200" i="1">
                <a:latin typeface="Trebuchet MS"/>
                <a:cs typeface="Trebuchet MS"/>
              </a:rPr>
              <a:t> </a:t>
            </a:r>
            <a:r>
              <a:rPr dirty="0" sz="1000" spc="-5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405540" y="2294780"/>
            <a:ext cx="1873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Tahoma"/>
                <a:cs typeface="Tahoma"/>
              </a:rPr>
              <a:t>(5)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2534" y="359958"/>
            <a:ext cx="397510" cy="6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480"/>
              </a:lnSpc>
            </a:pPr>
            <a:r>
              <a:rPr dirty="0" sz="500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Mô</a:t>
            </a:r>
            <a:r>
              <a:rPr dirty="0" sz="500" spc="40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hình</a:t>
            </a:r>
            <a:r>
              <a:rPr dirty="0" sz="500" spc="45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-30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Nash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260" y="680081"/>
            <a:ext cx="66929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Tổng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quan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và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Mô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spc="-2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hình</a:t>
            </a:r>
            <a:r>
              <a:rPr dirty="0" sz="500" spc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spc="-2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Nash</a:t>
            </a:r>
            <a:endParaRPr sz="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260" y="893771"/>
            <a:ext cx="771525" cy="365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Trường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hợp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1:</a:t>
            </a:r>
            <a:r>
              <a:rPr dirty="0" sz="500" spc="7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Thái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độ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 spc="-2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rủi</a:t>
            </a:r>
            <a:r>
              <a:rPr dirty="0" sz="500" spc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ro</a:t>
            </a:r>
            <a:r>
              <a:rPr dirty="0" sz="500" spc="1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tương</a:t>
            </a:r>
            <a:r>
              <a:rPr dirty="0" sz="500" spc="1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 spc="-2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đồng</a:t>
            </a:r>
            <a:endParaRPr sz="500">
              <a:latin typeface="Arial"/>
              <a:cs typeface="Arial"/>
            </a:endParaRPr>
          </a:p>
          <a:p>
            <a:pPr marL="37465" marR="244475">
              <a:lnSpc>
                <a:spcPct val="152200"/>
              </a:lnSpc>
              <a:spcBef>
                <a:spcPts val="15"/>
              </a:spcBef>
            </a:pP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Thiết</a:t>
            </a:r>
            <a:r>
              <a:rPr dirty="0" sz="400" spc="2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lập</a:t>
            </a:r>
            <a:r>
              <a:rPr dirty="0" sz="400" spc="25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mô</a:t>
            </a:r>
            <a:r>
              <a:rPr dirty="0" sz="400" spc="3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400" spc="-2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hình</a:t>
            </a:r>
            <a:r>
              <a:rPr dirty="0" sz="400" spc="500">
                <a:solidFill>
                  <a:srgbClr val="909090"/>
                </a:solidFill>
                <a:latin typeface="Arial"/>
                <a:cs typeface="Arial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Giải</a:t>
            </a:r>
            <a:r>
              <a:rPr dirty="0" sz="400" spc="5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pháp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và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Kết</a:t>
            </a:r>
            <a:r>
              <a:rPr dirty="0" sz="400" spc="5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400" spc="-25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quả</a:t>
            </a:r>
            <a:endParaRPr sz="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260" y="1293046"/>
            <a:ext cx="663575" cy="45783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Trường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hợp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2:</a:t>
            </a:r>
            <a:r>
              <a:rPr dirty="0" sz="500" spc="7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Bất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spc="-2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đối</a:t>
            </a:r>
            <a:r>
              <a:rPr dirty="0" sz="500" spc="50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xứng</a:t>
            </a:r>
            <a:r>
              <a:rPr dirty="0" sz="500" spc="1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(Thực</a:t>
            </a:r>
            <a:r>
              <a:rPr dirty="0" sz="500" spc="1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spc="-2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tế)</a:t>
            </a:r>
            <a:endParaRPr sz="500">
              <a:latin typeface="Arial"/>
              <a:cs typeface="Arial"/>
            </a:endParaRPr>
          </a:p>
          <a:p>
            <a:pPr marL="37465" marR="52705">
              <a:lnSpc>
                <a:spcPct val="152200"/>
              </a:lnSpc>
              <a:spcBef>
                <a:spcPts val="15"/>
              </a:spcBef>
            </a:pP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Giả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định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và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Bài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400" spc="-2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toán</a:t>
            </a:r>
            <a:r>
              <a:rPr dirty="0" sz="400" spc="500">
                <a:solidFill>
                  <a:srgbClr val="909090"/>
                </a:solidFill>
                <a:latin typeface="Arial"/>
                <a:cs typeface="Arial"/>
              </a:rPr>
              <a:t> </a:t>
            </a:r>
            <a:r>
              <a:rPr dirty="0" sz="400" spc="-10">
                <a:latin typeface="Arial"/>
                <a:cs typeface="Arial"/>
                <a:hlinkClick r:id="rId9" action="ppaction://hlinksldjump"/>
              </a:rPr>
              <a:t>Chứng</a:t>
            </a:r>
            <a:r>
              <a:rPr dirty="0" sz="400" spc="-5"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400">
                <a:latin typeface="Arial"/>
                <a:cs typeface="Arial"/>
                <a:hlinkClick r:id="rId9" action="ppaction://hlinksldjump"/>
              </a:rPr>
              <a:t>minh </a:t>
            </a:r>
            <a:r>
              <a:rPr dirty="0" sz="400" spc="-10">
                <a:latin typeface="Arial"/>
                <a:cs typeface="Arial"/>
                <a:hlinkClick r:id="rId9" action="ppaction://hlinksldjump"/>
              </a:rPr>
              <a:t>mệnh</a:t>
            </a:r>
            <a:r>
              <a:rPr dirty="0" sz="400">
                <a:latin typeface="Arial"/>
                <a:cs typeface="Arial"/>
                <a:hlinkClick r:id="rId9" action="ppaction://hlinksldjump"/>
              </a:rPr>
              <a:t> đề </a:t>
            </a:r>
            <a:r>
              <a:rPr dirty="0" sz="400" spc="-50">
                <a:latin typeface="Arial"/>
                <a:cs typeface="Arial"/>
                <a:hlinkClick r:id="rId9" action="ppaction://hlinksldjump"/>
              </a:rPr>
              <a:t>7</a:t>
            </a:r>
            <a:r>
              <a:rPr dirty="0" sz="400" spc="500">
                <a:latin typeface="Arial"/>
                <a:cs typeface="Arial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Kiểm</a:t>
            </a:r>
            <a:r>
              <a:rPr dirty="0" sz="400" spc="-5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400" spc="-10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chứng</a:t>
            </a:r>
            <a:r>
              <a:rPr dirty="0" sz="400" spc="5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thực</a:t>
            </a:r>
            <a:r>
              <a:rPr dirty="0" sz="400" spc="5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400" spc="-10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nghiệm</a:t>
            </a:r>
            <a:endParaRPr sz="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260" y="1785120"/>
            <a:ext cx="26670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11" action="ppaction://hlinksldjump"/>
              </a:rPr>
              <a:t>Kết</a:t>
            </a:r>
            <a:r>
              <a:rPr dirty="0" sz="500" spc="60">
                <a:solidFill>
                  <a:srgbClr val="9DBDD8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dirty="0" sz="500" spc="-20">
                <a:solidFill>
                  <a:srgbClr val="9DBDD8"/>
                </a:solidFill>
                <a:latin typeface="Arial"/>
                <a:cs typeface="Arial"/>
                <a:hlinkClick r:id="rId11" action="ppaction://hlinksldjump"/>
              </a:rPr>
              <a:t>luận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0"/>
            <a:ext cx="5760085" cy="631825"/>
            <a:chOff x="0" y="0"/>
            <a:chExt cx="5760085" cy="631825"/>
          </a:xfrm>
        </p:grpSpPr>
        <p:sp>
          <p:nvSpPr>
            <p:cNvPr id="8" name="object 8"/>
            <p:cNvSpPr/>
            <p:nvPr/>
          </p:nvSpPr>
          <p:spPr>
            <a:xfrm>
              <a:off x="0" y="0"/>
              <a:ext cx="5760085" cy="253365"/>
            </a:xfrm>
            <a:custGeom>
              <a:avLst/>
              <a:gdLst/>
              <a:ahLst/>
              <a:cxnLst/>
              <a:rect l="l" t="t" r="r" b="b"/>
              <a:pathLst>
                <a:path w="5760085" h="253365">
                  <a:moveTo>
                    <a:pt x="5759996" y="0"/>
                  </a:moveTo>
                  <a:lnTo>
                    <a:pt x="0" y="0"/>
                  </a:lnTo>
                  <a:lnTo>
                    <a:pt x="0" y="253047"/>
                  </a:lnTo>
                  <a:lnTo>
                    <a:pt x="5759996" y="25304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0" y="1250"/>
              <a:ext cx="839748" cy="630066"/>
            </a:xfrm>
            <a:prstGeom prst="rect">
              <a:avLst/>
            </a:prstGeom>
          </p:spPr>
        </p:pic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Giải</a:t>
            </a:r>
            <a:r>
              <a:rPr dirty="0" spc="30"/>
              <a:t> </a:t>
            </a:r>
            <a:r>
              <a:rPr dirty="0"/>
              <a:t>bài</a:t>
            </a:r>
            <a:r>
              <a:rPr dirty="0" spc="30"/>
              <a:t> </a:t>
            </a:r>
            <a:r>
              <a:rPr dirty="0" spc="-10"/>
              <a:t>toántoán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15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89711" y="610468"/>
            <a:ext cx="12795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60" b="1">
                <a:latin typeface="Arial"/>
                <a:cs typeface="Arial"/>
              </a:rPr>
              <a:t>Bước</a:t>
            </a:r>
            <a:r>
              <a:rPr dirty="0" sz="1000" spc="-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1:</a:t>
            </a:r>
            <a:r>
              <a:rPr dirty="0" sz="1000" spc="-5" b="1">
                <a:latin typeface="Arial"/>
                <a:cs typeface="Arial"/>
              </a:rPr>
              <a:t> </a:t>
            </a:r>
            <a:r>
              <a:rPr dirty="0" sz="1000" spc="-20" b="1">
                <a:latin typeface="Arial"/>
                <a:cs typeface="Arial"/>
              </a:rPr>
              <a:t>Lấy</a:t>
            </a:r>
            <a:r>
              <a:rPr dirty="0" sz="1000" b="1">
                <a:latin typeface="Arial"/>
                <a:cs typeface="Arial"/>
              </a:rPr>
              <a:t> </a:t>
            </a:r>
            <a:r>
              <a:rPr dirty="0" sz="1000" spc="-20" b="1">
                <a:latin typeface="Arial"/>
                <a:cs typeface="Arial"/>
              </a:rPr>
              <a:t>đạo</a:t>
            </a:r>
            <a:r>
              <a:rPr dirty="0" sz="1000" spc="-5" b="1">
                <a:latin typeface="Arial"/>
                <a:cs typeface="Arial"/>
              </a:rPr>
              <a:t> </a:t>
            </a:r>
            <a:r>
              <a:rPr dirty="0" sz="1000" spc="-25" b="1">
                <a:latin typeface="Arial"/>
                <a:cs typeface="Arial"/>
              </a:rPr>
              <a:t>hàm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64311" y="888827"/>
            <a:ext cx="3477260" cy="6076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40155">
              <a:lnSpc>
                <a:spcPts val="875"/>
              </a:lnSpc>
              <a:spcBef>
                <a:spcPts val="95"/>
              </a:spcBef>
            </a:pPr>
            <a:r>
              <a:rPr dirty="0" sz="1000">
                <a:latin typeface="Tahoma"/>
                <a:cs typeface="Tahoma"/>
              </a:rPr>
              <a:t>Ω</a:t>
            </a:r>
            <a:r>
              <a:rPr dirty="0" baseline="31746" sz="1050" i="1">
                <a:latin typeface="DejaVu Serif"/>
                <a:cs typeface="DejaVu Serif"/>
              </a:rPr>
              <a:t>′</a:t>
            </a:r>
            <a:r>
              <a:rPr dirty="0" sz="1000">
                <a:latin typeface="Tahoma"/>
                <a:cs typeface="Tahoma"/>
              </a:rPr>
              <a:t>(</a:t>
            </a:r>
            <a:r>
              <a:rPr dirty="0" sz="1000" i="1">
                <a:latin typeface="Trebuchet MS"/>
                <a:cs typeface="Trebuchet MS"/>
              </a:rPr>
              <a:t>x</a:t>
            </a:r>
            <a:r>
              <a:rPr dirty="0" sz="1000" spc="-195" i="1">
                <a:latin typeface="Trebuchet MS"/>
                <a:cs typeface="Trebuchet MS"/>
              </a:rPr>
              <a:t> </a:t>
            </a:r>
            <a:r>
              <a:rPr dirty="0" sz="1000">
                <a:latin typeface="Tahoma"/>
                <a:cs typeface="Tahoma"/>
              </a:rPr>
              <a:t>)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i="1">
                <a:latin typeface="Trebuchet MS"/>
                <a:cs typeface="Trebuchet MS"/>
              </a:rPr>
              <a:t>U</a:t>
            </a:r>
            <a:r>
              <a:rPr dirty="0" baseline="31746" sz="1050" i="1">
                <a:latin typeface="DejaVu Serif"/>
                <a:cs typeface="DejaVu Serif"/>
              </a:rPr>
              <a:t>′</a:t>
            </a:r>
            <a:r>
              <a:rPr dirty="0" sz="1000">
                <a:latin typeface="Tahoma"/>
                <a:cs typeface="Tahoma"/>
              </a:rPr>
              <a:t>(</a:t>
            </a:r>
            <a:r>
              <a:rPr dirty="0" sz="1000" i="1">
                <a:latin typeface="Trebuchet MS"/>
                <a:cs typeface="Trebuchet MS"/>
              </a:rPr>
              <a:t>x</a:t>
            </a:r>
            <a:r>
              <a:rPr dirty="0" sz="1000" spc="-195" i="1">
                <a:latin typeface="Trebuchet MS"/>
                <a:cs typeface="Trebuchet MS"/>
              </a:rPr>
              <a:t> </a:t>
            </a:r>
            <a:r>
              <a:rPr dirty="0" sz="1000" spc="-10">
                <a:latin typeface="Tahoma"/>
                <a:cs typeface="Tahoma"/>
              </a:rPr>
              <a:t>)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-20" i="1">
                <a:latin typeface="DejaVu Sans Condensed"/>
                <a:cs typeface="DejaVu Sans Condensed"/>
              </a:rPr>
              <a:t>·</a:t>
            </a:r>
            <a:r>
              <a:rPr dirty="0" sz="1000" spc="-30" i="1">
                <a:latin typeface="DejaVu Sans Condensed"/>
                <a:cs typeface="DejaVu Sans Condensed"/>
              </a:rPr>
              <a:t> </a:t>
            </a:r>
            <a:r>
              <a:rPr dirty="0" sz="1000" spc="85">
                <a:latin typeface="Tahoma"/>
                <a:cs typeface="Tahoma"/>
              </a:rPr>
              <a:t>(∆</a:t>
            </a:r>
            <a:r>
              <a:rPr dirty="0" sz="1000" spc="85" i="1">
                <a:latin typeface="Times New Roman"/>
                <a:cs typeface="Times New Roman"/>
              </a:rPr>
              <a:t>π</a:t>
            </a:r>
            <a:r>
              <a:rPr dirty="0" sz="1000" spc="50" i="1">
                <a:latin typeface="Times New Roman"/>
                <a:cs typeface="Times New Roman"/>
              </a:rPr>
              <a:t> </a:t>
            </a:r>
            <a:r>
              <a:rPr dirty="0" sz="1000" i="1">
                <a:latin typeface="DejaVu Sans Condensed"/>
                <a:cs typeface="DejaVu Sans Condensed"/>
              </a:rPr>
              <a:t>−</a:t>
            </a:r>
            <a:r>
              <a:rPr dirty="0" sz="1000" spc="-25" i="1">
                <a:latin typeface="DejaVu Sans Condensed"/>
                <a:cs typeface="DejaVu Sans Condensed"/>
              </a:rPr>
              <a:t> </a:t>
            </a:r>
            <a:r>
              <a:rPr dirty="0" sz="1000" spc="-45" i="1">
                <a:latin typeface="Trebuchet MS"/>
                <a:cs typeface="Trebuchet MS"/>
              </a:rPr>
              <a:t>x</a:t>
            </a:r>
            <a:r>
              <a:rPr dirty="0" sz="1000" spc="-195" i="1">
                <a:latin typeface="Trebuchet MS"/>
                <a:cs typeface="Trebuchet MS"/>
              </a:rPr>
              <a:t> </a:t>
            </a:r>
            <a:r>
              <a:rPr dirty="0" sz="1000" spc="-10">
                <a:latin typeface="Tahoma"/>
                <a:cs typeface="Tahoma"/>
              </a:rPr>
              <a:t>)</a:t>
            </a:r>
            <a:r>
              <a:rPr dirty="0" sz="1000" spc="-6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i="1">
                <a:latin typeface="Trebuchet MS"/>
                <a:cs typeface="Trebuchet MS"/>
              </a:rPr>
              <a:t>U</a:t>
            </a:r>
            <a:r>
              <a:rPr dirty="0" baseline="-11904" sz="1050" i="1">
                <a:latin typeface="Calibri"/>
                <a:cs typeface="Calibri"/>
              </a:rPr>
              <a:t>r</a:t>
            </a:r>
            <a:r>
              <a:rPr dirty="0" baseline="-11904" sz="1050" spc="-22" i="1">
                <a:latin typeface="Calibri"/>
                <a:cs typeface="Calibri"/>
              </a:rPr>
              <a:t> </a:t>
            </a:r>
            <a:r>
              <a:rPr dirty="0" sz="1000" spc="-30">
                <a:latin typeface="Tahoma"/>
                <a:cs typeface="Tahoma"/>
              </a:rPr>
              <a:t>(</a:t>
            </a:r>
            <a:r>
              <a:rPr dirty="0" sz="1000" spc="-30" i="1">
                <a:latin typeface="Trebuchet MS"/>
                <a:cs typeface="Trebuchet MS"/>
              </a:rPr>
              <a:t>x</a:t>
            </a:r>
            <a:r>
              <a:rPr dirty="0" sz="1000" spc="-195" i="1">
                <a:latin typeface="Trebuchet MS"/>
                <a:cs typeface="Trebuchet MS"/>
              </a:rPr>
              <a:t> </a:t>
            </a:r>
            <a:r>
              <a:rPr dirty="0" sz="1000" spc="-10">
                <a:latin typeface="Tahoma"/>
                <a:cs typeface="Tahoma"/>
              </a:rPr>
              <a:t>)</a:t>
            </a:r>
            <a:r>
              <a:rPr dirty="0" sz="1000" spc="-60">
                <a:latin typeface="Tahoma"/>
                <a:cs typeface="Tahoma"/>
              </a:rPr>
              <a:t> </a:t>
            </a:r>
            <a:r>
              <a:rPr dirty="0" sz="1000" spc="-20" i="1">
                <a:latin typeface="DejaVu Sans Condensed"/>
                <a:cs typeface="DejaVu Sans Condensed"/>
              </a:rPr>
              <a:t>·</a:t>
            </a:r>
            <a:r>
              <a:rPr dirty="0" sz="1000" spc="-25" i="1">
                <a:latin typeface="DejaVu Sans Condensed"/>
                <a:cs typeface="DejaVu Sans Condensed"/>
              </a:rPr>
              <a:t> </a:t>
            </a:r>
            <a:r>
              <a:rPr dirty="0" sz="1000" spc="-20">
                <a:latin typeface="Tahoma"/>
                <a:cs typeface="Tahoma"/>
              </a:rPr>
              <a:t>(</a:t>
            </a:r>
            <a:r>
              <a:rPr dirty="0" sz="1000" spc="-20" i="1">
                <a:latin typeface="DejaVu Sans Condensed"/>
                <a:cs typeface="DejaVu Sans Condensed"/>
              </a:rPr>
              <a:t>−</a:t>
            </a:r>
            <a:r>
              <a:rPr dirty="0" sz="1000" spc="-20">
                <a:latin typeface="Tahoma"/>
                <a:cs typeface="Tahoma"/>
              </a:rPr>
              <a:t>1)</a:t>
            </a:r>
            <a:endParaRPr sz="1000">
              <a:latin typeface="Tahoma"/>
              <a:cs typeface="Tahoma"/>
            </a:endParaRPr>
          </a:p>
          <a:p>
            <a:pPr algn="ctr" marL="136525">
              <a:lnSpc>
                <a:spcPts val="515"/>
              </a:lnSpc>
            </a:pPr>
            <a:r>
              <a:rPr dirty="0" sz="700" spc="-50" i="1">
                <a:latin typeface="Calibri"/>
                <a:cs typeface="Calibri"/>
              </a:rPr>
              <a:t>r</a:t>
            </a:r>
            <a:endParaRPr sz="700">
              <a:latin typeface="Calibri"/>
              <a:cs typeface="Calibri"/>
            </a:endParaRPr>
          </a:p>
          <a:p>
            <a:pPr marL="38100">
              <a:lnSpc>
                <a:spcPts val="1200"/>
              </a:lnSpc>
              <a:spcBef>
                <a:spcPts val="805"/>
              </a:spcBef>
            </a:pPr>
            <a:r>
              <a:rPr dirty="0" sz="1000" spc="-60" b="1">
                <a:latin typeface="Arial"/>
                <a:cs typeface="Arial"/>
              </a:rPr>
              <a:t>Bước</a:t>
            </a:r>
            <a:r>
              <a:rPr dirty="0" sz="1000" b="1">
                <a:latin typeface="Arial"/>
                <a:cs typeface="Arial"/>
              </a:rPr>
              <a:t> 2: </a:t>
            </a:r>
            <a:r>
              <a:rPr dirty="0" sz="1000" spc="-60" b="1">
                <a:latin typeface="Arial"/>
                <a:cs typeface="Arial"/>
              </a:rPr>
              <a:t>Phương</a:t>
            </a:r>
            <a:r>
              <a:rPr dirty="0" sz="1000" spc="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trình </a:t>
            </a:r>
            <a:r>
              <a:rPr dirty="0" sz="1000" spc="-20" b="1">
                <a:latin typeface="Arial"/>
                <a:cs typeface="Arial"/>
              </a:rPr>
              <a:t>cân</a:t>
            </a:r>
            <a:r>
              <a:rPr dirty="0" sz="1000" b="1">
                <a:latin typeface="Arial"/>
                <a:cs typeface="Arial"/>
              </a:rPr>
              <a:t> </a:t>
            </a:r>
            <a:r>
              <a:rPr dirty="0" sz="1000" spc="-20" b="1">
                <a:latin typeface="Arial"/>
                <a:cs typeface="Arial"/>
              </a:rPr>
              <a:t>bằng</a:t>
            </a:r>
            <a:endParaRPr sz="1000">
              <a:latin typeface="Arial"/>
              <a:cs typeface="Arial"/>
            </a:endParaRPr>
          </a:p>
          <a:p>
            <a:pPr marL="38100">
              <a:lnSpc>
                <a:spcPts val="1200"/>
              </a:lnSpc>
            </a:pPr>
            <a:r>
              <a:rPr dirty="0" sz="1000">
                <a:latin typeface="Tahoma"/>
                <a:cs typeface="Tahoma"/>
              </a:rPr>
              <a:t>Đặt</a:t>
            </a:r>
            <a:r>
              <a:rPr dirty="0" sz="1000" spc="-35">
                <a:latin typeface="Tahoma"/>
                <a:cs typeface="Tahoma"/>
              </a:rPr>
              <a:t> đạo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hàm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bằng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0.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Thay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i="1">
                <a:latin typeface="Trebuchet MS"/>
                <a:cs typeface="Trebuchet MS"/>
              </a:rPr>
              <a:t>y</a:t>
            </a:r>
            <a:r>
              <a:rPr dirty="0" sz="1000" spc="45" i="1">
                <a:latin typeface="Trebuchet MS"/>
                <a:cs typeface="Trebuchet MS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130">
                <a:latin typeface="Tahoma"/>
                <a:cs typeface="Tahoma"/>
              </a:rPr>
              <a:t>∆</a:t>
            </a:r>
            <a:r>
              <a:rPr dirty="0" sz="1000" spc="130" i="1">
                <a:latin typeface="Times New Roman"/>
                <a:cs typeface="Times New Roman"/>
              </a:rPr>
              <a:t>π</a:t>
            </a:r>
            <a:r>
              <a:rPr dirty="0" sz="1000" spc="-15" i="1">
                <a:latin typeface="Times New Roman"/>
                <a:cs typeface="Times New Roman"/>
              </a:rPr>
              <a:t> </a:t>
            </a:r>
            <a:r>
              <a:rPr dirty="0" sz="1000" i="1">
                <a:latin typeface="DejaVu Sans Condensed"/>
                <a:cs typeface="DejaVu Sans Condensed"/>
              </a:rPr>
              <a:t>−</a:t>
            </a:r>
            <a:r>
              <a:rPr dirty="0" sz="1000" spc="-75" i="1">
                <a:latin typeface="DejaVu Sans Condensed"/>
                <a:cs typeface="DejaVu Sans Condensed"/>
              </a:rPr>
              <a:t> </a:t>
            </a:r>
            <a:r>
              <a:rPr dirty="0" sz="1000" spc="-45" i="1">
                <a:latin typeface="Trebuchet MS"/>
                <a:cs typeface="Trebuchet MS"/>
              </a:rPr>
              <a:t>x</a:t>
            </a:r>
            <a:r>
              <a:rPr dirty="0" sz="1000" spc="-210" i="1">
                <a:latin typeface="Trebuchet MS"/>
                <a:cs typeface="Trebuchet MS"/>
              </a:rPr>
              <a:t> </a:t>
            </a:r>
            <a:r>
              <a:rPr dirty="0" sz="1000">
                <a:latin typeface="Tahoma"/>
                <a:cs typeface="Tahoma"/>
              </a:rPr>
              <a:t>,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ta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có: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97238" y="1583082"/>
            <a:ext cx="5461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15" i="1">
                <a:latin typeface="DejaVu Serif"/>
                <a:cs typeface="DejaVu Serif"/>
              </a:rPr>
              <a:t>′</a:t>
            </a:r>
            <a:endParaRPr sz="700">
              <a:latin typeface="DejaVu Serif"/>
              <a:cs typeface="DejaVu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74607" y="1597372"/>
            <a:ext cx="12331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i="1">
                <a:latin typeface="Trebuchet MS"/>
                <a:cs typeface="Trebuchet MS"/>
              </a:rPr>
              <a:t>U</a:t>
            </a:r>
            <a:r>
              <a:rPr dirty="0" baseline="-19841" sz="1050" i="1">
                <a:latin typeface="Calibri"/>
                <a:cs typeface="Calibri"/>
              </a:rPr>
              <a:t>r</a:t>
            </a:r>
            <a:r>
              <a:rPr dirty="0" baseline="-19841" sz="1050" spc="-37" i="1">
                <a:latin typeface="Calibri"/>
                <a:cs typeface="Calibri"/>
              </a:rPr>
              <a:t> </a:t>
            </a:r>
            <a:r>
              <a:rPr dirty="0" sz="1000" spc="-30">
                <a:latin typeface="Tahoma"/>
                <a:cs typeface="Tahoma"/>
              </a:rPr>
              <a:t>(</a:t>
            </a:r>
            <a:r>
              <a:rPr dirty="0" sz="1000" spc="-30" i="1">
                <a:latin typeface="Trebuchet MS"/>
                <a:cs typeface="Trebuchet MS"/>
              </a:rPr>
              <a:t>x</a:t>
            </a:r>
            <a:r>
              <a:rPr dirty="0" sz="1000" spc="-204" i="1">
                <a:latin typeface="Trebuchet MS"/>
                <a:cs typeface="Trebuchet MS"/>
              </a:rPr>
              <a:t> </a:t>
            </a:r>
            <a:r>
              <a:rPr dirty="0" sz="1000" spc="-10">
                <a:latin typeface="Tahoma"/>
                <a:cs typeface="Tahoma"/>
              </a:rPr>
              <a:t>)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 spc="-20" i="1">
                <a:latin typeface="DejaVu Sans Condensed"/>
                <a:cs typeface="DejaVu Sans Condensed"/>
              </a:rPr>
              <a:t>·</a:t>
            </a:r>
            <a:r>
              <a:rPr dirty="0" sz="1000" spc="-50" i="1">
                <a:latin typeface="DejaVu Sans Condensed"/>
                <a:cs typeface="DejaVu Sans Condensed"/>
              </a:rPr>
              <a:t> </a:t>
            </a:r>
            <a:r>
              <a:rPr dirty="0" sz="1000" i="1">
                <a:latin typeface="Trebuchet MS"/>
                <a:cs typeface="Trebuchet MS"/>
              </a:rPr>
              <a:t>y</a:t>
            </a:r>
            <a:r>
              <a:rPr dirty="0" sz="1000" spc="50" i="1">
                <a:latin typeface="Trebuchet MS"/>
                <a:cs typeface="Trebuchet MS"/>
              </a:rPr>
              <a:t> </a:t>
            </a:r>
            <a:r>
              <a:rPr dirty="0" sz="1000" i="1">
                <a:latin typeface="DejaVu Sans Condensed"/>
                <a:cs typeface="DejaVu Sans Condensed"/>
              </a:rPr>
              <a:t>−</a:t>
            </a:r>
            <a:r>
              <a:rPr dirty="0" sz="1000" spc="-45" i="1">
                <a:latin typeface="DejaVu Sans Condensed"/>
                <a:cs typeface="DejaVu Sans Condensed"/>
              </a:rPr>
              <a:t> </a:t>
            </a:r>
            <a:r>
              <a:rPr dirty="0" sz="1000" i="1">
                <a:latin typeface="Trebuchet MS"/>
                <a:cs typeface="Trebuchet MS"/>
              </a:rPr>
              <a:t>U</a:t>
            </a:r>
            <a:r>
              <a:rPr dirty="0" baseline="-11904" sz="1050" i="1">
                <a:latin typeface="Calibri"/>
                <a:cs typeface="Calibri"/>
              </a:rPr>
              <a:t>r</a:t>
            </a:r>
            <a:r>
              <a:rPr dirty="0" baseline="-11904" sz="1050" spc="-37" i="1">
                <a:latin typeface="Calibri"/>
                <a:cs typeface="Calibri"/>
              </a:rPr>
              <a:t> </a:t>
            </a:r>
            <a:r>
              <a:rPr dirty="0" sz="1000" spc="-30">
                <a:latin typeface="Tahoma"/>
                <a:cs typeface="Tahoma"/>
              </a:rPr>
              <a:t>(</a:t>
            </a:r>
            <a:r>
              <a:rPr dirty="0" sz="1000" spc="-30" i="1">
                <a:latin typeface="Trebuchet MS"/>
                <a:cs typeface="Trebuchet MS"/>
              </a:rPr>
              <a:t>x</a:t>
            </a:r>
            <a:r>
              <a:rPr dirty="0" sz="1000" spc="-200" i="1">
                <a:latin typeface="Trebuchet MS"/>
                <a:cs typeface="Trebuchet MS"/>
              </a:rPr>
              <a:t> </a:t>
            </a:r>
            <a:r>
              <a:rPr dirty="0" sz="1000">
                <a:latin typeface="Tahoma"/>
                <a:cs typeface="Tahoma"/>
              </a:rPr>
              <a:t>)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58465" y="1983275"/>
            <a:ext cx="7975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36111" sz="1500" spc="359" i="1">
                <a:latin typeface="DejaVu Sans Condensed"/>
                <a:cs typeface="DejaVu Sans Condensed"/>
              </a:rPr>
              <a:t>⇒</a:t>
            </a:r>
            <a:r>
              <a:rPr dirty="0" baseline="-36111" sz="1500" spc="7" i="1">
                <a:latin typeface="DejaVu Sans Condensed"/>
                <a:cs typeface="DejaVu Sans Condensed"/>
              </a:rPr>
              <a:t> </a:t>
            </a:r>
            <a:r>
              <a:rPr dirty="0" baseline="-36111" sz="1500" i="1">
                <a:latin typeface="Trebuchet MS"/>
                <a:cs typeface="Trebuchet MS"/>
              </a:rPr>
              <a:t>y</a:t>
            </a:r>
            <a:r>
              <a:rPr dirty="0" baseline="-36111" sz="1500" spc="150" i="1">
                <a:latin typeface="Trebuchet MS"/>
                <a:cs typeface="Trebuchet MS"/>
              </a:rPr>
              <a:t> </a:t>
            </a:r>
            <a:r>
              <a:rPr dirty="0" baseline="-36111" sz="1500">
                <a:latin typeface="Tahoma"/>
                <a:cs typeface="Tahoma"/>
              </a:rPr>
              <a:t>=</a:t>
            </a:r>
            <a:r>
              <a:rPr dirty="0" baseline="-36111" sz="1500" spc="150">
                <a:latin typeface="Tahoma"/>
                <a:cs typeface="Tahoma"/>
              </a:rPr>
              <a:t> </a:t>
            </a:r>
            <a:r>
              <a:rPr dirty="0" u="sng" sz="1000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U</a:t>
            </a:r>
            <a:r>
              <a:rPr dirty="0" u="sng" baseline="-11904" sz="105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</a:t>
            </a:r>
            <a:r>
              <a:rPr dirty="0" u="sng" baseline="-11904" sz="1050" spc="-37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spc="-3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(</a:t>
            </a:r>
            <a:r>
              <a:rPr dirty="0" u="sng" sz="1000" spc="-30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x</a:t>
            </a:r>
            <a:r>
              <a:rPr dirty="0" u="sng" sz="1000" spc="-204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000" spc="-5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88461" y="2224902"/>
            <a:ext cx="577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 i="1">
                <a:latin typeface="Calibri"/>
                <a:cs typeface="Calibri"/>
              </a:rPr>
              <a:t>r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76066" y="2155664"/>
            <a:ext cx="3797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30" i="1">
                <a:latin typeface="Trebuchet MS"/>
                <a:cs typeface="Trebuchet MS"/>
              </a:rPr>
              <a:t>U</a:t>
            </a:r>
            <a:r>
              <a:rPr dirty="0" baseline="23809" sz="1050" spc="44" i="1">
                <a:latin typeface="DejaVu Serif"/>
                <a:cs typeface="DejaVu Serif"/>
              </a:rPr>
              <a:t>′</a:t>
            </a:r>
            <a:r>
              <a:rPr dirty="0" sz="1000" spc="30">
                <a:latin typeface="Tahoma"/>
                <a:cs typeface="Tahoma"/>
              </a:rPr>
              <a:t>(</a:t>
            </a:r>
            <a:r>
              <a:rPr dirty="0" sz="1000" spc="30" i="1">
                <a:latin typeface="Trebuchet MS"/>
                <a:cs typeface="Trebuchet MS"/>
              </a:rPr>
              <a:t>x</a:t>
            </a:r>
            <a:r>
              <a:rPr dirty="0" sz="1000" spc="-135" i="1">
                <a:latin typeface="Trebuchet MS"/>
                <a:cs typeface="Trebuchet MS"/>
              </a:rPr>
              <a:t> </a:t>
            </a:r>
            <a:r>
              <a:rPr dirty="0" sz="1000" spc="-5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46627" y="2068873"/>
            <a:ext cx="1873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75">
                <a:latin typeface="Tahoma"/>
                <a:cs typeface="Tahoma"/>
              </a:rPr>
              <a:t>(</a:t>
            </a:r>
            <a:r>
              <a:rPr dirty="0" sz="1000" spc="-75" i="1">
                <a:latin typeface="DejaVu Sans Condensed"/>
                <a:cs typeface="DejaVu Sans Condensed"/>
              </a:rPr>
              <a:t>∗</a:t>
            </a:r>
            <a:r>
              <a:rPr dirty="0" sz="1000" spc="-75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405679" y="2068873"/>
            <a:ext cx="1873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Tahoma"/>
                <a:cs typeface="Tahoma"/>
              </a:rPr>
              <a:t>(6)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89711" y="2395009"/>
            <a:ext cx="32391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 i="1">
                <a:latin typeface="Arial"/>
                <a:cs typeface="Arial"/>
              </a:rPr>
              <a:t>(Phần</a:t>
            </a:r>
            <a:r>
              <a:rPr dirty="0" sz="1000" spc="-60" i="1">
                <a:latin typeface="Arial"/>
                <a:cs typeface="Arial"/>
              </a:rPr>
              <a:t> </a:t>
            </a:r>
            <a:r>
              <a:rPr dirty="0" sz="1000" spc="-30" i="1">
                <a:latin typeface="Arial"/>
                <a:cs typeface="Arial"/>
              </a:rPr>
              <a:t>của </a:t>
            </a:r>
            <a:r>
              <a:rPr dirty="0" sz="1000" spc="-20" i="1">
                <a:latin typeface="Arial"/>
                <a:cs typeface="Arial"/>
              </a:rPr>
              <a:t>NSX</a:t>
            </a:r>
            <a:r>
              <a:rPr dirty="0" sz="1000" spc="-25" i="1">
                <a:latin typeface="Arial"/>
                <a:cs typeface="Arial"/>
              </a:rPr>
              <a:t> </a:t>
            </a:r>
            <a:r>
              <a:rPr dirty="0" sz="1000" spc="180" i="1">
                <a:latin typeface="Arial"/>
                <a:cs typeface="Arial"/>
              </a:rPr>
              <a:t>=</a:t>
            </a:r>
            <a:r>
              <a:rPr dirty="0" sz="1000" spc="-30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Tỷ</a:t>
            </a:r>
            <a:r>
              <a:rPr dirty="0" sz="1000" spc="-25" i="1">
                <a:latin typeface="Arial"/>
                <a:cs typeface="Arial"/>
              </a:rPr>
              <a:t> </a:t>
            </a:r>
            <a:r>
              <a:rPr dirty="0" sz="1000" spc="-65" i="1">
                <a:latin typeface="Arial"/>
                <a:cs typeface="Arial"/>
              </a:rPr>
              <a:t>số</a:t>
            </a:r>
            <a:r>
              <a:rPr dirty="0" sz="1000" spc="-5" i="1">
                <a:latin typeface="Arial"/>
                <a:cs typeface="Arial"/>
              </a:rPr>
              <a:t> </a:t>
            </a:r>
            <a:r>
              <a:rPr dirty="0" sz="1000" spc="-50" i="1">
                <a:latin typeface="Arial"/>
                <a:cs typeface="Arial"/>
              </a:rPr>
              <a:t>giữa</a:t>
            </a:r>
            <a:r>
              <a:rPr dirty="0" sz="1000" spc="-15" i="1">
                <a:latin typeface="Arial"/>
                <a:cs typeface="Arial"/>
              </a:rPr>
              <a:t> </a:t>
            </a:r>
            <a:r>
              <a:rPr dirty="0" sz="1000" spc="-20" i="1">
                <a:latin typeface="Arial"/>
                <a:cs typeface="Arial"/>
              </a:rPr>
              <a:t>Hàm</a:t>
            </a:r>
            <a:r>
              <a:rPr dirty="0" sz="1000" spc="-30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lợi</a:t>
            </a:r>
            <a:r>
              <a:rPr dirty="0" sz="1000" spc="-25" i="1">
                <a:latin typeface="Arial"/>
                <a:cs typeface="Arial"/>
              </a:rPr>
              <a:t> </a:t>
            </a:r>
            <a:r>
              <a:rPr dirty="0" sz="1000" spc="-20" i="1">
                <a:latin typeface="Arial"/>
                <a:cs typeface="Arial"/>
              </a:rPr>
              <a:t>ích</a:t>
            </a:r>
            <a:r>
              <a:rPr dirty="0" sz="1000" spc="-30" i="1">
                <a:latin typeface="Arial"/>
                <a:cs typeface="Arial"/>
              </a:rPr>
              <a:t> </a:t>
            </a:r>
            <a:r>
              <a:rPr dirty="0" sz="1000" spc="-10" i="1">
                <a:latin typeface="Arial"/>
                <a:cs typeface="Arial"/>
              </a:rPr>
              <a:t>và</a:t>
            </a:r>
            <a:r>
              <a:rPr dirty="0" sz="1000" spc="-25" i="1">
                <a:latin typeface="Arial"/>
                <a:cs typeface="Arial"/>
              </a:rPr>
              <a:t> </a:t>
            </a:r>
            <a:r>
              <a:rPr dirty="0" sz="1000" spc="-20" i="1">
                <a:latin typeface="Arial"/>
                <a:cs typeface="Arial"/>
              </a:rPr>
              <a:t>Đạo</a:t>
            </a:r>
            <a:r>
              <a:rPr dirty="0" sz="1000" spc="-30" i="1">
                <a:latin typeface="Arial"/>
                <a:cs typeface="Arial"/>
              </a:rPr>
              <a:t> </a:t>
            </a:r>
            <a:r>
              <a:rPr dirty="0" sz="1000" spc="-20" i="1">
                <a:latin typeface="Arial"/>
                <a:cs typeface="Arial"/>
              </a:rPr>
              <a:t>hàm biên)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2534" y="359958"/>
            <a:ext cx="397510" cy="6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480"/>
              </a:lnSpc>
            </a:pPr>
            <a:r>
              <a:rPr dirty="0" sz="500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Mô</a:t>
            </a:r>
            <a:r>
              <a:rPr dirty="0" sz="500" spc="40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hình</a:t>
            </a:r>
            <a:r>
              <a:rPr dirty="0" sz="500" spc="45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-30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Nash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260" y="680081"/>
            <a:ext cx="66929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Tổng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quan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và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Mô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spc="-2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hình</a:t>
            </a:r>
            <a:r>
              <a:rPr dirty="0" sz="500" spc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spc="-2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Nash</a:t>
            </a:r>
            <a:endParaRPr sz="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260" y="893771"/>
            <a:ext cx="771525" cy="365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Trường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hợp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1:</a:t>
            </a:r>
            <a:r>
              <a:rPr dirty="0" sz="500" spc="7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Thái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độ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 spc="-2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rủi</a:t>
            </a:r>
            <a:r>
              <a:rPr dirty="0" sz="500" spc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ro</a:t>
            </a:r>
            <a:r>
              <a:rPr dirty="0" sz="500" spc="1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tương</a:t>
            </a:r>
            <a:r>
              <a:rPr dirty="0" sz="500" spc="1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 spc="-2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đồng</a:t>
            </a:r>
            <a:endParaRPr sz="500">
              <a:latin typeface="Arial"/>
              <a:cs typeface="Arial"/>
            </a:endParaRPr>
          </a:p>
          <a:p>
            <a:pPr marL="37465" marR="244475">
              <a:lnSpc>
                <a:spcPct val="152200"/>
              </a:lnSpc>
              <a:spcBef>
                <a:spcPts val="15"/>
              </a:spcBef>
            </a:pP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Thiết</a:t>
            </a:r>
            <a:r>
              <a:rPr dirty="0" sz="400" spc="2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lập</a:t>
            </a:r>
            <a:r>
              <a:rPr dirty="0" sz="400" spc="25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mô</a:t>
            </a:r>
            <a:r>
              <a:rPr dirty="0" sz="400" spc="3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400" spc="-2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hình</a:t>
            </a:r>
            <a:r>
              <a:rPr dirty="0" sz="400" spc="500">
                <a:solidFill>
                  <a:srgbClr val="909090"/>
                </a:solidFill>
                <a:latin typeface="Arial"/>
                <a:cs typeface="Arial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Giải</a:t>
            </a:r>
            <a:r>
              <a:rPr dirty="0" sz="400" spc="5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pháp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và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Kết</a:t>
            </a:r>
            <a:r>
              <a:rPr dirty="0" sz="400" spc="5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400" spc="-25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quả</a:t>
            </a:r>
            <a:endParaRPr sz="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260" y="1293046"/>
            <a:ext cx="663575" cy="45783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Trường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hợp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2:</a:t>
            </a:r>
            <a:r>
              <a:rPr dirty="0" sz="500" spc="7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Bất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spc="-2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đối</a:t>
            </a:r>
            <a:r>
              <a:rPr dirty="0" sz="500" spc="50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xứng</a:t>
            </a:r>
            <a:r>
              <a:rPr dirty="0" sz="500" spc="1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(Thực</a:t>
            </a:r>
            <a:r>
              <a:rPr dirty="0" sz="500" spc="1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spc="-2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tế)</a:t>
            </a:r>
            <a:endParaRPr sz="500">
              <a:latin typeface="Arial"/>
              <a:cs typeface="Arial"/>
            </a:endParaRPr>
          </a:p>
          <a:p>
            <a:pPr marL="37465" marR="52705">
              <a:lnSpc>
                <a:spcPct val="152200"/>
              </a:lnSpc>
              <a:spcBef>
                <a:spcPts val="15"/>
              </a:spcBef>
            </a:pP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Giả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định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và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Bài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400" spc="-2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toán</a:t>
            </a:r>
            <a:r>
              <a:rPr dirty="0" sz="400" spc="500">
                <a:solidFill>
                  <a:srgbClr val="909090"/>
                </a:solidFill>
                <a:latin typeface="Arial"/>
                <a:cs typeface="Arial"/>
              </a:rPr>
              <a:t> </a:t>
            </a:r>
            <a:r>
              <a:rPr dirty="0" sz="400" spc="-10">
                <a:latin typeface="Arial"/>
                <a:cs typeface="Arial"/>
                <a:hlinkClick r:id="rId9" action="ppaction://hlinksldjump"/>
              </a:rPr>
              <a:t>Chứng</a:t>
            </a:r>
            <a:r>
              <a:rPr dirty="0" sz="400" spc="-5"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400">
                <a:latin typeface="Arial"/>
                <a:cs typeface="Arial"/>
                <a:hlinkClick r:id="rId9" action="ppaction://hlinksldjump"/>
              </a:rPr>
              <a:t>minh </a:t>
            </a:r>
            <a:r>
              <a:rPr dirty="0" sz="400" spc="-10">
                <a:latin typeface="Arial"/>
                <a:cs typeface="Arial"/>
                <a:hlinkClick r:id="rId9" action="ppaction://hlinksldjump"/>
              </a:rPr>
              <a:t>mệnh</a:t>
            </a:r>
            <a:r>
              <a:rPr dirty="0" sz="400">
                <a:latin typeface="Arial"/>
                <a:cs typeface="Arial"/>
                <a:hlinkClick r:id="rId9" action="ppaction://hlinksldjump"/>
              </a:rPr>
              <a:t> đề </a:t>
            </a:r>
            <a:r>
              <a:rPr dirty="0" sz="400" spc="-50">
                <a:latin typeface="Arial"/>
                <a:cs typeface="Arial"/>
                <a:hlinkClick r:id="rId9" action="ppaction://hlinksldjump"/>
              </a:rPr>
              <a:t>7</a:t>
            </a:r>
            <a:r>
              <a:rPr dirty="0" sz="400" spc="500">
                <a:latin typeface="Arial"/>
                <a:cs typeface="Arial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Kiểm</a:t>
            </a:r>
            <a:r>
              <a:rPr dirty="0" sz="400" spc="-5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400" spc="-10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chứng</a:t>
            </a:r>
            <a:r>
              <a:rPr dirty="0" sz="400" spc="5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thực</a:t>
            </a:r>
            <a:r>
              <a:rPr dirty="0" sz="400" spc="5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400" spc="-10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nghiệm</a:t>
            </a:r>
            <a:endParaRPr sz="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260" y="1785120"/>
            <a:ext cx="26670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11" action="ppaction://hlinksldjump"/>
              </a:rPr>
              <a:t>Kết</a:t>
            </a:r>
            <a:r>
              <a:rPr dirty="0" sz="500" spc="60">
                <a:solidFill>
                  <a:srgbClr val="9DBDD8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dirty="0" sz="500" spc="-20">
                <a:solidFill>
                  <a:srgbClr val="9DBDD8"/>
                </a:solidFill>
                <a:latin typeface="Arial"/>
                <a:cs typeface="Arial"/>
                <a:hlinkClick r:id="rId11" action="ppaction://hlinksldjump"/>
              </a:rPr>
              <a:t>luận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0"/>
            <a:ext cx="5760085" cy="631825"/>
            <a:chOff x="0" y="0"/>
            <a:chExt cx="5760085" cy="631825"/>
          </a:xfrm>
        </p:grpSpPr>
        <p:sp>
          <p:nvSpPr>
            <p:cNvPr id="8" name="object 8"/>
            <p:cNvSpPr/>
            <p:nvPr/>
          </p:nvSpPr>
          <p:spPr>
            <a:xfrm>
              <a:off x="0" y="0"/>
              <a:ext cx="5760085" cy="253365"/>
            </a:xfrm>
            <a:custGeom>
              <a:avLst/>
              <a:gdLst/>
              <a:ahLst/>
              <a:cxnLst/>
              <a:rect l="l" t="t" r="r" b="b"/>
              <a:pathLst>
                <a:path w="5760085" h="253365">
                  <a:moveTo>
                    <a:pt x="5759996" y="0"/>
                  </a:moveTo>
                  <a:lnTo>
                    <a:pt x="0" y="0"/>
                  </a:lnTo>
                  <a:lnTo>
                    <a:pt x="0" y="253047"/>
                  </a:lnTo>
                  <a:lnTo>
                    <a:pt x="5759996" y="25304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0" y="1250"/>
              <a:ext cx="839748" cy="630066"/>
            </a:xfrm>
            <a:prstGeom prst="rect">
              <a:avLst/>
            </a:prstGeom>
          </p:spPr>
        </p:pic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50"/>
              <a:t>Kết</a:t>
            </a:r>
            <a:r>
              <a:rPr dirty="0" spc="55"/>
              <a:t> </a:t>
            </a:r>
            <a:r>
              <a:rPr dirty="0"/>
              <a:t>quả</a:t>
            </a:r>
            <a:r>
              <a:rPr dirty="0" spc="55"/>
              <a:t> </a:t>
            </a:r>
            <a:r>
              <a:rPr dirty="0" spc="170"/>
              <a:t>&amp;</a:t>
            </a:r>
            <a:r>
              <a:rPr dirty="0" spc="60"/>
              <a:t> </a:t>
            </a:r>
            <a:r>
              <a:rPr dirty="0"/>
              <a:t>mệnh</a:t>
            </a:r>
            <a:r>
              <a:rPr dirty="0" spc="55"/>
              <a:t> </a:t>
            </a:r>
            <a:r>
              <a:rPr dirty="0"/>
              <a:t>đề</a:t>
            </a:r>
            <a:r>
              <a:rPr dirty="0" spc="60"/>
              <a:t> </a:t>
            </a:r>
            <a:r>
              <a:rPr dirty="0" spc="-50"/>
              <a:t>7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64311" y="394365"/>
            <a:ext cx="3007995" cy="4813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ts val="1200"/>
              </a:lnSpc>
              <a:spcBef>
                <a:spcPts val="95"/>
              </a:spcBef>
            </a:pPr>
            <a:r>
              <a:rPr dirty="0" sz="1000" spc="-60" b="1">
                <a:latin typeface="Arial"/>
                <a:cs typeface="Arial"/>
              </a:rPr>
              <a:t>Bước</a:t>
            </a:r>
            <a:r>
              <a:rPr dirty="0" sz="1000" b="1">
                <a:latin typeface="Arial"/>
                <a:cs typeface="Arial"/>
              </a:rPr>
              <a:t> 3:</a:t>
            </a:r>
            <a:r>
              <a:rPr dirty="0" sz="1000" spc="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Tính</a:t>
            </a:r>
            <a:r>
              <a:rPr dirty="0" sz="1000" spc="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chất </a:t>
            </a:r>
            <a:r>
              <a:rPr dirty="0" sz="1000" spc="-25" b="1">
                <a:latin typeface="Arial"/>
                <a:cs typeface="Arial"/>
              </a:rPr>
              <a:t>hình</a:t>
            </a:r>
            <a:r>
              <a:rPr dirty="0" sz="1000" spc="5" b="1">
                <a:latin typeface="Arial"/>
                <a:cs typeface="Arial"/>
              </a:rPr>
              <a:t> </a:t>
            </a:r>
            <a:r>
              <a:rPr dirty="0" sz="1000" spc="-20" b="1">
                <a:latin typeface="Arial"/>
                <a:cs typeface="Arial"/>
              </a:rPr>
              <a:t>học</a:t>
            </a:r>
            <a:r>
              <a:rPr dirty="0" sz="1000" spc="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hàm </a:t>
            </a:r>
            <a:r>
              <a:rPr dirty="0" sz="1000" spc="-25" b="1">
                <a:latin typeface="Arial"/>
                <a:cs typeface="Arial"/>
              </a:rPr>
              <a:t>lõm</a:t>
            </a:r>
            <a:endParaRPr sz="1000">
              <a:latin typeface="Arial"/>
              <a:cs typeface="Arial"/>
            </a:endParaRPr>
          </a:p>
          <a:p>
            <a:pPr marL="38100">
              <a:lnSpc>
                <a:spcPts val="1195"/>
              </a:lnSpc>
            </a:pPr>
            <a:r>
              <a:rPr dirty="0" sz="1000">
                <a:latin typeface="Tahoma"/>
                <a:cs typeface="Tahoma"/>
              </a:rPr>
              <a:t>Với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hàm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lõm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nghiêm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ngặt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đi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qua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gốc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tọa</a:t>
            </a:r>
            <a:r>
              <a:rPr dirty="0" sz="1000" spc="-20">
                <a:latin typeface="Tahoma"/>
                <a:cs typeface="Tahoma"/>
              </a:rPr>
              <a:t> độ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55">
                <a:latin typeface="Tahoma"/>
                <a:cs typeface="Tahoma"/>
              </a:rPr>
              <a:t>(</a:t>
            </a:r>
            <a:r>
              <a:rPr dirty="0" sz="1000" spc="55" i="1">
                <a:latin typeface="Trebuchet MS"/>
                <a:cs typeface="Trebuchet MS"/>
              </a:rPr>
              <a:t>U</a:t>
            </a:r>
            <a:r>
              <a:rPr dirty="0" baseline="27777" sz="1050" spc="82" i="1">
                <a:latin typeface="DejaVu Serif"/>
                <a:cs typeface="DejaVu Serif"/>
              </a:rPr>
              <a:t>′′</a:t>
            </a:r>
            <a:r>
              <a:rPr dirty="0" baseline="27777" sz="1050" spc="89" i="1">
                <a:latin typeface="DejaVu Serif"/>
                <a:cs typeface="DejaVu Serif"/>
              </a:rPr>
              <a:t> </a:t>
            </a:r>
            <a:r>
              <a:rPr dirty="0" sz="1000" spc="90" i="1">
                <a:latin typeface="Times New Roman"/>
                <a:cs typeface="Times New Roman"/>
              </a:rPr>
              <a:t>&lt;</a:t>
            </a:r>
            <a:r>
              <a:rPr dirty="0" sz="1000" spc="-15" i="1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ahoma"/>
                <a:cs typeface="Tahoma"/>
              </a:rPr>
              <a:t>0):</a:t>
            </a:r>
            <a:endParaRPr sz="1000">
              <a:latin typeface="Tahoma"/>
              <a:cs typeface="Tahoma"/>
            </a:endParaRPr>
          </a:p>
          <a:p>
            <a:pPr marL="38100">
              <a:lnSpc>
                <a:spcPts val="1200"/>
              </a:lnSpc>
            </a:pPr>
            <a:r>
              <a:rPr dirty="0" sz="1000" b="1">
                <a:latin typeface="Arial"/>
                <a:cs typeface="Arial"/>
              </a:rPr>
              <a:t>Độ</a:t>
            </a:r>
            <a:r>
              <a:rPr dirty="0" sz="1000" spc="25" b="1">
                <a:latin typeface="Arial"/>
                <a:cs typeface="Arial"/>
              </a:rPr>
              <a:t> </a:t>
            </a:r>
            <a:r>
              <a:rPr dirty="0" sz="1000" spc="-20" b="1">
                <a:latin typeface="Arial"/>
                <a:cs typeface="Arial"/>
              </a:rPr>
              <a:t>dốc</a:t>
            </a:r>
            <a:r>
              <a:rPr dirty="0" sz="1000" spc="2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trung</a:t>
            </a:r>
            <a:r>
              <a:rPr dirty="0" sz="1000" spc="25" b="1">
                <a:latin typeface="Arial"/>
                <a:cs typeface="Arial"/>
              </a:rPr>
              <a:t> </a:t>
            </a:r>
            <a:r>
              <a:rPr dirty="0" sz="1000" spc="-25" b="1">
                <a:latin typeface="Arial"/>
                <a:cs typeface="Arial"/>
              </a:rPr>
              <a:t>bình</a:t>
            </a:r>
            <a:r>
              <a:rPr dirty="0" sz="1000" spc="25" b="1">
                <a:latin typeface="Arial"/>
                <a:cs typeface="Arial"/>
              </a:rPr>
              <a:t> </a:t>
            </a:r>
            <a:r>
              <a:rPr dirty="0" sz="1000" spc="254" b="1">
                <a:latin typeface="Arial"/>
                <a:cs typeface="Arial"/>
              </a:rPr>
              <a:t>&gt;</a:t>
            </a:r>
            <a:r>
              <a:rPr dirty="0" sz="1000" spc="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Độ</a:t>
            </a:r>
            <a:r>
              <a:rPr dirty="0" sz="1000" spc="25" b="1">
                <a:latin typeface="Arial"/>
                <a:cs typeface="Arial"/>
              </a:rPr>
              <a:t> </a:t>
            </a:r>
            <a:r>
              <a:rPr dirty="0" sz="1000" spc="-20" b="1">
                <a:latin typeface="Arial"/>
                <a:cs typeface="Arial"/>
              </a:rPr>
              <a:t>dốc</a:t>
            </a:r>
            <a:r>
              <a:rPr dirty="0" sz="1000" spc="2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biên</a:t>
            </a:r>
            <a:r>
              <a:rPr dirty="0" sz="1000" spc="-10">
                <a:latin typeface="Tahoma"/>
                <a:cs typeface="Tahoma"/>
              </a:rPr>
              <a:t>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392235" y="1149883"/>
            <a:ext cx="303530" cy="0"/>
          </a:xfrm>
          <a:custGeom>
            <a:avLst/>
            <a:gdLst/>
            <a:ahLst/>
            <a:cxnLst/>
            <a:rect l="l" t="t" r="r" b="b"/>
            <a:pathLst>
              <a:path w="303530" h="0">
                <a:moveTo>
                  <a:pt x="0" y="0"/>
                </a:moveTo>
                <a:lnTo>
                  <a:pt x="30347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964116" y="1028003"/>
            <a:ext cx="5461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15" i="1">
                <a:latin typeface="DejaVu Serif"/>
                <a:cs typeface="DejaVu Serif"/>
              </a:rPr>
              <a:t>′</a:t>
            </a:r>
            <a:endParaRPr sz="700">
              <a:latin typeface="DejaVu Serif"/>
              <a:cs typeface="DejaVu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95244" y="1042281"/>
            <a:ext cx="814069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3515" indent="-132715">
              <a:lnSpc>
                <a:spcPct val="100000"/>
              </a:lnSpc>
              <a:spcBef>
                <a:spcPts val="95"/>
              </a:spcBef>
              <a:buFont typeface="Times New Roman"/>
              <a:buChar char="&gt;"/>
              <a:tabLst>
                <a:tab pos="183515" algn="l"/>
                <a:tab pos="648970" algn="l"/>
              </a:tabLst>
            </a:pPr>
            <a:r>
              <a:rPr dirty="0" sz="1000" i="1">
                <a:latin typeface="Trebuchet MS"/>
                <a:cs typeface="Trebuchet MS"/>
              </a:rPr>
              <a:t>U</a:t>
            </a:r>
            <a:r>
              <a:rPr dirty="0" baseline="-19841" sz="1050" i="1">
                <a:latin typeface="Calibri"/>
                <a:cs typeface="Calibri"/>
              </a:rPr>
              <a:t>r</a:t>
            </a:r>
            <a:r>
              <a:rPr dirty="0" baseline="-19841" sz="1050" spc="-7" i="1">
                <a:latin typeface="Calibri"/>
                <a:cs typeface="Calibri"/>
              </a:rPr>
              <a:t> </a:t>
            </a:r>
            <a:r>
              <a:rPr dirty="0" sz="1000" spc="-30">
                <a:latin typeface="Tahoma"/>
                <a:cs typeface="Tahoma"/>
              </a:rPr>
              <a:t>(</a:t>
            </a:r>
            <a:r>
              <a:rPr dirty="0" sz="1000" spc="-30" i="1">
                <a:latin typeface="Trebuchet MS"/>
                <a:cs typeface="Trebuchet MS"/>
              </a:rPr>
              <a:t>x</a:t>
            </a:r>
            <a:r>
              <a:rPr dirty="0" sz="1000" spc="-185" i="1">
                <a:latin typeface="Trebuchet MS"/>
                <a:cs typeface="Trebuchet MS"/>
              </a:rPr>
              <a:t> </a:t>
            </a:r>
            <a:r>
              <a:rPr dirty="0" sz="1000" spc="-50">
                <a:latin typeface="Tahoma"/>
                <a:cs typeface="Tahoma"/>
              </a:rPr>
              <a:t>)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190" i="1">
                <a:latin typeface="DejaVu Sans Condensed"/>
                <a:cs typeface="DejaVu Sans Condensed"/>
              </a:rPr>
              <a:t>⇒</a:t>
            </a:r>
            <a:endParaRPr sz="1000">
              <a:latin typeface="DejaVu Sans Condensed"/>
              <a:cs typeface="DejaVu Sans Condensed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41435" y="956683"/>
            <a:ext cx="16611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1306195" algn="l"/>
              </a:tabLst>
            </a:pPr>
            <a:r>
              <a:rPr dirty="0" sz="1000" i="1">
                <a:latin typeface="Trebuchet MS"/>
                <a:cs typeface="Trebuchet MS"/>
              </a:rPr>
              <a:t>U</a:t>
            </a:r>
            <a:r>
              <a:rPr dirty="0" baseline="-11904" sz="1050" i="1">
                <a:latin typeface="Calibri"/>
                <a:cs typeface="Calibri"/>
              </a:rPr>
              <a:t>r</a:t>
            </a:r>
            <a:r>
              <a:rPr dirty="0" baseline="-11904" sz="1050" spc="-7" i="1">
                <a:latin typeface="Calibri"/>
                <a:cs typeface="Calibri"/>
              </a:rPr>
              <a:t> </a:t>
            </a:r>
            <a:r>
              <a:rPr dirty="0" sz="1000" spc="-30">
                <a:latin typeface="Tahoma"/>
                <a:cs typeface="Tahoma"/>
              </a:rPr>
              <a:t>(</a:t>
            </a:r>
            <a:r>
              <a:rPr dirty="0" sz="1000" spc="-30" i="1">
                <a:latin typeface="Trebuchet MS"/>
                <a:cs typeface="Trebuchet MS"/>
              </a:rPr>
              <a:t>x</a:t>
            </a:r>
            <a:r>
              <a:rPr dirty="0" sz="1000" spc="-185" i="1">
                <a:latin typeface="Trebuchet MS"/>
                <a:cs typeface="Trebuchet MS"/>
              </a:rPr>
              <a:t> </a:t>
            </a:r>
            <a:r>
              <a:rPr dirty="0" sz="1000" spc="-50">
                <a:latin typeface="Tahoma"/>
                <a:cs typeface="Tahoma"/>
              </a:rPr>
              <a:t>)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i="1">
                <a:latin typeface="Trebuchet MS"/>
                <a:cs typeface="Trebuchet MS"/>
              </a:rPr>
              <a:t>U</a:t>
            </a:r>
            <a:r>
              <a:rPr dirty="0" baseline="-11904" sz="1050" i="1">
                <a:latin typeface="Calibri"/>
                <a:cs typeface="Calibri"/>
              </a:rPr>
              <a:t>r</a:t>
            </a:r>
            <a:r>
              <a:rPr dirty="0" baseline="-11904" sz="1050" spc="-7" i="1">
                <a:latin typeface="Calibri"/>
                <a:cs typeface="Calibri"/>
              </a:rPr>
              <a:t> </a:t>
            </a:r>
            <a:r>
              <a:rPr dirty="0" sz="1000" spc="-30">
                <a:latin typeface="Tahoma"/>
                <a:cs typeface="Tahoma"/>
              </a:rPr>
              <a:t>(</a:t>
            </a:r>
            <a:r>
              <a:rPr dirty="0" sz="1000" spc="-30" i="1">
                <a:latin typeface="Trebuchet MS"/>
                <a:cs typeface="Trebuchet MS"/>
              </a:rPr>
              <a:t>x</a:t>
            </a:r>
            <a:r>
              <a:rPr dirty="0" sz="1000" spc="-185" i="1">
                <a:latin typeface="Trebuchet MS"/>
                <a:cs typeface="Trebuchet MS"/>
              </a:rPr>
              <a:t> </a:t>
            </a:r>
            <a:r>
              <a:rPr dirty="0" sz="1000" spc="-5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648062" y="1149883"/>
            <a:ext cx="303530" cy="0"/>
          </a:xfrm>
          <a:custGeom>
            <a:avLst/>
            <a:gdLst/>
            <a:ahLst/>
            <a:cxnLst/>
            <a:rect l="l" t="t" r="r" b="b"/>
            <a:pathLst>
              <a:path w="303529" h="0">
                <a:moveTo>
                  <a:pt x="0" y="0"/>
                </a:moveTo>
                <a:lnTo>
                  <a:pt x="30347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722344" y="1198310"/>
            <a:ext cx="577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 i="1">
                <a:latin typeface="Calibri"/>
                <a:cs typeface="Calibri"/>
              </a:rPr>
              <a:t>r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70899" y="1129073"/>
            <a:ext cx="153162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176655" algn="l"/>
              </a:tabLst>
            </a:pPr>
            <a:r>
              <a:rPr dirty="0" sz="1000" spc="-50" i="1">
                <a:latin typeface="Trebuchet MS"/>
                <a:cs typeface="Trebuchet MS"/>
              </a:rPr>
              <a:t>x</a:t>
            </a:r>
            <a:r>
              <a:rPr dirty="0" sz="1000" i="1">
                <a:latin typeface="Trebuchet MS"/>
                <a:cs typeface="Trebuchet MS"/>
              </a:rPr>
              <a:t>	</a:t>
            </a:r>
            <a:r>
              <a:rPr dirty="0" sz="1000" spc="30" i="1">
                <a:latin typeface="Trebuchet MS"/>
                <a:cs typeface="Trebuchet MS"/>
              </a:rPr>
              <a:t>U</a:t>
            </a:r>
            <a:r>
              <a:rPr dirty="0" baseline="23809" sz="1050" spc="44" i="1">
                <a:latin typeface="DejaVu Serif"/>
                <a:cs typeface="DejaVu Serif"/>
              </a:rPr>
              <a:t>′</a:t>
            </a:r>
            <a:r>
              <a:rPr dirty="0" sz="1000" spc="30">
                <a:latin typeface="Tahoma"/>
                <a:cs typeface="Tahoma"/>
              </a:rPr>
              <a:t>(</a:t>
            </a:r>
            <a:r>
              <a:rPr dirty="0" sz="1000" spc="30" i="1">
                <a:latin typeface="Trebuchet MS"/>
                <a:cs typeface="Trebuchet MS"/>
              </a:rPr>
              <a:t>x</a:t>
            </a:r>
            <a:r>
              <a:rPr dirty="0" sz="1000" spc="-135" i="1">
                <a:latin typeface="Trebuchet MS"/>
                <a:cs typeface="Trebuchet MS"/>
              </a:rPr>
              <a:t> </a:t>
            </a:r>
            <a:r>
              <a:rPr dirty="0" sz="1000" spc="-5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89158" y="1042281"/>
            <a:ext cx="217804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45415" indent="-132715">
              <a:lnSpc>
                <a:spcPct val="100000"/>
              </a:lnSpc>
              <a:spcBef>
                <a:spcPts val="95"/>
              </a:spcBef>
              <a:buFont typeface="Times New Roman"/>
              <a:buChar char="&gt;"/>
              <a:tabLst>
                <a:tab pos="145415" algn="l"/>
              </a:tabLst>
            </a:pPr>
            <a:r>
              <a:rPr dirty="0" sz="1000" spc="-50" i="1">
                <a:latin typeface="Trebuchet MS"/>
                <a:cs typeface="Trebuchet MS"/>
              </a:rPr>
              <a:t>x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405720" y="1042281"/>
            <a:ext cx="1873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Tahoma"/>
                <a:cs typeface="Tahoma"/>
              </a:rPr>
              <a:t>(7)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60247" y="1515033"/>
            <a:ext cx="4662170" cy="250190"/>
          </a:xfrm>
          <a:custGeom>
            <a:avLst/>
            <a:gdLst/>
            <a:ahLst/>
            <a:cxnLst/>
            <a:rect l="l" t="t" r="r" b="b"/>
            <a:pathLst>
              <a:path w="4662170" h="250189">
                <a:moveTo>
                  <a:pt x="0" y="250177"/>
                </a:moveTo>
                <a:lnTo>
                  <a:pt x="4661916" y="250177"/>
                </a:lnTo>
                <a:lnTo>
                  <a:pt x="4661916" y="0"/>
                </a:lnTo>
                <a:lnTo>
                  <a:pt x="0" y="0"/>
                </a:lnTo>
                <a:lnTo>
                  <a:pt x="0" y="250177"/>
                </a:lnTo>
                <a:close/>
              </a:path>
            </a:pathLst>
          </a:custGeom>
          <a:solidFill>
            <a:srgbClr val="AB2E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989711" y="1535744"/>
            <a:ext cx="68897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0">
                <a:solidFill>
                  <a:srgbClr val="FFFFFF"/>
                </a:solidFill>
                <a:latin typeface="Arial"/>
                <a:cs typeface="Arial"/>
              </a:rPr>
              <a:t>Mệnh</a:t>
            </a: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80">
                <a:solidFill>
                  <a:srgbClr val="FFFFFF"/>
                </a:solidFill>
                <a:latin typeface="Arial"/>
                <a:cs typeface="Arial"/>
              </a:rPr>
              <a:t>đề</a:t>
            </a:r>
            <a:r>
              <a:rPr dirty="0" sz="12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12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960247" y="1765211"/>
            <a:ext cx="4662170" cy="1087120"/>
          </a:xfrm>
          <a:custGeom>
            <a:avLst/>
            <a:gdLst/>
            <a:ahLst/>
            <a:cxnLst/>
            <a:rect l="l" t="t" r="r" b="b"/>
            <a:pathLst>
              <a:path w="4662170" h="1087120">
                <a:moveTo>
                  <a:pt x="4661916" y="0"/>
                </a:moveTo>
                <a:lnTo>
                  <a:pt x="0" y="0"/>
                </a:lnTo>
                <a:lnTo>
                  <a:pt x="0" y="1086866"/>
                </a:lnTo>
                <a:lnTo>
                  <a:pt x="4661916" y="1086866"/>
                </a:lnTo>
                <a:lnTo>
                  <a:pt x="4661916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989711" y="1777814"/>
            <a:ext cx="4420870" cy="4813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Tahoma"/>
                <a:cs typeface="Tahoma"/>
              </a:rPr>
              <a:t>“Đối</a:t>
            </a:r>
            <a:r>
              <a:rPr dirty="0" sz="1000" spc="-7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với</a:t>
            </a:r>
            <a:r>
              <a:rPr dirty="0" sz="1000" spc="-7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chuỗi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cung </a:t>
            </a:r>
            <a:r>
              <a:rPr dirty="0" sz="1000" spc="-45">
                <a:latin typeface="Tahoma"/>
                <a:cs typeface="Tahoma"/>
              </a:rPr>
              <a:t>ứng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gồm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một</a:t>
            </a:r>
            <a:r>
              <a:rPr dirty="0" sz="1000" spc="-8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thành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viên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20" b="1">
                <a:latin typeface="Arial"/>
                <a:cs typeface="Arial"/>
              </a:rPr>
              <a:t>ngại</a:t>
            </a:r>
            <a:r>
              <a:rPr dirty="0" sz="1000" spc="1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rủi</a:t>
            </a:r>
            <a:r>
              <a:rPr dirty="0" sz="1000" spc="1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ro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spc="-25">
                <a:latin typeface="Tahoma"/>
                <a:cs typeface="Tahoma"/>
              </a:rPr>
              <a:t>(hàm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lõm)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và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một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thành </a:t>
            </a:r>
            <a:r>
              <a:rPr dirty="0" sz="1000" spc="-30">
                <a:latin typeface="Tahoma"/>
                <a:cs typeface="Tahoma"/>
              </a:rPr>
              <a:t>viên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10" b="1">
                <a:latin typeface="Arial"/>
                <a:cs typeface="Arial"/>
              </a:rPr>
              <a:t>trung</a:t>
            </a:r>
            <a:r>
              <a:rPr dirty="0" sz="1000" spc="-4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lập</a:t>
            </a:r>
            <a:r>
              <a:rPr dirty="0" sz="1000" spc="1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rủi</a:t>
            </a:r>
            <a:r>
              <a:rPr dirty="0" sz="1000" spc="20" b="1">
                <a:latin typeface="Arial"/>
                <a:cs typeface="Arial"/>
              </a:rPr>
              <a:t> </a:t>
            </a:r>
            <a:r>
              <a:rPr dirty="0" sz="1000" spc="-20" b="1">
                <a:latin typeface="Arial"/>
                <a:cs typeface="Arial"/>
              </a:rPr>
              <a:t>ro</a:t>
            </a:r>
            <a:r>
              <a:rPr dirty="0" sz="1000" spc="-20">
                <a:latin typeface="Tahoma"/>
                <a:cs typeface="Tahoma"/>
              </a:rPr>
              <a:t>,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thành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viên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ngại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rủi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ro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65">
                <a:latin typeface="Tahoma"/>
                <a:cs typeface="Tahoma"/>
              </a:rPr>
              <a:t>sẽ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nhận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được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phần </a:t>
            </a:r>
            <a:r>
              <a:rPr dirty="0" sz="1000" spc="-10">
                <a:latin typeface="Tahoma"/>
                <a:cs typeface="Tahoma"/>
              </a:rPr>
              <a:t>chia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từ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lợi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nhuận </a:t>
            </a:r>
            <a:r>
              <a:rPr dirty="0" sz="1000" spc="-30">
                <a:latin typeface="Tahoma"/>
                <a:cs typeface="Tahoma"/>
              </a:rPr>
              <a:t>thặng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dư</a:t>
            </a:r>
            <a:r>
              <a:rPr dirty="0" sz="1000" spc="-60">
                <a:latin typeface="Tahoma"/>
                <a:cs typeface="Tahoma"/>
              </a:rPr>
              <a:t> </a:t>
            </a:r>
            <a:r>
              <a:rPr dirty="0" sz="1000" spc="-30" b="1">
                <a:latin typeface="Arial"/>
                <a:cs typeface="Arial"/>
              </a:rPr>
              <a:t>nhỏ</a:t>
            </a:r>
            <a:r>
              <a:rPr dirty="0" sz="1000" b="1">
                <a:latin typeface="Arial"/>
                <a:cs typeface="Arial"/>
              </a:rPr>
              <a:t> </a:t>
            </a:r>
            <a:r>
              <a:rPr dirty="0" sz="1000" spc="-95" b="1">
                <a:latin typeface="Arial"/>
                <a:cs typeface="Arial"/>
              </a:rPr>
              <a:t>hơn</a:t>
            </a:r>
            <a:r>
              <a:rPr dirty="0" sz="1000" spc="25" b="1">
                <a:latin typeface="Arial"/>
                <a:cs typeface="Arial"/>
              </a:rPr>
              <a:t> </a:t>
            </a:r>
            <a:r>
              <a:rPr dirty="0" sz="1000" spc="-20">
                <a:latin typeface="Tahoma"/>
                <a:cs typeface="Tahoma"/>
              </a:rPr>
              <a:t>so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với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thành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viên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trung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lập.”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15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841332" y="2581760"/>
            <a:ext cx="577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 i="1">
                <a:latin typeface="Calibri"/>
                <a:cs typeface="Calibri"/>
              </a:rPr>
              <a:t>r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728937" y="2512522"/>
            <a:ext cx="3797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30" i="1">
                <a:latin typeface="Trebuchet MS"/>
                <a:cs typeface="Trebuchet MS"/>
              </a:rPr>
              <a:t>U</a:t>
            </a:r>
            <a:r>
              <a:rPr dirty="0" baseline="23809" sz="1050" spc="44" i="1">
                <a:latin typeface="DejaVu Serif"/>
                <a:cs typeface="DejaVu Serif"/>
              </a:rPr>
              <a:t>′</a:t>
            </a:r>
            <a:r>
              <a:rPr dirty="0" sz="1000" spc="30">
                <a:latin typeface="Tahoma"/>
                <a:cs typeface="Tahoma"/>
              </a:rPr>
              <a:t>(</a:t>
            </a:r>
            <a:r>
              <a:rPr dirty="0" sz="1000" spc="30" i="1">
                <a:latin typeface="Trebuchet MS"/>
                <a:cs typeface="Trebuchet MS"/>
              </a:rPr>
              <a:t>x</a:t>
            </a:r>
            <a:r>
              <a:rPr dirty="0" sz="1000" spc="-135" i="1">
                <a:latin typeface="Trebuchet MS"/>
                <a:cs typeface="Trebuchet MS"/>
              </a:rPr>
              <a:t> </a:t>
            </a:r>
            <a:r>
              <a:rPr dirty="0" sz="1000" spc="-5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447607" y="2340145"/>
            <a:ext cx="1661795" cy="2628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19405">
              <a:lnSpc>
                <a:spcPts val="935"/>
              </a:lnSpc>
              <a:spcBef>
                <a:spcPts val="95"/>
              </a:spcBef>
            </a:pPr>
            <a:r>
              <a:rPr dirty="0" u="sng" sz="1000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U</a:t>
            </a:r>
            <a:r>
              <a:rPr dirty="0" u="sng" baseline="-11904" sz="105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</a:t>
            </a:r>
            <a:r>
              <a:rPr dirty="0" u="sng" baseline="-11904" sz="1050" spc="-7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spc="-3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(</a:t>
            </a:r>
            <a:r>
              <a:rPr dirty="0" u="sng" sz="1000" spc="-30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x</a:t>
            </a:r>
            <a:r>
              <a:rPr dirty="0" u="sng" sz="1000" spc="-185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000" spc="-5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  <a:p>
            <a:pPr marL="63500">
              <a:lnSpc>
                <a:spcPts val="935"/>
              </a:lnSpc>
              <a:tabLst>
                <a:tab pos="673100" algn="l"/>
                <a:tab pos="1038225" algn="l"/>
                <a:tab pos="1326515" algn="l"/>
              </a:tabLst>
            </a:pPr>
            <a:r>
              <a:rPr dirty="0" sz="1000" i="1">
                <a:latin typeface="Trebuchet MS"/>
                <a:cs typeface="Trebuchet MS"/>
              </a:rPr>
              <a:t>y</a:t>
            </a:r>
            <a:r>
              <a:rPr dirty="0" sz="1000" spc="50" i="1">
                <a:latin typeface="Trebuchet MS"/>
                <a:cs typeface="Trebuchet MS"/>
              </a:rPr>
              <a:t> </a:t>
            </a:r>
            <a:r>
              <a:rPr dirty="0" sz="1000" spc="-50">
                <a:latin typeface="Tahoma"/>
                <a:cs typeface="Tahoma"/>
              </a:rPr>
              <a:t>=</a:t>
            </a:r>
            <a:r>
              <a:rPr dirty="0" sz="1000">
                <a:latin typeface="Tahoma"/>
                <a:cs typeface="Tahoma"/>
              </a:rPr>
              <a:t>	</a:t>
            </a:r>
            <a:r>
              <a:rPr dirty="0" sz="1000" spc="90" i="1">
                <a:latin typeface="Times New Roman"/>
                <a:cs typeface="Times New Roman"/>
              </a:rPr>
              <a:t>&gt;</a:t>
            </a:r>
            <a:r>
              <a:rPr dirty="0" sz="1000" spc="25" i="1">
                <a:latin typeface="Times New Roman"/>
                <a:cs typeface="Times New Roman"/>
              </a:rPr>
              <a:t> </a:t>
            </a:r>
            <a:r>
              <a:rPr dirty="0" sz="1000" spc="-50" i="1">
                <a:latin typeface="Trebuchet MS"/>
                <a:cs typeface="Trebuchet MS"/>
              </a:rPr>
              <a:t>x</a:t>
            </a:r>
            <a:r>
              <a:rPr dirty="0" sz="1000" i="1">
                <a:latin typeface="Trebuchet MS"/>
                <a:cs typeface="Trebuchet MS"/>
              </a:rPr>
              <a:t>	</a:t>
            </a:r>
            <a:r>
              <a:rPr dirty="0" sz="1000" spc="190" i="1">
                <a:latin typeface="DejaVu Sans Condensed"/>
                <a:cs typeface="DejaVu Sans Condensed"/>
              </a:rPr>
              <a:t>⇒</a:t>
            </a:r>
            <a:r>
              <a:rPr dirty="0" sz="1000" i="1">
                <a:latin typeface="DejaVu Sans Condensed"/>
                <a:cs typeface="DejaVu Sans Condensed"/>
              </a:rPr>
              <a:t>	</a:t>
            </a:r>
            <a:r>
              <a:rPr dirty="0" sz="1000" b="1">
                <a:latin typeface="Times New Roman"/>
                <a:cs typeface="Times New Roman"/>
              </a:rPr>
              <a:t>y</a:t>
            </a:r>
            <a:r>
              <a:rPr dirty="0" sz="1000" spc="35" b="1">
                <a:latin typeface="Times New Roman"/>
                <a:cs typeface="Times New Roman"/>
              </a:rPr>
              <a:t> </a:t>
            </a:r>
            <a:r>
              <a:rPr dirty="0" sz="1000" spc="90" i="1">
                <a:latin typeface="Times New Roman"/>
                <a:cs typeface="Times New Roman"/>
              </a:rPr>
              <a:t>&gt;</a:t>
            </a:r>
            <a:r>
              <a:rPr dirty="0" sz="1000" spc="25" i="1">
                <a:latin typeface="Times New Roman"/>
                <a:cs typeface="Times New Roman"/>
              </a:rPr>
              <a:t> </a:t>
            </a:r>
            <a:r>
              <a:rPr dirty="0" sz="1000" spc="-50" b="1">
                <a:latin typeface="Times New Roman"/>
                <a:cs typeface="Times New Roman"/>
              </a:rPr>
              <a:t>x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405677" y="2425730"/>
            <a:ext cx="1873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Tahoma"/>
                <a:cs typeface="Tahoma"/>
              </a:rPr>
              <a:t>(8)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2534" y="359958"/>
            <a:ext cx="397510" cy="6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480"/>
              </a:lnSpc>
            </a:pPr>
            <a:r>
              <a:rPr dirty="0" sz="500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Mô</a:t>
            </a:r>
            <a:r>
              <a:rPr dirty="0" sz="500" spc="40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hình</a:t>
            </a:r>
            <a:r>
              <a:rPr dirty="0" sz="500" spc="45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-30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Nash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260" y="680081"/>
            <a:ext cx="66929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Tổng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quan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và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Mô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spc="-2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hình</a:t>
            </a:r>
            <a:r>
              <a:rPr dirty="0" sz="500" spc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spc="-2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Nash</a:t>
            </a:r>
            <a:endParaRPr sz="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260" y="893771"/>
            <a:ext cx="771525" cy="365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Trường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hợp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1:</a:t>
            </a:r>
            <a:r>
              <a:rPr dirty="0" sz="500" spc="7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Thái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độ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 spc="-2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rủi</a:t>
            </a:r>
            <a:r>
              <a:rPr dirty="0" sz="500" spc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ro</a:t>
            </a:r>
            <a:r>
              <a:rPr dirty="0" sz="500" spc="1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tương</a:t>
            </a:r>
            <a:r>
              <a:rPr dirty="0" sz="500" spc="1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 spc="-2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đồng</a:t>
            </a:r>
            <a:endParaRPr sz="500">
              <a:latin typeface="Arial"/>
              <a:cs typeface="Arial"/>
            </a:endParaRPr>
          </a:p>
          <a:p>
            <a:pPr marL="37465" marR="244475">
              <a:lnSpc>
                <a:spcPct val="152200"/>
              </a:lnSpc>
              <a:spcBef>
                <a:spcPts val="15"/>
              </a:spcBef>
            </a:pP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Thiết</a:t>
            </a:r>
            <a:r>
              <a:rPr dirty="0" sz="400" spc="2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lập</a:t>
            </a:r>
            <a:r>
              <a:rPr dirty="0" sz="400" spc="25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mô</a:t>
            </a:r>
            <a:r>
              <a:rPr dirty="0" sz="400" spc="3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400" spc="-2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hình</a:t>
            </a:r>
            <a:r>
              <a:rPr dirty="0" sz="400" spc="500">
                <a:solidFill>
                  <a:srgbClr val="909090"/>
                </a:solidFill>
                <a:latin typeface="Arial"/>
                <a:cs typeface="Arial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Giải</a:t>
            </a:r>
            <a:r>
              <a:rPr dirty="0" sz="400" spc="5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pháp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và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Kết</a:t>
            </a:r>
            <a:r>
              <a:rPr dirty="0" sz="400" spc="5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400" spc="-25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quả</a:t>
            </a:r>
            <a:endParaRPr sz="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260" y="1293046"/>
            <a:ext cx="663575" cy="45783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Trường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hợp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2:</a:t>
            </a:r>
            <a:r>
              <a:rPr dirty="0" sz="500" spc="7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Bất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spc="-2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đối</a:t>
            </a:r>
            <a:r>
              <a:rPr dirty="0" sz="500" spc="50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xứng</a:t>
            </a:r>
            <a:r>
              <a:rPr dirty="0" sz="500" spc="1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(Thực</a:t>
            </a:r>
            <a:r>
              <a:rPr dirty="0" sz="500" spc="1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spc="-2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tế)</a:t>
            </a:r>
            <a:endParaRPr sz="500">
              <a:latin typeface="Arial"/>
              <a:cs typeface="Arial"/>
            </a:endParaRPr>
          </a:p>
          <a:p>
            <a:pPr marL="37465" marR="52705">
              <a:lnSpc>
                <a:spcPct val="152200"/>
              </a:lnSpc>
              <a:spcBef>
                <a:spcPts val="15"/>
              </a:spcBef>
            </a:pP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Giả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định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và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Bài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400" spc="-2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toán</a:t>
            </a:r>
            <a:r>
              <a:rPr dirty="0" sz="400" spc="500">
                <a:solidFill>
                  <a:srgbClr val="909090"/>
                </a:solidFill>
                <a:latin typeface="Arial"/>
                <a:cs typeface="Arial"/>
              </a:rPr>
              <a:t> </a:t>
            </a:r>
            <a:r>
              <a:rPr dirty="0" sz="400" spc="-10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Chứng</a:t>
            </a:r>
            <a:r>
              <a:rPr dirty="0" sz="400" spc="-5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minh </a:t>
            </a:r>
            <a:r>
              <a:rPr dirty="0" sz="400" spc="-10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mệnh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 đề </a:t>
            </a:r>
            <a:r>
              <a:rPr dirty="0" sz="400" spc="-50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7</a:t>
            </a:r>
            <a:r>
              <a:rPr dirty="0" sz="400" spc="500">
                <a:solidFill>
                  <a:srgbClr val="909090"/>
                </a:solidFill>
                <a:latin typeface="Arial"/>
                <a:cs typeface="Arial"/>
              </a:rPr>
              <a:t> </a:t>
            </a:r>
            <a:r>
              <a:rPr dirty="0" sz="400">
                <a:latin typeface="Arial"/>
                <a:cs typeface="Arial"/>
                <a:hlinkClick r:id="rId10" action="ppaction://hlinksldjump"/>
              </a:rPr>
              <a:t>Kiểm</a:t>
            </a:r>
            <a:r>
              <a:rPr dirty="0" sz="400" spc="-5"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400" spc="-10">
                <a:latin typeface="Arial"/>
                <a:cs typeface="Arial"/>
                <a:hlinkClick r:id="rId10" action="ppaction://hlinksldjump"/>
              </a:rPr>
              <a:t>chứng</a:t>
            </a:r>
            <a:r>
              <a:rPr dirty="0" sz="400" spc="5"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400">
                <a:latin typeface="Arial"/>
                <a:cs typeface="Arial"/>
                <a:hlinkClick r:id="rId10" action="ppaction://hlinksldjump"/>
              </a:rPr>
              <a:t>thực</a:t>
            </a:r>
            <a:r>
              <a:rPr dirty="0" sz="400" spc="5"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400" spc="-10">
                <a:latin typeface="Arial"/>
                <a:cs typeface="Arial"/>
                <a:hlinkClick r:id="rId10" action="ppaction://hlinksldjump"/>
              </a:rPr>
              <a:t>nghiệm</a:t>
            </a:r>
            <a:endParaRPr sz="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260" y="1785120"/>
            <a:ext cx="26670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11" action="ppaction://hlinksldjump"/>
              </a:rPr>
              <a:t>Kết</a:t>
            </a:r>
            <a:r>
              <a:rPr dirty="0" sz="500" spc="60">
                <a:solidFill>
                  <a:srgbClr val="9DBDD8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dirty="0" sz="500" spc="-20">
                <a:solidFill>
                  <a:srgbClr val="9DBDD8"/>
                </a:solidFill>
                <a:latin typeface="Arial"/>
                <a:cs typeface="Arial"/>
                <a:hlinkClick r:id="rId11" action="ppaction://hlinksldjump"/>
              </a:rPr>
              <a:t>luận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0"/>
            <a:ext cx="5760085" cy="631825"/>
            <a:chOff x="0" y="0"/>
            <a:chExt cx="5760085" cy="631825"/>
          </a:xfrm>
        </p:grpSpPr>
        <p:sp>
          <p:nvSpPr>
            <p:cNvPr id="8" name="object 8"/>
            <p:cNvSpPr/>
            <p:nvPr/>
          </p:nvSpPr>
          <p:spPr>
            <a:xfrm>
              <a:off x="0" y="0"/>
              <a:ext cx="5760085" cy="253365"/>
            </a:xfrm>
            <a:custGeom>
              <a:avLst/>
              <a:gdLst/>
              <a:ahLst/>
              <a:cxnLst/>
              <a:rect l="l" t="t" r="r" b="b"/>
              <a:pathLst>
                <a:path w="5760085" h="253365">
                  <a:moveTo>
                    <a:pt x="5759996" y="0"/>
                  </a:moveTo>
                  <a:lnTo>
                    <a:pt x="0" y="0"/>
                  </a:lnTo>
                  <a:lnTo>
                    <a:pt x="0" y="253047"/>
                  </a:lnTo>
                  <a:lnTo>
                    <a:pt x="5759996" y="25304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0" y="1250"/>
              <a:ext cx="839748" cy="630066"/>
            </a:xfrm>
            <a:prstGeom prst="rect">
              <a:avLst/>
            </a:prstGeom>
          </p:spPr>
        </p:pic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Kiểm</a:t>
            </a:r>
            <a:r>
              <a:rPr dirty="0" spc="45"/>
              <a:t> </a:t>
            </a:r>
            <a:r>
              <a:rPr dirty="0" spc="-45"/>
              <a:t>chứng</a:t>
            </a:r>
            <a:r>
              <a:rPr dirty="0" spc="50"/>
              <a:t> </a:t>
            </a:r>
            <a:r>
              <a:rPr dirty="0"/>
              <a:t>thực</a:t>
            </a:r>
            <a:r>
              <a:rPr dirty="0" spc="50"/>
              <a:t> </a:t>
            </a:r>
            <a:r>
              <a:rPr dirty="0" spc="-20"/>
              <a:t>nghiệm</a:t>
            </a:r>
            <a:r>
              <a:rPr dirty="0" spc="45"/>
              <a:t> </a:t>
            </a:r>
            <a:r>
              <a:rPr dirty="0" spc="75"/>
              <a:t>(Ví</a:t>
            </a:r>
            <a:r>
              <a:rPr dirty="0" spc="50"/>
              <a:t> </a:t>
            </a:r>
            <a:r>
              <a:rPr dirty="0"/>
              <a:t>dụ</a:t>
            </a:r>
            <a:r>
              <a:rPr dirty="0" spc="50"/>
              <a:t> 1)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15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89711" y="573003"/>
            <a:ext cx="107759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latin typeface="Arial"/>
                <a:cs typeface="Arial"/>
              </a:rPr>
              <a:t>1.</a:t>
            </a:r>
            <a:r>
              <a:rPr dirty="0" sz="1000" spc="4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Hàm</a:t>
            </a:r>
            <a:r>
              <a:rPr dirty="0" sz="1000" spc="40" b="1">
                <a:latin typeface="Arial"/>
                <a:cs typeface="Arial"/>
              </a:rPr>
              <a:t> </a:t>
            </a:r>
            <a:r>
              <a:rPr dirty="0" sz="1000" spc="-55" b="1">
                <a:latin typeface="Arial"/>
                <a:cs typeface="Arial"/>
              </a:rPr>
              <a:t>số</a:t>
            </a:r>
            <a:r>
              <a:rPr dirty="0" sz="1000" spc="40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cụ</a:t>
            </a:r>
            <a:r>
              <a:rPr dirty="0" sz="1000" spc="45" b="1">
                <a:latin typeface="Arial"/>
                <a:cs typeface="Arial"/>
              </a:rPr>
              <a:t> </a:t>
            </a:r>
            <a:r>
              <a:rPr dirty="0" sz="1000" spc="-20" b="1">
                <a:latin typeface="Arial"/>
                <a:cs typeface="Arial"/>
              </a:rPr>
              <a:t>thể: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02980" y="819736"/>
            <a:ext cx="577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 i="1">
                <a:latin typeface="Calibri"/>
                <a:cs typeface="Calibri"/>
              </a:rPr>
              <a:t>r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90841" y="762792"/>
            <a:ext cx="18192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64465" indent="-126364">
              <a:lnSpc>
                <a:spcPct val="100000"/>
              </a:lnSpc>
              <a:spcBef>
                <a:spcPts val="95"/>
              </a:spcBef>
              <a:buClr>
                <a:srgbClr val="2071B4"/>
              </a:buClr>
              <a:buFont typeface="DejaVu Sans Condensed"/>
              <a:buChar char="•"/>
              <a:tabLst>
                <a:tab pos="164465" algn="l"/>
              </a:tabLst>
            </a:pPr>
            <a:r>
              <a:rPr dirty="0" sz="1000" spc="-35">
                <a:latin typeface="Tahoma"/>
                <a:cs typeface="Tahoma"/>
              </a:rPr>
              <a:t>nhà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bán</a:t>
            </a:r>
            <a:r>
              <a:rPr dirty="0" sz="1000">
                <a:latin typeface="Tahoma"/>
                <a:cs typeface="Tahoma"/>
              </a:rPr>
              <a:t> lẻ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: </a:t>
            </a:r>
            <a:r>
              <a:rPr dirty="0" sz="1000" i="1">
                <a:latin typeface="Trebuchet MS"/>
                <a:cs typeface="Trebuchet MS"/>
              </a:rPr>
              <a:t>U</a:t>
            </a:r>
            <a:r>
              <a:rPr dirty="0" sz="1000" spc="50" i="1">
                <a:latin typeface="Trebuchet MS"/>
                <a:cs typeface="Trebuchet MS"/>
              </a:rPr>
              <a:t> </a:t>
            </a:r>
            <a:r>
              <a:rPr dirty="0" sz="1000" spc="-30">
                <a:latin typeface="Tahoma"/>
                <a:cs typeface="Tahoma"/>
              </a:rPr>
              <a:t>(</a:t>
            </a:r>
            <a:r>
              <a:rPr dirty="0" sz="1000" spc="-30" i="1">
                <a:latin typeface="Trebuchet MS"/>
                <a:cs typeface="Trebuchet MS"/>
              </a:rPr>
              <a:t>x</a:t>
            </a:r>
            <a:r>
              <a:rPr dirty="0" sz="1000" spc="-210" i="1">
                <a:latin typeface="Trebuchet MS"/>
                <a:cs typeface="Trebuchet MS"/>
              </a:rPr>
              <a:t> </a:t>
            </a:r>
            <a:r>
              <a:rPr dirty="0" sz="1000">
                <a:latin typeface="Tahoma"/>
                <a:cs typeface="Tahoma"/>
              </a:rPr>
              <a:t>)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1</a:t>
            </a:r>
            <a:r>
              <a:rPr dirty="0" sz="1000" spc="-95">
                <a:latin typeface="Tahoma"/>
                <a:cs typeface="Tahoma"/>
              </a:rPr>
              <a:t> </a:t>
            </a:r>
            <a:r>
              <a:rPr dirty="0" sz="1000" i="1">
                <a:latin typeface="DejaVu Sans Condensed"/>
                <a:cs typeface="DejaVu Sans Condensed"/>
              </a:rPr>
              <a:t>−</a:t>
            </a:r>
            <a:r>
              <a:rPr dirty="0" sz="1000" spc="-70" i="1">
                <a:latin typeface="DejaVu Sans Condensed"/>
                <a:cs typeface="DejaVu Sans Condensed"/>
              </a:rPr>
              <a:t> </a:t>
            </a:r>
            <a:r>
              <a:rPr dirty="0" sz="1000" spc="-20" i="1">
                <a:latin typeface="Trebuchet MS"/>
                <a:cs typeface="Trebuchet MS"/>
              </a:rPr>
              <a:t>e</a:t>
            </a:r>
            <a:r>
              <a:rPr dirty="0" baseline="27777" sz="1050" spc="-30" i="1">
                <a:latin typeface="DejaVu Serif"/>
                <a:cs typeface="DejaVu Serif"/>
              </a:rPr>
              <a:t>−</a:t>
            </a:r>
            <a:r>
              <a:rPr dirty="0" baseline="27777" sz="1050" spc="-30" b="0" i="1">
                <a:latin typeface="Bookman Old Style"/>
                <a:cs typeface="Bookman Old Style"/>
              </a:rPr>
              <a:t>α</a:t>
            </a:r>
            <a:r>
              <a:rPr dirty="0" baseline="27777" sz="1050" spc="-30" i="1">
                <a:latin typeface="Calibri"/>
                <a:cs typeface="Calibri"/>
              </a:rPr>
              <a:t>x</a:t>
            </a:r>
            <a:endParaRPr baseline="27777" sz="10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64311" y="914622"/>
            <a:ext cx="2069464" cy="556895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290830" indent="-126364">
              <a:lnSpc>
                <a:spcPct val="100000"/>
              </a:lnSpc>
              <a:spcBef>
                <a:spcPts val="395"/>
              </a:spcBef>
              <a:buClr>
                <a:srgbClr val="2071B4"/>
              </a:buClr>
              <a:buFont typeface="DejaVu Sans Condensed"/>
              <a:buChar char="•"/>
              <a:tabLst>
                <a:tab pos="290830" algn="l"/>
              </a:tabLst>
            </a:pPr>
            <a:r>
              <a:rPr dirty="0" sz="1000" spc="-35">
                <a:latin typeface="Tahoma"/>
                <a:cs typeface="Tahoma"/>
              </a:rPr>
              <a:t>nhà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sản</a:t>
            </a:r>
            <a:r>
              <a:rPr dirty="0" sz="1000" spc="1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xuất:</a:t>
            </a:r>
            <a:r>
              <a:rPr dirty="0" sz="1000" spc="15">
                <a:latin typeface="Tahoma"/>
                <a:cs typeface="Tahoma"/>
              </a:rPr>
              <a:t> </a:t>
            </a:r>
            <a:r>
              <a:rPr dirty="0" sz="1000" i="1">
                <a:latin typeface="Trebuchet MS"/>
                <a:cs typeface="Trebuchet MS"/>
              </a:rPr>
              <a:t>U</a:t>
            </a:r>
            <a:r>
              <a:rPr dirty="0" baseline="-11904" sz="1050" i="1">
                <a:latin typeface="Calibri"/>
                <a:cs typeface="Calibri"/>
              </a:rPr>
              <a:t>m</a:t>
            </a:r>
            <a:r>
              <a:rPr dirty="0" sz="1000">
                <a:latin typeface="Tahoma"/>
                <a:cs typeface="Tahoma"/>
              </a:rPr>
              <a:t>(</a:t>
            </a:r>
            <a:r>
              <a:rPr dirty="0" sz="1000" i="1">
                <a:latin typeface="Trebuchet MS"/>
                <a:cs typeface="Trebuchet MS"/>
              </a:rPr>
              <a:t>y</a:t>
            </a:r>
            <a:r>
              <a:rPr dirty="0" sz="1000" spc="-195" i="1">
                <a:latin typeface="Trebuchet MS"/>
                <a:cs typeface="Trebuchet MS"/>
              </a:rPr>
              <a:t> </a:t>
            </a:r>
            <a:r>
              <a:rPr dirty="0" sz="1000">
                <a:latin typeface="Tahoma"/>
                <a:cs typeface="Tahoma"/>
              </a:rPr>
              <a:t>)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50" i="1">
                <a:latin typeface="Trebuchet MS"/>
                <a:cs typeface="Trebuchet MS"/>
              </a:rPr>
              <a:t>y</a:t>
            </a:r>
            <a:endParaRPr sz="1000">
              <a:latin typeface="Trebuchet MS"/>
              <a:cs typeface="Trebuchet MS"/>
            </a:endParaRPr>
          </a:p>
          <a:p>
            <a:pPr marL="38100">
              <a:lnSpc>
                <a:spcPts val="1200"/>
              </a:lnSpc>
              <a:spcBef>
                <a:spcPts val="295"/>
              </a:spcBef>
            </a:pPr>
            <a:r>
              <a:rPr dirty="0" sz="1000" b="1">
                <a:latin typeface="Arial"/>
                <a:cs typeface="Arial"/>
              </a:rPr>
              <a:t>2.</a:t>
            </a:r>
            <a:r>
              <a:rPr dirty="0" sz="1000" spc="15" b="1">
                <a:latin typeface="Arial"/>
                <a:cs typeface="Arial"/>
              </a:rPr>
              <a:t> </a:t>
            </a:r>
            <a:r>
              <a:rPr dirty="0" sz="1000" spc="-60" b="1">
                <a:latin typeface="Arial"/>
                <a:cs typeface="Arial"/>
              </a:rPr>
              <a:t>Phương</a:t>
            </a:r>
            <a:r>
              <a:rPr dirty="0" sz="1000" spc="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trình</a:t>
            </a:r>
            <a:r>
              <a:rPr dirty="0" sz="1000" spc="15" b="1">
                <a:latin typeface="Arial"/>
                <a:cs typeface="Arial"/>
              </a:rPr>
              <a:t> </a:t>
            </a:r>
            <a:r>
              <a:rPr dirty="0" sz="1000" spc="-20" b="1">
                <a:latin typeface="Arial"/>
                <a:cs typeface="Arial"/>
              </a:rPr>
              <a:t>cân</a:t>
            </a:r>
            <a:r>
              <a:rPr dirty="0" sz="1000" spc="15" b="1">
                <a:latin typeface="Arial"/>
                <a:cs typeface="Arial"/>
              </a:rPr>
              <a:t> </a:t>
            </a:r>
            <a:r>
              <a:rPr dirty="0" sz="1000" spc="-35" b="1">
                <a:latin typeface="Arial"/>
                <a:cs typeface="Arial"/>
              </a:rPr>
              <a:t>bằng</a:t>
            </a:r>
            <a:r>
              <a:rPr dirty="0" sz="1000" spc="20" b="1">
                <a:latin typeface="Arial"/>
                <a:cs typeface="Arial"/>
              </a:rPr>
              <a:t> </a:t>
            </a:r>
            <a:r>
              <a:rPr dirty="0" sz="1000" spc="-50" b="1">
                <a:latin typeface="Arial"/>
                <a:cs typeface="Arial"/>
              </a:rPr>
              <a:t>:</a:t>
            </a:r>
            <a:endParaRPr sz="1000">
              <a:latin typeface="Arial"/>
              <a:cs typeface="Arial"/>
            </a:endParaRPr>
          </a:p>
          <a:p>
            <a:pPr marL="38100">
              <a:lnSpc>
                <a:spcPts val="1200"/>
              </a:lnSpc>
            </a:pPr>
            <a:r>
              <a:rPr dirty="0" sz="1000">
                <a:latin typeface="Tahoma"/>
                <a:cs typeface="Tahoma"/>
              </a:rPr>
              <a:t>Thay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vào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điều</a:t>
            </a:r>
            <a:r>
              <a:rPr dirty="0" sz="1000" spc="-25">
                <a:latin typeface="Tahoma"/>
                <a:cs typeface="Tahoma"/>
              </a:rPr>
              <a:t> kiện </a:t>
            </a:r>
            <a:r>
              <a:rPr dirty="0" sz="1000">
                <a:latin typeface="Tahoma"/>
                <a:cs typeface="Tahoma"/>
              </a:rPr>
              <a:t>FOC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ta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thu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được: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758314">
              <a:lnSpc>
                <a:spcPct val="100000"/>
              </a:lnSpc>
              <a:spcBef>
                <a:spcPts val="95"/>
              </a:spcBef>
              <a:tabLst>
                <a:tab pos="4466590" algn="l"/>
              </a:tabLst>
            </a:pPr>
            <a:r>
              <a:rPr dirty="0" spc="90">
                <a:latin typeface="Times New Roman"/>
                <a:cs typeface="Times New Roman"/>
              </a:rPr>
              <a:t>α</a:t>
            </a:r>
            <a:r>
              <a:rPr dirty="0" spc="90" i="0"/>
              <a:t>(∆</a:t>
            </a:r>
            <a:r>
              <a:rPr dirty="0" spc="90">
                <a:latin typeface="Times New Roman"/>
                <a:cs typeface="Times New Roman"/>
              </a:rPr>
              <a:t>π</a:t>
            </a:r>
            <a:r>
              <a:rPr dirty="0" spc="30">
                <a:latin typeface="Times New Roman"/>
                <a:cs typeface="Times New Roman"/>
              </a:rPr>
              <a:t> </a:t>
            </a:r>
            <a:r>
              <a:rPr dirty="0">
                <a:latin typeface="DejaVu Sans Condensed"/>
                <a:cs typeface="DejaVu Sans Condensed"/>
              </a:rPr>
              <a:t>−</a:t>
            </a:r>
            <a:r>
              <a:rPr dirty="0" spc="-45">
                <a:latin typeface="DejaVu Sans Condensed"/>
                <a:cs typeface="DejaVu Sans Condensed"/>
              </a:rPr>
              <a:t> </a:t>
            </a:r>
            <a:r>
              <a:rPr dirty="0" spc="-45">
                <a:latin typeface="Trebuchet MS"/>
                <a:cs typeface="Trebuchet MS"/>
              </a:rPr>
              <a:t>x</a:t>
            </a:r>
            <a:r>
              <a:rPr dirty="0" spc="-200">
                <a:latin typeface="Trebuchet MS"/>
                <a:cs typeface="Trebuchet MS"/>
              </a:rPr>
              <a:t> </a:t>
            </a:r>
            <a:r>
              <a:rPr dirty="0" i="0"/>
              <a:t>)</a:t>
            </a:r>
            <a:r>
              <a:rPr dirty="0" spc="-5" i="0"/>
              <a:t> </a:t>
            </a:r>
            <a:r>
              <a:rPr dirty="0" i="0"/>
              <a:t>=</a:t>
            </a:r>
            <a:r>
              <a:rPr dirty="0" spc="-10" i="0"/>
              <a:t> </a:t>
            </a:r>
            <a:r>
              <a:rPr dirty="0">
                <a:latin typeface="Trebuchet MS"/>
                <a:cs typeface="Trebuchet MS"/>
              </a:rPr>
              <a:t>e</a:t>
            </a:r>
            <a:r>
              <a:rPr dirty="0" baseline="31746" sz="1050" b="0">
                <a:latin typeface="Bookman Old Style"/>
                <a:cs typeface="Bookman Old Style"/>
              </a:rPr>
              <a:t>α</a:t>
            </a:r>
            <a:r>
              <a:rPr dirty="0" baseline="31746" sz="1050">
                <a:latin typeface="Calibri"/>
                <a:cs typeface="Calibri"/>
              </a:rPr>
              <a:t>x</a:t>
            </a:r>
            <a:r>
              <a:rPr dirty="0" baseline="31746" sz="1050" spc="307">
                <a:latin typeface="Calibri"/>
                <a:cs typeface="Calibri"/>
              </a:rPr>
              <a:t> </a:t>
            </a:r>
            <a:r>
              <a:rPr dirty="0" sz="1000">
                <a:latin typeface="DejaVu Sans Condensed"/>
                <a:cs typeface="DejaVu Sans Condensed"/>
              </a:rPr>
              <a:t>−</a:t>
            </a:r>
            <a:r>
              <a:rPr dirty="0" sz="1000" spc="-40">
                <a:latin typeface="DejaVu Sans Condensed"/>
                <a:cs typeface="DejaVu Sans Condensed"/>
              </a:rPr>
              <a:t> </a:t>
            </a:r>
            <a:r>
              <a:rPr dirty="0" sz="1000" spc="-50" i="0"/>
              <a:t>1</a:t>
            </a:r>
            <a:r>
              <a:rPr dirty="0" sz="1000" i="0"/>
              <a:t>	</a:t>
            </a:r>
            <a:r>
              <a:rPr dirty="0" sz="1000" spc="-25" i="0"/>
              <a:t>(9)</a:t>
            </a:r>
            <a:endParaRPr sz="1000">
              <a:latin typeface="DejaVu Sans Condensed"/>
              <a:cs typeface="DejaVu Sans Condensed"/>
            </a:endParaRPr>
          </a:p>
          <a:p>
            <a:pPr marL="204470" indent="-153670">
              <a:lnSpc>
                <a:spcPct val="100000"/>
              </a:lnSpc>
              <a:spcBef>
                <a:spcPts val="990"/>
              </a:spcBef>
              <a:buAutoNum type="arabicPeriod" startAt="3"/>
              <a:tabLst>
                <a:tab pos="204470" algn="l"/>
              </a:tabLst>
            </a:pPr>
            <a:r>
              <a:rPr dirty="0" b="1" i="0">
                <a:latin typeface="Arial"/>
                <a:cs typeface="Arial"/>
              </a:rPr>
              <a:t>Nhận</a:t>
            </a:r>
            <a:r>
              <a:rPr dirty="0" spc="-5" b="1" i="0">
                <a:latin typeface="Arial"/>
                <a:cs typeface="Arial"/>
              </a:rPr>
              <a:t> </a:t>
            </a:r>
            <a:r>
              <a:rPr dirty="0" spc="-20" b="1" i="0">
                <a:latin typeface="Arial"/>
                <a:cs typeface="Arial"/>
              </a:rPr>
              <a:t>xét:</a:t>
            </a:r>
          </a:p>
          <a:p>
            <a:pPr lvl="1" marL="303530" indent="-126364">
              <a:lnSpc>
                <a:spcPct val="100000"/>
              </a:lnSpc>
              <a:spcBef>
                <a:spcPts val="295"/>
              </a:spcBef>
              <a:buClr>
                <a:srgbClr val="2071B4"/>
              </a:buClr>
              <a:buFont typeface="DejaVu Sans Condensed"/>
              <a:buChar char="•"/>
              <a:tabLst>
                <a:tab pos="303530" algn="l"/>
              </a:tabLst>
            </a:pPr>
            <a:r>
              <a:rPr dirty="0" sz="1000" spc="-10">
                <a:latin typeface="Tahoma"/>
                <a:cs typeface="Tahoma"/>
              </a:rPr>
              <a:t>Đây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là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phương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trình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phi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tuyến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.</a:t>
            </a:r>
            <a:endParaRPr sz="1000">
              <a:latin typeface="Tahoma"/>
              <a:cs typeface="Tahoma"/>
            </a:endParaRPr>
          </a:p>
          <a:p>
            <a:pPr lvl="1" marL="303530" indent="-126364">
              <a:lnSpc>
                <a:spcPct val="100000"/>
              </a:lnSpc>
              <a:spcBef>
                <a:spcPts val="295"/>
              </a:spcBef>
              <a:buClr>
                <a:srgbClr val="2071B4"/>
              </a:buClr>
              <a:buFont typeface="DejaVu Sans Condensed"/>
              <a:buChar char="•"/>
              <a:tabLst>
                <a:tab pos="303530" algn="l"/>
              </a:tabLst>
            </a:pPr>
            <a:r>
              <a:rPr dirty="0" sz="1000">
                <a:latin typeface="Tahoma"/>
                <a:cs typeface="Tahoma"/>
              </a:rPr>
              <a:t>Khi</a:t>
            </a:r>
            <a:r>
              <a:rPr dirty="0" sz="1000" spc="-80">
                <a:latin typeface="Tahoma"/>
                <a:cs typeface="Tahoma"/>
              </a:rPr>
              <a:t> </a:t>
            </a:r>
            <a:r>
              <a:rPr dirty="0" sz="1000" spc="110" i="1">
                <a:latin typeface="Times New Roman"/>
                <a:cs typeface="Times New Roman"/>
              </a:rPr>
              <a:t>α</a:t>
            </a:r>
            <a:r>
              <a:rPr dirty="0" sz="1000" spc="-20" i="1">
                <a:latin typeface="Times New Roman"/>
                <a:cs typeface="Times New Roman"/>
              </a:rPr>
              <a:t> </a:t>
            </a:r>
            <a:r>
              <a:rPr dirty="0" sz="1000" spc="-254" i="1">
                <a:latin typeface="DejaVu Sans Condensed"/>
                <a:cs typeface="DejaVu Sans Condensed"/>
              </a:rPr>
              <a:t>↑</a:t>
            </a:r>
            <a:r>
              <a:rPr dirty="0" sz="1000" spc="45" i="1">
                <a:latin typeface="DejaVu Sans Condensed"/>
                <a:cs typeface="DejaVu Sans Condensed"/>
              </a:rPr>
              <a:t> </a:t>
            </a:r>
            <a:r>
              <a:rPr dirty="0" sz="1000">
                <a:latin typeface="Tahoma"/>
                <a:cs typeface="Tahoma"/>
              </a:rPr>
              <a:t>(Sợ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rủi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ro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hơn)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240" i="1">
                <a:latin typeface="DejaVu Sans Condensed"/>
                <a:cs typeface="DejaVu Sans Condensed"/>
              </a:rPr>
              <a:t>⇒</a:t>
            </a:r>
            <a:r>
              <a:rPr dirty="0" sz="1000" spc="5" i="1">
                <a:latin typeface="DejaVu Sans Condensed"/>
                <a:cs typeface="DejaVu Sans Condensed"/>
              </a:rPr>
              <a:t> </a:t>
            </a:r>
            <a:r>
              <a:rPr dirty="0" sz="1000">
                <a:latin typeface="Tahoma"/>
                <a:cs typeface="Tahoma"/>
              </a:rPr>
              <a:t>Vế</a:t>
            </a:r>
            <a:r>
              <a:rPr dirty="0" sz="1000" spc="-20">
                <a:latin typeface="Tahoma"/>
                <a:cs typeface="Tahoma"/>
              </a:rPr>
              <a:t> phải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tăng </a:t>
            </a:r>
            <a:r>
              <a:rPr dirty="0" sz="1000" spc="240" i="1">
                <a:latin typeface="DejaVu Sans Condensed"/>
                <a:cs typeface="DejaVu Sans Condensed"/>
              </a:rPr>
              <a:t>⇒</a:t>
            </a:r>
            <a:r>
              <a:rPr dirty="0" sz="1000" spc="10" i="1">
                <a:latin typeface="DejaVu Sans Condensed"/>
                <a:cs typeface="DejaVu Sans Condensed"/>
              </a:rPr>
              <a:t> </a:t>
            </a:r>
            <a:r>
              <a:rPr dirty="0" sz="1000" i="1">
                <a:latin typeface="Trebuchet MS"/>
                <a:cs typeface="Trebuchet MS"/>
              </a:rPr>
              <a:t>x</a:t>
            </a:r>
            <a:r>
              <a:rPr dirty="0" sz="1000" spc="70" i="1">
                <a:latin typeface="Trebuchet MS"/>
                <a:cs typeface="Trebuchet MS"/>
              </a:rPr>
              <a:t> </a:t>
            </a:r>
            <a:r>
              <a:rPr dirty="0" sz="1000" spc="-20">
                <a:latin typeface="Tahoma"/>
                <a:cs typeface="Tahoma"/>
              </a:rPr>
              <a:t>buộc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phải giảm </a:t>
            </a:r>
            <a:r>
              <a:rPr dirty="0" sz="1000" spc="-90">
                <a:latin typeface="Tahoma"/>
                <a:cs typeface="Tahoma"/>
              </a:rPr>
              <a:t>(</a:t>
            </a:r>
            <a:r>
              <a:rPr dirty="0" sz="1000" spc="-90" i="1">
                <a:latin typeface="DejaVu Sans Condensed"/>
                <a:cs typeface="DejaVu Sans Condensed"/>
              </a:rPr>
              <a:t>↓</a:t>
            </a:r>
            <a:r>
              <a:rPr dirty="0" sz="1000" spc="-90">
                <a:latin typeface="Tahoma"/>
                <a:cs typeface="Tahoma"/>
              </a:rPr>
              <a:t>)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để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cân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bằng.</a:t>
            </a:r>
            <a:endParaRPr sz="1000">
              <a:latin typeface="Tahoma"/>
              <a:cs typeface="Tahoma"/>
            </a:endParaRPr>
          </a:p>
          <a:p>
            <a:pPr lvl="1" marL="303530" indent="-126364">
              <a:lnSpc>
                <a:spcPct val="100000"/>
              </a:lnSpc>
              <a:spcBef>
                <a:spcPts val="295"/>
              </a:spcBef>
              <a:buClr>
                <a:srgbClr val="2071B4"/>
              </a:buClr>
              <a:buFont typeface="DejaVu Sans Condensed"/>
              <a:buChar char="•"/>
              <a:tabLst>
                <a:tab pos="303530" algn="l"/>
              </a:tabLst>
            </a:pPr>
            <a:r>
              <a:rPr dirty="0" sz="1000" b="1">
                <a:latin typeface="Arial"/>
                <a:cs typeface="Arial"/>
              </a:rPr>
              <a:t>Kết</a:t>
            </a:r>
            <a:r>
              <a:rPr dirty="0" sz="1000" spc="45" b="1">
                <a:latin typeface="Arial"/>
                <a:cs typeface="Arial"/>
              </a:rPr>
              <a:t> </a:t>
            </a:r>
            <a:r>
              <a:rPr dirty="0" sz="1000" spc="-25" b="1">
                <a:latin typeface="Arial"/>
                <a:cs typeface="Arial"/>
              </a:rPr>
              <a:t>luận:</a:t>
            </a:r>
            <a:r>
              <a:rPr dirty="0" sz="1000" spc="25" b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Xác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nhận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60">
                <a:latin typeface="Tahoma"/>
                <a:cs typeface="Tahoma"/>
              </a:rPr>
              <a:t>mệnh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đề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7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đúng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trong </a:t>
            </a:r>
            <a:r>
              <a:rPr dirty="0" sz="1000">
                <a:latin typeface="Tahoma"/>
                <a:cs typeface="Tahoma"/>
              </a:rPr>
              <a:t>tính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toán </a:t>
            </a:r>
            <a:r>
              <a:rPr dirty="0" sz="1000" spc="-25">
                <a:latin typeface="Tahoma"/>
                <a:cs typeface="Tahoma"/>
              </a:rPr>
              <a:t>số.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2534" y="359958"/>
            <a:ext cx="397510" cy="6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480"/>
              </a:lnSpc>
            </a:pPr>
            <a:r>
              <a:rPr dirty="0" sz="500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Mô</a:t>
            </a:r>
            <a:r>
              <a:rPr dirty="0" sz="500" spc="40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hình</a:t>
            </a:r>
            <a:r>
              <a:rPr dirty="0" sz="500" spc="45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-30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Nash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260" y="680081"/>
            <a:ext cx="66929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Tổng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quan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và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Mô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spc="-2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hình</a:t>
            </a:r>
            <a:r>
              <a:rPr dirty="0" sz="500" spc="50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spc="-20">
                <a:solidFill>
                  <a:srgbClr val="9DBDD8"/>
                </a:solidFill>
                <a:latin typeface="Arial"/>
                <a:cs typeface="Arial"/>
                <a:hlinkClick r:id="rId3" action="ppaction://hlinksldjump"/>
              </a:rPr>
              <a:t>Nash</a:t>
            </a:r>
            <a:endParaRPr sz="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260" y="893771"/>
            <a:ext cx="771525" cy="365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Trường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hợp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1:</a:t>
            </a:r>
            <a:r>
              <a:rPr dirty="0" sz="500" spc="7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Thái</a:t>
            </a:r>
            <a:r>
              <a:rPr dirty="0" sz="500" spc="2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độ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 spc="-2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rủi</a:t>
            </a:r>
            <a:r>
              <a:rPr dirty="0" sz="500" spc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ro</a:t>
            </a:r>
            <a:r>
              <a:rPr dirty="0" sz="500" spc="1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tương</a:t>
            </a:r>
            <a:r>
              <a:rPr dirty="0" sz="500" spc="15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 spc="-20">
                <a:solidFill>
                  <a:srgbClr val="9DBDD8"/>
                </a:solidFill>
                <a:latin typeface="Arial"/>
                <a:cs typeface="Arial"/>
                <a:hlinkClick r:id="rId4" action="ppaction://hlinksldjump"/>
              </a:rPr>
              <a:t>đồng</a:t>
            </a:r>
            <a:endParaRPr sz="500">
              <a:latin typeface="Arial"/>
              <a:cs typeface="Arial"/>
            </a:endParaRPr>
          </a:p>
          <a:p>
            <a:pPr marL="37465" marR="244475">
              <a:lnSpc>
                <a:spcPct val="152200"/>
              </a:lnSpc>
              <a:spcBef>
                <a:spcPts val="15"/>
              </a:spcBef>
            </a:pP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Thiết</a:t>
            </a:r>
            <a:r>
              <a:rPr dirty="0" sz="400" spc="2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lập</a:t>
            </a:r>
            <a:r>
              <a:rPr dirty="0" sz="400" spc="25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mô</a:t>
            </a:r>
            <a:r>
              <a:rPr dirty="0" sz="400" spc="3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400" spc="-20">
                <a:solidFill>
                  <a:srgbClr val="909090"/>
                </a:solidFill>
                <a:latin typeface="Arial"/>
                <a:cs typeface="Arial"/>
                <a:hlinkClick r:id="rId5" action="ppaction://hlinksldjump"/>
              </a:rPr>
              <a:t>hình</a:t>
            </a:r>
            <a:r>
              <a:rPr dirty="0" sz="400" spc="500">
                <a:solidFill>
                  <a:srgbClr val="909090"/>
                </a:solidFill>
                <a:latin typeface="Arial"/>
                <a:cs typeface="Arial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Giải</a:t>
            </a:r>
            <a:r>
              <a:rPr dirty="0" sz="400" spc="5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pháp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và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Kết</a:t>
            </a:r>
            <a:r>
              <a:rPr dirty="0" sz="400" spc="5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400" spc="-25">
                <a:solidFill>
                  <a:srgbClr val="909090"/>
                </a:solidFill>
                <a:latin typeface="Arial"/>
                <a:cs typeface="Arial"/>
                <a:hlinkClick r:id="rId6" action="ppaction://hlinksldjump"/>
              </a:rPr>
              <a:t>quả</a:t>
            </a:r>
            <a:endParaRPr sz="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260" y="1293046"/>
            <a:ext cx="663575" cy="45783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Trường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hợp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2:</a:t>
            </a:r>
            <a:r>
              <a:rPr dirty="0" sz="500" spc="7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Bất</a:t>
            </a:r>
            <a:r>
              <a:rPr dirty="0" sz="500" spc="2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spc="-2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đối</a:t>
            </a:r>
            <a:r>
              <a:rPr dirty="0" sz="500" spc="50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spc="-1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xứng</a:t>
            </a:r>
            <a:r>
              <a:rPr dirty="0" sz="500" spc="1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(Thực</a:t>
            </a:r>
            <a:r>
              <a:rPr dirty="0" sz="500" spc="1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spc="-25">
                <a:solidFill>
                  <a:srgbClr val="9DBDD8"/>
                </a:solidFill>
                <a:latin typeface="Arial"/>
                <a:cs typeface="Arial"/>
                <a:hlinkClick r:id="rId7" action="ppaction://hlinksldjump"/>
              </a:rPr>
              <a:t>tế)</a:t>
            </a:r>
            <a:endParaRPr sz="500">
              <a:latin typeface="Arial"/>
              <a:cs typeface="Arial"/>
            </a:endParaRPr>
          </a:p>
          <a:p>
            <a:pPr marL="37465" marR="52705">
              <a:lnSpc>
                <a:spcPct val="152200"/>
              </a:lnSpc>
              <a:spcBef>
                <a:spcPts val="15"/>
              </a:spcBef>
            </a:pP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Giả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định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và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Bài</a:t>
            </a:r>
            <a:r>
              <a:rPr dirty="0" sz="400" spc="1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400" spc="-20">
                <a:solidFill>
                  <a:srgbClr val="909090"/>
                </a:solidFill>
                <a:latin typeface="Arial"/>
                <a:cs typeface="Arial"/>
                <a:hlinkClick r:id="rId8" action="ppaction://hlinksldjump"/>
              </a:rPr>
              <a:t>toán</a:t>
            </a:r>
            <a:r>
              <a:rPr dirty="0" sz="400" spc="500">
                <a:solidFill>
                  <a:srgbClr val="909090"/>
                </a:solidFill>
                <a:latin typeface="Arial"/>
                <a:cs typeface="Arial"/>
              </a:rPr>
              <a:t> </a:t>
            </a:r>
            <a:r>
              <a:rPr dirty="0" sz="400" spc="-10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Chứng</a:t>
            </a:r>
            <a:r>
              <a:rPr dirty="0" sz="400" spc="-5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minh </a:t>
            </a:r>
            <a:r>
              <a:rPr dirty="0" sz="400" spc="-10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mệnh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 đề </a:t>
            </a:r>
            <a:r>
              <a:rPr dirty="0" sz="400" spc="-50">
                <a:solidFill>
                  <a:srgbClr val="909090"/>
                </a:solidFill>
                <a:latin typeface="Arial"/>
                <a:cs typeface="Arial"/>
                <a:hlinkClick r:id="rId9" action="ppaction://hlinksldjump"/>
              </a:rPr>
              <a:t>7</a:t>
            </a:r>
            <a:r>
              <a:rPr dirty="0" sz="400" spc="500">
                <a:solidFill>
                  <a:srgbClr val="909090"/>
                </a:solidFill>
                <a:latin typeface="Arial"/>
                <a:cs typeface="Arial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Kiểm</a:t>
            </a:r>
            <a:r>
              <a:rPr dirty="0" sz="400" spc="-5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400" spc="-10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chứng</a:t>
            </a:r>
            <a:r>
              <a:rPr dirty="0" sz="400" spc="5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400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thực</a:t>
            </a:r>
            <a:r>
              <a:rPr dirty="0" sz="400" spc="5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400" spc="-10">
                <a:solidFill>
                  <a:srgbClr val="909090"/>
                </a:solidFill>
                <a:latin typeface="Arial"/>
                <a:cs typeface="Arial"/>
                <a:hlinkClick r:id="rId10" action="ppaction://hlinksldjump"/>
              </a:rPr>
              <a:t>nghiệm</a:t>
            </a:r>
            <a:endParaRPr sz="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260" y="1785120"/>
            <a:ext cx="26670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solidFill>
                  <a:srgbClr val="2071B4"/>
                </a:solidFill>
                <a:latin typeface="Arial"/>
                <a:cs typeface="Arial"/>
                <a:hlinkClick r:id="rId11" action="ppaction://hlinksldjump"/>
              </a:rPr>
              <a:t>Kết</a:t>
            </a:r>
            <a:r>
              <a:rPr dirty="0" sz="500" spc="60">
                <a:solidFill>
                  <a:srgbClr val="2071B4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dirty="0" sz="500" spc="-20">
                <a:solidFill>
                  <a:srgbClr val="2071B4"/>
                </a:solidFill>
                <a:latin typeface="Arial"/>
                <a:cs typeface="Arial"/>
                <a:hlinkClick r:id="rId11" action="ppaction://hlinksldjump"/>
              </a:rPr>
              <a:t>luận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0"/>
            <a:ext cx="5760085" cy="631825"/>
            <a:chOff x="0" y="0"/>
            <a:chExt cx="5760085" cy="631825"/>
          </a:xfrm>
        </p:grpSpPr>
        <p:sp>
          <p:nvSpPr>
            <p:cNvPr id="8" name="object 8"/>
            <p:cNvSpPr/>
            <p:nvPr/>
          </p:nvSpPr>
          <p:spPr>
            <a:xfrm>
              <a:off x="0" y="0"/>
              <a:ext cx="5760085" cy="253365"/>
            </a:xfrm>
            <a:custGeom>
              <a:avLst/>
              <a:gdLst/>
              <a:ahLst/>
              <a:cxnLst/>
              <a:rect l="l" t="t" r="r" b="b"/>
              <a:pathLst>
                <a:path w="5760085" h="253365">
                  <a:moveTo>
                    <a:pt x="5759996" y="0"/>
                  </a:moveTo>
                  <a:lnTo>
                    <a:pt x="0" y="0"/>
                  </a:lnTo>
                  <a:lnTo>
                    <a:pt x="0" y="253047"/>
                  </a:lnTo>
                  <a:lnTo>
                    <a:pt x="5759996" y="25304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0" y="1250"/>
              <a:ext cx="839748" cy="630066"/>
            </a:xfrm>
            <a:prstGeom prst="rect">
              <a:avLst/>
            </a:prstGeom>
          </p:spPr>
        </p:pic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50"/>
              <a:t>Kết</a:t>
            </a:r>
            <a:r>
              <a:rPr dirty="0" spc="85"/>
              <a:t> </a:t>
            </a:r>
            <a:r>
              <a:rPr dirty="0"/>
              <a:t>luận</a:t>
            </a:r>
            <a:r>
              <a:rPr dirty="0" spc="85"/>
              <a:t> </a:t>
            </a:r>
            <a:r>
              <a:rPr dirty="0" spc="170"/>
              <a:t>&amp;</a:t>
            </a:r>
            <a:r>
              <a:rPr dirty="0" spc="85"/>
              <a:t> </a:t>
            </a:r>
            <a:r>
              <a:rPr dirty="0"/>
              <a:t>Hàm</a:t>
            </a:r>
            <a:r>
              <a:rPr dirty="0" spc="85"/>
              <a:t> </a:t>
            </a:r>
            <a:r>
              <a:rPr dirty="0"/>
              <a:t>ý</a:t>
            </a:r>
            <a:r>
              <a:rPr dirty="0" spc="85"/>
              <a:t> </a:t>
            </a:r>
            <a:r>
              <a:rPr dirty="0"/>
              <a:t>quản</a:t>
            </a:r>
            <a:r>
              <a:rPr dirty="0" spc="90"/>
              <a:t> </a:t>
            </a:r>
            <a:r>
              <a:rPr dirty="0" spc="-25"/>
              <a:t>trị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090841" y="728705"/>
            <a:ext cx="4299585" cy="4813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64465" indent="-126364">
              <a:lnSpc>
                <a:spcPts val="1200"/>
              </a:lnSpc>
              <a:spcBef>
                <a:spcPts val="95"/>
              </a:spcBef>
              <a:buClr>
                <a:srgbClr val="2071B4"/>
              </a:buClr>
              <a:buFont typeface="DejaVu Sans Condensed"/>
              <a:buChar char="•"/>
              <a:tabLst>
                <a:tab pos="164465" algn="l"/>
              </a:tabLst>
            </a:pPr>
            <a:r>
              <a:rPr dirty="0" sz="1000" b="1">
                <a:latin typeface="Arial"/>
                <a:cs typeface="Arial"/>
              </a:rPr>
              <a:t>Phần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bù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rủi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ro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(Risk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Premium):</a:t>
            </a:r>
            <a:endParaRPr sz="1000">
              <a:latin typeface="Arial"/>
              <a:cs typeface="Arial"/>
            </a:endParaRPr>
          </a:p>
          <a:p>
            <a:pPr marL="164465" marR="30480">
              <a:lnSpc>
                <a:spcPts val="1200"/>
              </a:lnSpc>
              <a:spcBef>
                <a:spcPts val="40"/>
              </a:spcBef>
            </a:pPr>
            <a:r>
              <a:rPr dirty="0" sz="1000" spc="-40">
                <a:latin typeface="Tahoma"/>
                <a:cs typeface="Tahoma"/>
              </a:rPr>
              <a:t>Chênh </a:t>
            </a:r>
            <a:r>
              <a:rPr dirty="0" sz="1000" spc="-20">
                <a:latin typeface="Tahoma"/>
                <a:cs typeface="Tahoma"/>
              </a:rPr>
              <a:t>lệch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lợi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nhuận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75">
                <a:latin typeface="Tahoma"/>
                <a:cs typeface="Tahoma"/>
              </a:rPr>
              <a:t>(∆</a:t>
            </a:r>
            <a:r>
              <a:rPr dirty="0" sz="1000" spc="75" i="1">
                <a:latin typeface="Times New Roman"/>
                <a:cs typeface="Times New Roman"/>
              </a:rPr>
              <a:t>π</a:t>
            </a:r>
            <a:r>
              <a:rPr dirty="0" baseline="-11904" sz="1050" spc="112" i="1">
                <a:latin typeface="Calibri"/>
                <a:cs typeface="Calibri"/>
              </a:rPr>
              <a:t>m</a:t>
            </a:r>
            <a:r>
              <a:rPr dirty="0" baseline="-11904" sz="1050" spc="135" i="1">
                <a:latin typeface="Calibri"/>
                <a:cs typeface="Calibri"/>
              </a:rPr>
              <a:t> </a:t>
            </a:r>
            <a:r>
              <a:rPr dirty="0" sz="1000" i="1">
                <a:latin typeface="DejaVu Sans Condensed"/>
                <a:cs typeface="DejaVu Sans Condensed"/>
              </a:rPr>
              <a:t>−</a:t>
            </a:r>
            <a:r>
              <a:rPr dirty="0" sz="1000" spc="-75" i="1">
                <a:latin typeface="DejaVu Sans Condensed"/>
                <a:cs typeface="DejaVu Sans Condensed"/>
              </a:rPr>
              <a:t> </a:t>
            </a:r>
            <a:r>
              <a:rPr dirty="0" sz="1000" spc="90">
                <a:latin typeface="Tahoma"/>
                <a:cs typeface="Tahoma"/>
              </a:rPr>
              <a:t>∆</a:t>
            </a:r>
            <a:r>
              <a:rPr dirty="0" sz="1000" spc="90" i="1">
                <a:latin typeface="Times New Roman"/>
                <a:cs typeface="Times New Roman"/>
              </a:rPr>
              <a:t>π</a:t>
            </a:r>
            <a:r>
              <a:rPr dirty="0" baseline="-11904" sz="1050" spc="135" i="1">
                <a:latin typeface="Calibri"/>
                <a:cs typeface="Calibri"/>
              </a:rPr>
              <a:t>r</a:t>
            </a:r>
            <a:r>
              <a:rPr dirty="0" baseline="-11904" sz="1050" spc="-60" i="1">
                <a:latin typeface="Calibri"/>
                <a:cs typeface="Calibri"/>
              </a:rPr>
              <a:t> </a:t>
            </a:r>
            <a:r>
              <a:rPr dirty="0" sz="1000">
                <a:latin typeface="Tahoma"/>
                <a:cs typeface="Tahoma"/>
              </a:rPr>
              <a:t>)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là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chi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phí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Nhà</a:t>
            </a:r>
            <a:r>
              <a:rPr dirty="0" sz="1000" spc="-25">
                <a:latin typeface="Tahoma"/>
                <a:cs typeface="Tahoma"/>
              </a:rPr>
              <a:t> bán </a:t>
            </a:r>
            <a:r>
              <a:rPr dirty="0" sz="1000">
                <a:latin typeface="Tahoma"/>
                <a:cs typeface="Tahoma"/>
              </a:rPr>
              <a:t>lẻ</a:t>
            </a:r>
            <a:r>
              <a:rPr dirty="0" sz="1000" spc="-30">
                <a:latin typeface="Tahoma"/>
                <a:cs typeface="Tahoma"/>
              </a:rPr>
              <a:t> chấp </a:t>
            </a:r>
            <a:r>
              <a:rPr dirty="0" sz="1000" spc="-50">
                <a:latin typeface="Tahoma"/>
                <a:cs typeface="Tahoma"/>
              </a:rPr>
              <a:t>nhận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giảm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lợi </a:t>
            </a:r>
            <a:r>
              <a:rPr dirty="0" sz="1000" spc="-45">
                <a:latin typeface="Tahoma"/>
                <a:cs typeface="Tahoma"/>
              </a:rPr>
              <a:t>nhuận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để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đổi</a:t>
            </a:r>
            <a:r>
              <a:rPr dirty="0" sz="1000" spc="-6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lấy</a:t>
            </a:r>
            <a:r>
              <a:rPr dirty="0" sz="1000" spc="-65">
                <a:latin typeface="Tahoma"/>
                <a:cs typeface="Tahoma"/>
              </a:rPr>
              <a:t> </a:t>
            </a:r>
            <a:r>
              <a:rPr dirty="0" sz="1000" spc="-60">
                <a:latin typeface="Tahoma"/>
                <a:cs typeface="Tahoma"/>
              </a:rPr>
              <a:t>sự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an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toàn.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358677" y="1632717"/>
            <a:ext cx="94615" cy="233679"/>
            <a:chOff x="1358677" y="1632717"/>
            <a:chExt cx="94615" cy="233679"/>
          </a:xfrm>
        </p:grpSpPr>
        <p:pic>
          <p:nvPicPr>
            <p:cNvPr id="13" name="object 1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58677" y="1632717"/>
              <a:ext cx="94449" cy="9445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358677" y="1771883"/>
              <a:ext cx="94449" cy="9445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116241" y="1377618"/>
            <a:ext cx="4477385" cy="64579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39065" indent="-126364">
              <a:lnSpc>
                <a:spcPct val="100000"/>
              </a:lnSpc>
              <a:spcBef>
                <a:spcPts val="315"/>
              </a:spcBef>
              <a:buClr>
                <a:srgbClr val="2071B4"/>
              </a:buClr>
              <a:buFont typeface="DejaVu Sans Condensed"/>
              <a:buChar char="•"/>
              <a:tabLst>
                <a:tab pos="139065" algn="l"/>
              </a:tabLst>
            </a:pPr>
            <a:r>
              <a:rPr dirty="0" sz="1000" b="1">
                <a:latin typeface="Arial"/>
                <a:cs typeface="Arial"/>
              </a:rPr>
              <a:t>Vai</a:t>
            </a:r>
            <a:r>
              <a:rPr dirty="0" sz="1000" spc="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trò</a:t>
            </a:r>
            <a:r>
              <a:rPr dirty="0" sz="1000" spc="5" b="1">
                <a:latin typeface="Arial"/>
                <a:cs typeface="Arial"/>
              </a:rPr>
              <a:t> </a:t>
            </a:r>
            <a:r>
              <a:rPr dirty="0" sz="1000" spc="-20" b="1">
                <a:latin typeface="Arial"/>
                <a:cs typeface="Arial"/>
              </a:rPr>
              <a:t>kép</a:t>
            </a:r>
            <a:r>
              <a:rPr dirty="0" sz="1000" spc="5" b="1">
                <a:latin typeface="Arial"/>
                <a:cs typeface="Arial"/>
              </a:rPr>
              <a:t> </a:t>
            </a:r>
            <a:r>
              <a:rPr dirty="0" sz="1000" spc="-20" b="1">
                <a:latin typeface="Arial"/>
                <a:cs typeface="Arial"/>
              </a:rPr>
              <a:t>của</a:t>
            </a:r>
            <a:r>
              <a:rPr dirty="0" sz="1000" spc="5" b="1">
                <a:latin typeface="Arial"/>
                <a:cs typeface="Arial"/>
              </a:rPr>
              <a:t> </a:t>
            </a:r>
            <a:r>
              <a:rPr dirty="0" sz="1000" spc="-20" b="1">
                <a:latin typeface="Arial"/>
                <a:cs typeface="Arial"/>
              </a:rPr>
              <a:t>Hợp</a:t>
            </a:r>
            <a:r>
              <a:rPr dirty="0" sz="1000" spc="5" b="1">
                <a:latin typeface="Arial"/>
                <a:cs typeface="Arial"/>
              </a:rPr>
              <a:t> </a:t>
            </a:r>
            <a:r>
              <a:rPr dirty="0" sz="1000" spc="-40" b="1">
                <a:latin typeface="Arial"/>
                <a:cs typeface="Arial"/>
              </a:rPr>
              <a:t>đồng</a:t>
            </a:r>
            <a:r>
              <a:rPr dirty="0" sz="1000" spc="5" b="1">
                <a:latin typeface="Arial"/>
                <a:cs typeface="Arial"/>
              </a:rPr>
              <a:t> </a:t>
            </a:r>
            <a:r>
              <a:rPr dirty="0" sz="1000" spc="-30" b="1">
                <a:latin typeface="Arial"/>
                <a:cs typeface="Arial"/>
              </a:rPr>
              <a:t>Quyền</a:t>
            </a:r>
            <a:r>
              <a:rPr dirty="0" sz="1000" spc="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chọn:</a:t>
            </a:r>
            <a:endParaRPr sz="1000">
              <a:latin typeface="Arial"/>
              <a:cs typeface="Arial"/>
            </a:endParaRPr>
          </a:p>
          <a:p>
            <a:pPr lvl="1" marL="393700" indent="-127635">
              <a:lnSpc>
                <a:spcPct val="100000"/>
              </a:lnSpc>
              <a:spcBef>
                <a:spcPts val="195"/>
              </a:spcBef>
              <a:buClr>
                <a:srgbClr val="FFFFFF"/>
              </a:buClr>
              <a:buSzPct val="77777"/>
              <a:buFont typeface="Arial"/>
              <a:buAutoNum type="arabicPlain"/>
              <a:tabLst>
                <a:tab pos="393700" algn="l"/>
              </a:tabLst>
            </a:pPr>
            <a:r>
              <a:rPr dirty="0" sz="900" b="1">
                <a:latin typeface="Arial"/>
                <a:cs typeface="Arial"/>
              </a:rPr>
              <a:t>Phối</a:t>
            </a:r>
            <a:r>
              <a:rPr dirty="0" sz="900" spc="15" b="1">
                <a:latin typeface="Arial"/>
                <a:cs typeface="Arial"/>
              </a:rPr>
              <a:t> </a:t>
            </a:r>
            <a:r>
              <a:rPr dirty="0" sz="900" spc="-65" b="1">
                <a:latin typeface="Arial"/>
                <a:cs typeface="Arial"/>
              </a:rPr>
              <a:t>hợp</a:t>
            </a:r>
            <a:r>
              <a:rPr dirty="0" sz="900" spc="1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:</a:t>
            </a:r>
            <a:r>
              <a:rPr dirty="0" sz="900" spc="-5" b="1">
                <a:latin typeface="Arial"/>
                <a:cs typeface="Arial"/>
              </a:rPr>
              <a:t> </a:t>
            </a:r>
            <a:r>
              <a:rPr dirty="0" sz="900">
                <a:latin typeface="Tahoma"/>
                <a:cs typeface="Tahoma"/>
              </a:rPr>
              <a:t>Tối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ưu</a:t>
            </a:r>
            <a:r>
              <a:rPr dirty="0" sz="900" spc="-3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hóa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sản</a:t>
            </a:r>
            <a:r>
              <a:rPr dirty="0" sz="900" spc="-35">
                <a:latin typeface="Tahoma"/>
                <a:cs typeface="Tahoma"/>
              </a:rPr>
              <a:t> </a:t>
            </a:r>
            <a:r>
              <a:rPr dirty="0" sz="900" spc="-30">
                <a:latin typeface="Tahoma"/>
                <a:cs typeface="Tahoma"/>
              </a:rPr>
              <a:t>lượng </a:t>
            </a:r>
            <a:r>
              <a:rPr dirty="0" sz="900">
                <a:latin typeface="Tahoma"/>
                <a:cs typeface="Tahoma"/>
              </a:rPr>
              <a:t>toàn</a:t>
            </a:r>
            <a:r>
              <a:rPr dirty="0" sz="900" spc="-3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hệ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thống.</a:t>
            </a:r>
            <a:endParaRPr sz="900">
              <a:latin typeface="Tahoma"/>
              <a:cs typeface="Tahoma"/>
            </a:endParaRPr>
          </a:p>
          <a:p>
            <a:pPr lvl="1" marL="391795" marR="5080" indent="-126364">
              <a:lnSpc>
                <a:spcPct val="101499"/>
              </a:lnSpc>
              <a:buSzPct val="77777"/>
              <a:buFont typeface="Arial"/>
              <a:buAutoNum type="arabicPlain"/>
              <a:tabLst>
                <a:tab pos="391795" algn="l"/>
                <a:tab pos="393065" algn="l"/>
              </a:tabLst>
            </a:pPr>
            <a:r>
              <a:rPr dirty="0" sz="9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900" b="1">
                <a:latin typeface="Arial"/>
                <a:cs typeface="Arial"/>
              </a:rPr>
              <a:t>Phân</a:t>
            </a:r>
            <a:r>
              <a:rPr dirty="0" sz="900" spc="-1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bổ</a:t>
            </a:r>
            <a:r>
              <a:rPr dirty="0" sz="900" spc="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rủi</a:t>
            </a:r>
            <a:r>
              <a:rPr dirty="0" sz="900" spc="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ro</a:t>
            </a:r>
            <a:r>
              <a:rPr dirty="0" sz="900" spc="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:</a:t>
            </a:r>
            <a:r>
              <a:rPr dirty="0" sz="900" spc="-10" b="1">
                <a:latin typeface="Arial"/>
                <a:cs typeface="Arial"/>
              </a:rPr>
              <a:t> </a:t>
            </a:r>
            <a:r>
              <a:rPr dirty="0" sz="900" spc="-20">
                <a:latin typeface="Tahoma"/>
                <a:cs typeface="Tahoma"/>
              </a:rPr>
              <a:t>Chuyển</a:t>
            </a:r>
            <a:r>
              <a:rPr dirty="0" sz="900" spc="-4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rủi</a:t>
            </a:r>
            <a:r>
              <a:rPr dirty="0" sz="900" spc="-4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ro</a:t>
            </a:r>
            <a:r>
              <a:rPr dirty="0" sz="900" spc="-4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từ</a:t>
            </a:r>
            <a:r>
              <a:rPr dirty="0" sz="900" spc="-45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người</a:t>
            </a:r>
            <a:r>
              <a:rPr dirty="0" sz="900" spc="-40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sợ</a:t>
            </a:r>
            <a:r>
              <a:rPr dirty="0" sz="900" spc="-4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(nhà</a:t>
            </a:r>
            <a:r>
              <a:rPr dirty="0" sz="900" spc="-4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bán</a:t>
            </a:r>
            <a:r>
              <a:rPr dirty="0" sz="900" spc="-4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lẻ)</a:t>
            </a:r>
            <a:r>
              <a:rPr dirty="0" sz="900" spc="-45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sang</a:t>
            </a:r>
            <a:r>
              <a:rPr dirty="0" sz="900" spc="-45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người</a:t>
            </a:r>
            <a:r>
              <a:rPr dirty="0" sz="900" spc="-4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trung</a:t>
            </a:r>
            <a:r>
              <a:rPr dirty="0" sz="900" spc="-4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lập</a:t>
            </a:r>
            <a:r>
              <a:rPr dirty="0" sz="900" spc="-40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(nhà sản</a:t>
            </a:r>
            <a:r>
              <a:rPr dirty="0" sz="900" spc="-3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xuất).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fld id="{81D60167-4931-47E6-BA6A-407CBD079E47}" type="slidenum">
              <a:rPr dirty="0" spc="-20"/>
              <a:t>10</a:t>
            </a:fld>
            <a:r>
              <a:rPr dirty="0" spc="-50"/>
              <a:t> </a:t>
            </a:r>
            <a:r>
              <a:rPr dirty="0" spc="125"/>
              <a:t>/</a:t>
            </a:r>
            <a:r>
              <a:rPr dirty="0" spc="-45"/>
              <a:t> </a:t>
            </a:r>
            <a:r>
              <a:rPr dirty="0" spc="-25"/>
              <a:t>15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116241" y="2243676"/>
            <a:ext cx="44621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9065" indent="-126364">
              <a:lnSpc>
                <a:spcPct val="100000"/>
              </a:lnSpc>
              <a:spcBef>
                <a:spcPts val="95"/>
              </a:spcBef>
              <a:buClr>
                <a:srgbClr val="2071B4"/>
              </a:buClr>
              <a:buFont typeface="DejaVu Sans Condensed"/>
              <a:buChar char="•"/>
              <a:tabLst>
                <a:tab pos="139065" algn="l"/>
              </a:tabLst>
            </a:pPr>
            <a:r>
              <a:rPr dirty="0" sz="1000" b="1">
                <a:latin typeface="Arial"/>
                <a:cs typeface="Arial"/>
              </a:rPr>
              <a:t>Bài</a:t>
            </a:r>
            <a:r>
              <a:rPr dirty="0" sz="1000" spc="15" b="1">
                <a:latin typeface="Arial"/>
                <a:cs typeface="Arial"/>
              </a:rPr>
              <a:t> </a:t>
            </a:r>
            <a:r>
              <a:rPr dirty="0" sz="1000" spc="-30" b="1">
                <a:latin typeface="Arial"/>
                <a:cs typeface="Arial"/>
              </a:rPr>
              <a:t>học:</a:t>
            </a:r>
            <a:r>
              <a:rPr dirty="0" sz="1000" spc="-5" b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Vị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thế</a:t>
            </a:r>
            <a:r>
              <a:rPr dirty="0" sz="1000" spc="-40">
                <a:latin typeface="Tahoma"/>
                <a:cs typeface="Tahoma"/>
              </a:rPr>
              <a:t> đàm phán</a:t>
            </a:r>
            <a:r>
              <a:rPr dirty="0" sz="1000" spc="-35">
                <a:latin typeface="Tahoma"/>
                <a:cs typeface="Tahoma"/>
              </a:rPr>
              <a:t> phụ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thuộc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mật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thiết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vào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thái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độ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tâm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lý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đối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với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rủi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ro.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71206" y="1120443"/>
            <a:ext cx="4240530" cy="4032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50"/>
              <a:t>Phụ</a:t>
            </a:r>
            <a:r>
              <a:rPr dirty="0" sz="2450" spc="-40"/>
              <a:t> </a:t>
            </a:r>
            <a:r>
              <a:rPr dirty="0" sz="2450" spc="-25"/>
              <a:t>lục:</a:t>
            </a:r>
            <a:r>
              <a:rPr dirty="0" sz="2450" spc="-30"/>
              <a:t> </a:t>
            </a:r>
            <a:r>
              <a:rPr dirty="0" sz="2450" spc="-75"/>
              <a:t>Chứng</a:t>
            </a:r>
            <a:r>
              <a:rPr dirty="0" sz="2450" spc="-35"/>
              <a:t> </a:t>
            </a:r>
            <a:r>
              <a:rPr dirty="0" sz="2450"/>
              <a:t>minh</a:t>
            </a:r>
            <a:r>
              <a:rPr dirty="0" sz="2450" spc="-35"/>
              <a:t> </a:t>
            </a:r>
            <a:r>
              <a:rPr dirty="0" sz="2450" spc="-10"/>
              <a:t>chi</a:t>
            </a:r>
            <a:r>
              <a:rPr dirty="0" sz="2450" spc="-40"/>
              <a:t> </a:t>
            </a:r>
            <a:r>
              <a:rPr dirty="0" sz="2450" spc="30"/>
              <a:t>tiết</a:t>
            </a:r>
            <a:endParaRPr sz="2450"/>
          </a:p>
        </p:txBody>
      </p:sp>
    </p:spTree>
  </p:cSld>
  <p:clrMapOvr>
    <a:masterClrMapping/>
  </p:clrMapOvr>
  <p:transition spd="fast">
    <p:cut thruBlk="0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2534" y="359958"/>
            <a:ext cx="397510" cy="6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480"/>
              </a:lnSpc>
            </a:pPr>
            <a:r>
              <a:rPr dirty="0" sz="500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Mô</a:t>
            </a:r>
            <a:r>
              <a:rPr dirty="0" sz="500" spc="40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hình</a:t>
            </a:r>
            <a:r>
              <a:rPr dirty="0" sz="500" spc="45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-30">
                <a:solidFill>
                  <a:srgbClr val="2071B4"/>
                </a:solidFill>
                <a:latin typeface="Arial"/>
                <a:cs typeface="Arial"/>
                <a:hlinkClick r:id="rId2" action="ppaction://hlinksldjump"/>
              </a:rPr>
              <a:t>Nash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260" y="680081"/>
            <a:ext cx="24130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solidFill>
                  <a:srgbClr val="2071B4"/>
                </a:solidFill>
                <a:latin typeface="Arial"/>
                <a:cs typeface="Arial"/>
                <a:hlinkClick r:id="rId3" action="ppaction://hlinksldjump"/>
              </a:rPr>
              <a:t>Phụ</a:t>
            </a:r>
            <a:r>
              <a:rPr dirty="0" sz="500" spc="25">
                <a:solidFill>
                  <a:srgbClr val="2071B4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spc="-25">
                <a:solidFill>
                  <a:srgbClr val="2071B4"/>
                </a:solidFill>
                <a:latin typeface="Arial"/>
                <a:cs typeface="Arial"/>
                <a:hlinkClick r:id="rId3" action="ppaction://hlinksldjump"/>
              </a:rPr>
              <a:t>lục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5760085" cy="631825"/>
            <a:chOff x="0" y="0"/>
            <a:chExt cx="5760085" cy="631825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5760085" cy="253365"/>
            </a:xfrm>
            <a:custGeom>
              <a:avLst/>
              <a:gdLst/>
              <a:ahLst/>
              <a:cxnLst/>
              <a:rect l="l" t="t" r="r" b="b"/>
              <a:pathLst>
                <a:path w="5760085" h="253365">
                  <a:moveTo>
                    <a:pt x="5759996" y="0"/>
                  </a:moveTo>
                  <a:lnTo>
                    <a:pt x="0" y="0"/>
                  </a:lnTo>
                  <a:lnTo>
                    <a:pt x="0" y="253047"/>
                  </a:lnTo>
                  <a:lnTo>
                    <a:pt x="5759996" y="25304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250"/>
              <a:ext cx="839748" cy="630066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Chi</a:t>
            </a:r>
            <a:r>
              <a:rPr dirty="0" spc="65"/>
              <a:t> </a:t>
            </a:r>
            <a:r>
              <a:rPr dirty="0"/>
              <a:t>tiết</a:t>
            </a:r>
            <a:r>
              <a:rPr dirty="0" spc="65"/>
              <a:t> </a:t>
            </a:r>
            <a:r>
              <a:rPr dirty="0"/>
              <a:t>toán</a:t>
            </a:r>
            <a:r>
              <a:rPr dirty="0" spc="65"/>
              <a:t> </a:t>
            </a:r>
            <a:r>
              <a:rPr dirty="0"/>
              <a:t>học</a:t>
            </a:r>
            <a:r>
              <a:rPr dirty="0" spc="65"/>
              <a:t> </a:t>
            </a:r>
            <a:r>
              <a:rPr dirty="0" spc="-40"/>
              <a:t>trường</a:t>
            </a:r>
            <a:r>
              <a:rPr dirty="0" spc="65"/>
              <a:t> </a:t>
            </a:r>
            <a:r>
              <a:rPr dirty="0" spc="-55"/>
              <a:t>hợp</a:t>
            </a:r>
            <a:r>
              <a:rPr dirty="0" spc="65"/>
              <a:t> </a:t>
            </a:r>
            <a:r>
              <a:rPr dirty="0" spc="-50"/>
              <a:t>2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64311" y="554169"/>
            <a:ext cx="1793875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ts val="1200"/>
              </a:lnSpc>
              <a:spcBef>
                <a:spcPts val="95"/>
              </a:spcBef>
            </a:pPr>
            <a:r>
              <a:rPr dirty="0" sz="1000" b="1">
                <a:latin typeface="Arial"/>
                <a:cs typeface="Arial"/>
              </a:rPr>
              <a:t>Bài</a:t>
            </a:r>
            <a:r>
              <a:rPr dirty="0" sz="1000" spc="7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toán:</a:t>
            </a:r>
            <a:r>
              <a:rPr dirty="0" sz="1000" spc="55" b="1">
                <a:latin typeface="Arial"/>
                <a:cs typeface="Arial"/>
              </a:rPr>
              <a:t> </a:t>
            </a:r>
            <a:r>
              <a:rPr dirty="0" sz="1000" spc="-55">
                <a:latin typeface="Tahoma"/>
                <a:cs typeface="Tahoma"/>
              </a:rPr>
              <a:t>max</a:t>
            </a:r>
            <a:r>
              <a:rPr dirty="0" sz="1000" spc="-150">
                <a:latin typeface="Tahoma"/>
                <a:cs typeface="Tahoma"/>
              </a:rPr>
              <a:t> </a:t>
            </a:r>
            <a:r>
              <a:rPr dirty="0" sz="1000" i="1">
                <a:latin typeface="Trebuchet MS"/>
                <a:cs typeface="Trebuchet MS"/>
              </a:rPr>
              <a:t>U</a:t>
            </a:r>
            <a:r>
              <a:rPr dirty="0" baseline="-11904" sz="1050" i="1">
                <a:latin typeface="Calibri"/>
                <a:cs typeface="Calibri"/>
              </a:rPr>
              <a:t>r</a:t>
            </a:r>
            <a:r>
              <a:rPr dirty="0" baseline="-11904" sz="1050" spc="-52" i="1">
                <a:latin typeface="Calibri"/>
                <a:cs typeface="Calibri"/>
              </a:rPr>
              <a:t> </a:t>
            </a:r>
            <a:r>
              <a:rPr dirty="0" sz="1000" spc="-30">
                <a:latin typeface="Tahoma"/>
                <a:cs typeface="Tahoma"/>
              </a:rPr>
              <a:t>(</a:t>
            </a:r>
            <a:r>
              <a:rPr dirty="0" sz="1000" spc="-30" i="1">
                <a:latin typeface="Trebuchet MS"/>
                <a:cs typeface="Trebuchet MS"/>
              </a:rPr>
              <a:t>x</a:t>
            </a:r>
            <a:r>
              <a:rPr dirty="0" sz="1000" spc="-210" i="1">
                <a:latin typeface="Trebuchet MS"/>
                <a:cs typeface="Trebuchet MS"/>
              </a:rPr>
              <a:t> </a:t>
            </a:r>
            <a:r>
              <a:rPr dirty="0" sz="1000" spc="-10">
                <a:latin typeface="Tahoma"/>
                <a:cs typeface="Tahoma"/>
              </a:rPr>
              <a:t>)</a:t>
            </a:r>
            <a:r>
              <a:rPr dirty="0" sz="1000" spc="-95">
                <a:latin typeface="Tahoma"/>
                <a:cs typeface="Tahoma"/>
              </a:rPr>
              <a:t> </a:t>
            </a:r>
            <a:r>
              <a:rPr dirty="0" sz="1000" spc="-20" i="1">
                <a:latin typeface="DejaVu Sans Condensed"/>
                <a:cs typeface="DejaVu Sans Condensed"/>
              </a:rPr>
              <a:t>·</a:t>
            </a:r>
            <a:r>
              <a:rPr dirty="0" sz="1000" spc="-65" i="1">
                <a:latin typeface="DejaVu Sans Condensed"/>
                <a:cs typeface="DejaVu Sans Condensed"/>
              </a:rPr>
              <a:t> </a:t>
            </a:r>
            <a:r>
              <a:rPr dirty="0" sz="1000" spc="85">
                <a:latin typeface="Tahoma"/>
                <a:cs typeface="Tahoma"/>
              </a:rPr>
              <a:t>(∆</a:t>
            </a:r>
            <a:r>
              <a:rPr dirty="0" sz="1000" spc="85" i="1">
                <a:latin typeface="Times New Roman"/>
                <a:cs typeface="Times New Roman"/>
              </a:rPr>
              <a:t>π</a:t>
            </a:r>
            <a:r>
              <a:rPr dirty="0" sz="1000" spc="5" i="1">
                <a:latin typeface="Times New Roman"/>
                <a:cs typeface="Times New Roman"/>
              </a:rPr>
              <a:t> </a:t>
            </a:r>
            <a:r>
              <a:rPr dirty="0" sz="1000" i="1">
                <a:latin typeface="DejaVu Sans Condensed"/>
                <a:cs typeface="DejaVu Sans Condensed"/>
              </a:rPr>
              <a:t>−</a:t>
            </a:r>
            <a:r>
              <a:rPr dirty="0" sz="1000" spc="-70" i="1">
                <a:latin typeface="DejaVu Sans Condensed"/>
                <a:cs typeface="DejaVu Sans Condensed"/>
              </a:rPr>
              <a:t> </a:t>
            </a:r>
            <a:r>
              <a:rPr dirty="0" sz="1000" spc="-45" i="1">
                <a:latin typeface="Trebuchet MS"/>
                <a:cs typeface="Trebuchet MS"/>
              </a:rPr>
              <a:t>x</a:t>
            </a:r>
            <a:r>
              <a:rPr dirty="0" sz="1000" spc="-210" i="1">
                <a:latin typeface="Trebuchet MS"/>
                <a:cs typeface="Trebuchet MS"/>
              </a:rPr>
              <a:t> </a:t>
            </a:r>
            <a:r>
              <a:rPr dirty="0" sz="1000" spc="-5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  <a:p>
            <a:pPr marL="38100">
              <a:lnSpc>
                <a:spcPts val="1200"/>
              </a:lnSpc>
            </a:pPr>
            <a:r>
              <a:rPr dirty="0" sz="1000" spc="-60" b="1">
                <a:latin typeface="Arial"/>
                <a:cs typeface="Arial"/>
              </a:rPr>
              <a:t>Bước</a:t>
            </a:r>
            <a:r>
              <a:rPr dirty="0" sz="1000" spc="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1:</a:t>
            </a:r>
            <a:r>
              <a:rPr dirty="0" sz="1000" spc="15" b="1">
                <a:latin typeface="Arial"/>
                <a:cs typeface="Arial"/>
              </a:rPr>
              <a:t> </a:t>
            </a:r>
            <a:r>
              <a:rPr dirty="0" sz="1000" spc="-25" b="1">
                <a:latin typeface="Arial"/>
                <a:cs typeface="Arial"/>
              </a:rPr>
              <a:t>FOC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86126" y="927064"/>
            <a:ext cx="577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 i="1">
                <a:latin typeface="Calibri"/>
                <a:cs typeface="Calibri"/>
              </a:rPr>
              <a:t>r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73744" y="857826"/>
            <a:ext cx="18351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i="1">
                <a:latin typeface="Trebuchet MS"/>
                <a:cs typeface="Trebuchet MS"/>
              </a:rPr>
              <a:t>U</a:t>
            </a:r>
            <a:r>
              <a:rPr dirty="0" baseline="31746" sz="1050" i="1">
                <a:latin typeface="DejaVu Serif"/>
                <a:cs typeface="DejaVu Serif"/>
              </a:rPr>
              <a:t>′</a:t>
            </a:r>
            <a:r>
              <a:rPr dirty="0" sz="1000">
                <a:latin typeface="Tahoma"/>
                <a:cs typeface="Tahoma"/>
              </a:rPr>
              <a:t>(</a:t>
            </a:r>
            <a:r>
              <a:rPr dirty="0" sz="1000" i="1">
                <a:latin typeface="Trebuchet MS"/>
                <a:cs typeface="Trebuchet MS"/>
              </a:rPr>
              <a:t>x</a:t>
            </a:r>
            <a:r>
              <a:rPr dirty="0" sz="1000" spc="-195" i="1">
                <a:latin typeface="Trebuchet MS"/>
                <a:cs typeface="Trebuchet MS"/>
              </a:rPr>
              <a:t> </a:t>
            </a:r>
            <a:r>
              <a:rPr dirty="0" sz="1000" spc="65">
                <a:latin typeface="Tahoma"/>
                <a:cs typeface="Tahoma"/>
              </a:rPr>
              <a:t>)(∆</a:t>
            </a:r>
            <a:r>
              <a:rPr dirty="0" sz="1000" spc="65" i="1">
                <a:latin typeface="Times New Roman"/>
                <a:cs typeface="Times New Roman"/>
              </a:rPr>
              <a:t>π</a:t>
            </a:r>
            <a:r>
              <a:rPr dirty="0" sz="1000" spc="60" i="1">
                <a:latin typeface="Times New Roman"/>
                <a:cs typeface="Times New Roman"/>
              </a:rPr>
              <a:t> </a:t>
            </a:r>
            <a:r>
              <a:rPr dirty="0" sz="1000" i="1">
                <a:latin typeface="DejaVu Sans Condensed"/>
                <a:cs typeface="DejaVu Sans Condensed"/>
              </a:rPr>
              <a:t>−</a:t>
            </a:r>
            <a:r>
              <a:rPr dirty="0" sz="1000" spc="-20" i="1">
                <a:latin typeface="DejaVu Sans Condensed"/>
                <a:cs typeface="DejaVu Sans Condensed"/>
              </a:rPr>
              <a:t> </a:t>
            </a:r>
            <a:r>
              <a:rPr dirty="0" sz="1000" spc="-45" i="1">
                <a:latin typeface="Trebuchet MS"/>
                <a:cs typeface="Trebuchet MS"/>
              </a:rPr>
              <a:t>x</a:t>
            </a:r>
            <a:r>
              <a:rPr dirty="0" sz="1000" spc="-195" i="1">
                <a:latin typeface="Trebuchet MS"/>
                <a:cs typeface="Trebuchet MS"/>
              </a:rPr>
              <a:t> </a:t>
            </a:r>
            <a:r>
              <a:rPr dirty="0" sz="1000" spc="-10">
                <a:latin typeface="Tahoma"/>
                <a:cs typeface="Tahoma"/>
              </a:rPr>
              <a:t>)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i="1">
                <a:latin typeface="Trebuchet MS"/>
                <a:cs typeface="Trebuchet MS"/>
              </a:rPr>
              <a:t>U</a:t>
            </a:r>
            <a:r>
              <a:rPr dirty="0" baseline="-11904" sz="1050" i="1">
                <a:latin typeface="Calibri"/>
                <a:cs typeface="Calibri"/>
              </a:rPr>
              <a:t>r</a:t>
            </a:r>
            <a:r>
              <a:rPr dirty="0" baseline="-11904" sz="1050" spc="-15" i="1">
                <a:latin typeface="Calibri"/>
                <a:cs typeface="Calibri"/>
              </a:rPr>
              <a:t> </a:t>
            </a:r>
            <a:r>
              <a:rPr dirty="0" sz="1000" spc="-30">
                <a:latin typeface="Tahoma"/>
                <a:cs typeface="Tahoma"/>
              </a:rPr>
              <a:t>(</a:t>
            </a:r>
            <a:r>
              <a:rPr dirty="0" sz="1000" spc="-30" i="1">
                <a:latin typeface="Trebuchet MS"/>
                <a:cs typeface="Trebuchet MS"/>
              </a:rPr>
              <a:t>x</a:t>
            </a:r>
            <a:r>
              <a:rPr dirty="0" sz="1000" spc="-190" i="1">
                <a:latin typeface="Trebuchet MS"/>
                <a:cs typeface="Trebuchet MS"/>
              </a:rPr>
              <a:t> </a:t>
            </a:r>
            <a:r>
              <a:rPr dirty="0" sz="1000" spc="-10">
                <a:latin typeface="Tahoma"/>
                <a:cs typeface="Tahoma"/>
              </a:rPr>
              <a:t>)(</a:t>
            </a:r>
            <a:r>
              <a:rPr dirty="0" sz="1000" spc="-10" i="1">
                <a:latin typeface="DejaVu Sans Condensed"/>
                <a:cs typeface="DejaVu Sans Condensed"/>
              </a:rPr>
              <a:t>−</a:t>
            </a:r>
            <a:r>
              <a:rPr dirty="0" sz="1000" spc="-10">
                <a:latin typeface="Tahoma"/>
                <a:cs typeface="Tahoma"/>
              </a:rPr>
              <a:t>1)</a:t>
            </a:r>
            <a:r>
              <a:rPr dirty="0" sz="1000" spc="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2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49130" y="1314541"/>
            <a:ext cx="577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 i="1">
                <a:latin typeface="Calibri"/>
                <a:cs typeface="Calibri"/>
              </a:rPr>
              <a:t>r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36748" y="1245303"/>
            <a:ext cx="3797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30" i="1">
                <a:latin typeface="Trebuchet MS"/>
                <a:cs typeface="Trebuchet MS"/>
              </a:rPr>
              <a:t>U</a:t>
            </a:r>
            <a:r>
              <a:rPr dirty="0" baseline="23809" sz="1050" spc="44" i="1">
                <a:latin typeface="DejaVu Serif"/>
                <a:cs typeface="DejaVu Serif"/>
              </a:rPr>
              <a:t>′</a:t>
            </a:r>
            <a:r>
              <a:rPr dirty="0" sz="1000" spc="30">
                <a:latin typeface="Tahoma"/>
                <a:cs typeface="Tahoma"/>
              </a:rPr>
              <a:t>(</a:t>
            </a:r>
            <a:r>
              <a:rPr dirty="0" sz="1000" spc="30" i="1">
                <a:latin typeface="Trebuchet MS"/>
                <a:cs typeface="Trebuchet MS"/>
              </a:rPr>
              <a:t>x</a:t>
            </a:r>
            <a:r>
              <a:rPr dirty="0" sz="1000" spc="-135" i="1">
                <a:latin typeface="Trebuchet MS"/>
                <a:cs typeface="Trebuchet MS"/>
              </a:rPr>
              <a:t> </a:t>
            </a:r>
            <a:r>
              <a:rPr dirty="0" sz="1000" spc="-5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84514" y="1158524"/>
            <a:ext cx="22136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235075" algn="l"/>
              </a:tabLst>
            </a:pPr>
            <a:r>
              <a:rPr dirty="0" sz="1000" spc="240" i="1">
                <a:latin typeface="DejaVu Sans Condensed"/>
                <a:cs typeface="DejaVu Sans Condensed"/>
              </a:rPr>
              <a:t>⇒</a:t>
            </a:r>
            <a:r>
              <a:rPr dirty="0" sz="1000" i="1">
                <a:latin typeface="DejaVu Sans Condensed"/>
                <a:cs typeface="DejaVu Sans Condensed"/>
              </a:rPr>
              <a:t> </a:t>
            </a:r>
            <a:r>
              <a:rPr dirty="0" sz="1000" spc="130">
                <a:latin typeface="Tahoma"/>
                <a:cs typeface="Tahoma"/>
              </a:rPr>
              <a:t>∆</a:t>
            </a:r>
            <a:r>
              <a:rPr dirty="0" sz="1000" spc="130" i="1">
                <a:latin typeface="Times New Roman"/>
                <a:cs typeface="Times New Roman"/>
              </a:rPr>
              <a:t>π</a:t>
            </a:r>
            <a:r>
              <a:rPr dirty="0" sz="1000" spc="20" i="1">
                <a:latin typeface="Times New Roman"/>
                <a:cs typeface="Times New Roman"/>
              </a:rPr>
              <a:t> </a:t>
            </a:r>
            <a:r>
              <a:rPr dirty="0" sz="1000" i="1">
                <a:latin typeface="DejaVu Sans Condensed"/>
                <a:cs typeface="DejaVu Sans Condensed"/>
              </a:rPr>
              <a:t>−</a:t>
            </a:r>
            <a:r>
              <a:rPr dirty="0" sz="1000" spc="-55" i="1">
                <a:latin typeface="DejaVu Sans Condensed"/>
                <a:cs typeface="DejaVu Sans Condensed"/>
              </a:rPr>
              <a:t> </a:t>
            </a:r>
            <a:r>
              <a:rPr dirty="0" sz="1000" i="1">
                <a:latin typeface="Trebuchet MS"/>
                <a:cs typeface="Trebuchet MS"/>
              </a:rPr>
              <a:t>x</a:t>
            </a:r>
            <a:r>
              <a:rPr dirty="0" sz="1000" spc="80" i="1">
                <a:latin typeface="Trebuchet MS"/>
                <a:cs typeface="Trebuchet MS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100">
                <a:latin typeface="Tahoma"/>
                <a:cs typeface="Tahoma"/>
              </a:rPr>
              <a:t> </a:t>
            </a:r>
            <a:r>
              <a:rPr dirty="0" u="sng" baseline="36111" sz="1500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U</a:t>
            </a:r>
            <a:r>
              <a:rPr dirty="0" u="sng" baseline="39682" sz="105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</a:t>
            </a:r>
            <a:r>
              <a:rPr dirty="0" u="sng" baseline="39682" sz="1050" spc="-44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baseline="36111" sz="1500" spc="-44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(</a:t>
            </a:r>
            <a:r>
              <a:rPr dirty="0" u="sng" baseline="36111" sz="1500" spc="-44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x</a:t>
            </a:r>
            <a:r>
              <a:rPr dirty="0" u="sng" baseline="36111" sz="1500" spc="-307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baseline="36111" sz="1500" spc="-7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)</a:t>
            </a:r>
            <a:r>
              <a:rPr dirty="0" u="none" baseline="36111" sz="1500">
                <a:latin typeface="Tahoma"/>
                <a:cs typeface="Tahoma"/>
              </a:rPr>
              <a:t>	</a:t>
            </a:r>
            <a:r>
              <a:rPr dirty="0" u="none" sz="1000" spc="-10">
                <a:latin typeface="Tahoma"/>
                <a:cs typeface="Tahoma"/>
              </a:rPr>
              <a:t>(với</a:t>
            </a:r>
            <a:r>
              <a:rPr dirty="0" u="none" sz="1000">
                <a:latin typeface="Tahoma"/>
                <a:cs typeface="Tahoma"/>
              </a:rPr>
              <a:t> </a:t>
            </a:r>
            <a:r>
              <a:rPr dirty="0" u="none" sz="1000" spc="130">
                <a:latin typeface="Tahoma"/>
                <a:cs typeface="Tahoma"/>
              </a:rPr>
              <a:t>∆</a:t>
            </a:r>
            <a:r>
              <a:rPr dirty="0" u="none" sz="1000" spc="130" i="1">
                <a:latin typeface="Times New Roman"/>
                <a:cs typeface="Times New Roman"/>
              </a:rPr>
              <a:t>π</a:t>
            </a:r>
            <a:r>
              <a:rPr dirty="0" u="none" sz="1000" i="1">
                <a:latin typeface="Times New Roman"/>
                <a:cs typeface="Times New Roman"/>
              </a:rPr>
              <a:t> </a:t>
            </a:r>
            <a:r>
              <a:rPr dirty="0" u="none" sz="1000" i="1">
                <a:latin typeface="DejaVu Sans Condensed"/>
                <a:cs typeface="DejaVu Sans Condensed"/>
              </a:rPr>
              <a:t>−</a:t>
            </a:r>
            <a:r>
              <a:rPr dirty="0" u="none" sz="1000" spc="-75" i="1">
                <a:latin typeface="DejaVu Sans Condensed"/>
                <a:cs typeface="DejaVu Sans Condensed"/>
              </a:rPr>
              <a:t> </a:t>
            </a:r>
            <a:r>
              <a:rPr dirty="0" u="none" sz="1000" i="1">
                <a:latin typeface="Trebuchet MS"/>
                <a:cs typeface="Trebuchet MS"/>
              </a:rPr>
              <a:t>x</a:t>
            </a:r>
            <a:r>
              <a:rPr dirty="0" u="none" sz="1000" spc="55" i="1">
                <a:latin typeface="Trebuchet MS"/>
                <a:cs typeface="Trebuchet MS"/>
              </a:rPr>
              <a:t> </a:t>
            </a:r>
            <a:r>
              <a:rPr dirty="0" u="none" sz="1000">
                <a:latin typeface="Tahoma"/>
                <a:cs typeface="Tahoma"/>
              </a:rPr>
              <a:t>=</a:t>
            </a:r>
            <a:r>
              <a:rPr dirty="0" u="none" sz="1000" spc="-45">
                <a:latin typeface="Tahoma"/>
                <a:cs typeface="Tahoma"/>
              </a:rPr>
              <a:t> </a:t>
            </a:r>
            <a:r>
              <a:rPr dirty="0" u="none" sz="1000" spc="-35" i="1">
                <a:latin typeface="Trebuchet MS"/>
                <a:cs typeface="Trebuchet MS"/>
              </a:rPr>
              <a:t>y</a:t>
            </a:r>
            <a:r>
              <a:rPr dirty="0" u="none" sz="1000" spc="-195" i="1">
                <a:latin typeface="Trebuchet MS"/>
                <a:cs typeface="Trebuchet MS"/>
              </a:rPr>
              <a:t> </a:t>
            </a:r>
            <a:r>
              <a:rPr dirty="0" u="none" sz="1000" spc="-5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64311" y="1484660"/>
            <a:ext cx="4572000" cy="708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95"/>
              </a:spcBef>
            </a:pPr>
            <a:r>
              <a:rPr dirty="0" sz="1000" spc="-60" b="1">
                <a:latin typeface="Arial"/>
                <a:cs typeface="Arial"/>
              </a:rPr>
              <a:t>Bước</a:t>
            </a:r>
            <a:r>
              <a:rPr dirty="0" sz="1000" spc="4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2:</a:t>
            </a:r>
            <a:r>
              <a:rPr dirty="0" sz="1000" spc="4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Bất</a:t>
            </a:r>
            <a:r>
              <a:rPr dirty="0" sz="1000" spc="45" b="1">
                <a:latin typeface="Arial"/>
                <a:cs typeface="Arial"/>
              </a:rPr>
              <a:t> </a:t>
            </a:r>
            <a:r>
              <a:rPr dirty="0" sz="1000" spc="-35" b="1">
                <a:latin typeface="Arial"/>
                <a:cs typeface="Arial"/>
              </a:rPr>
              <a:t>đẳng</a:t>
            </a:r>
            <a:r>
              <a:rPr dirty="0" sz="1000" spc="45" b="1">
                <a:latin typeface="Arial"/>
                <a:cs typeface="Arial"/>
              </a:rPr>
              <a:t> </a:t>
            </a:r>
            <a:r>
              <a:rPr dirty="0" sz="1000" spc="-20" b="1">
                <a:latin typeface="Arial"/>
                <a:cs typeface="Arial"/>
              </a:rPr>
              <a:t>thức</a:t>
            </a:r>
            <a:r>
              <a:rPr dirty="0" sz="1000" spc="4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hàm</a:t>
            </a:r>
            <a:r>
              <a:rPr dirty="0" sz="1000" spc="4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lõm</a:t>
            </a:r>
            <a:r>
              <a:rPr dirty="0" sz="1000" spc="4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(</a:t>
            </a:r>
            <a:r>
              <a:rPr dirty="0" sz="1000" i="1">
                <a:latin typeface="Trebuchet MS"/>
                <a:cs typeface="Trebuchet MS"/>
              </a:rPr>
              <a:t>U</a:t>
            </a:r>
            <a:r>
              <a:rPr dirty="0" sz="1000">
                <a:latin typeface="Tahoma"/>
                <a:cs typeface="Tahoma"/>
              </a:rPr>
              <a:t>(0)</a:t>
            </a:r>
            <a:r>
              <a:rPr dirty="0" sz="1000" spc="-6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=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0</a:t>
            </a:r>
            <a:r>
              <a:rPr dirty="0" sz="1000" b="1">
                <a:latin typeface="Arial"/>
                <a:cs typeface="Arial"/>
              </a:rPr>
              <a:t>)</a:t>
            </a:r>
            <a:r>
              <a:rPr dirty="0" sz="1000" spc="15" b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Khai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triển </a:t>
            </a:r>
            <a:r>
              <a:rPr dirty="0" sz="1000" spc="-30">
                <a:latin typeface="Tahoma"/>
                <a:cs typeface="Tahoma"/>
              </a:rPr>
              <a:t>Taylor</a:t>
            </a:r>
            <a:r>
              <a:rPr dirty="0" sz="1000" spc="-25">
                <a:latin typeface="Tahoma"/>
                <a:cs typeface="Tahoma"/>
              </a:rPr>
              <a:t> hoặc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tính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chất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cát </a:t>
            </a:r>
            <a:r>
              <a:rPr dirty="0" sz="1000" spc="-10">
                <a:latin typeface="Tahoma"/>
                <a:cs typeface="Tahoma"/>
              </a:rPr>
              <a:t>tuyến:</a:t>
            </a:r>
            <a:endParaRPr sz="1000">
              <a:latin typeface="Tahoma"/>
              <a:cs typeface="Tahoma"/>
            </a:endParaRPr>
          </a:p>
          <a:p>
            <a:pPr algn="ctr" marL="81915">
              <a:lnSpc>
                <a:spcPts val="1190"/>
              </a:lnSpc>
            </a:pPr>
            <a:r>
              <a:rPr dirty="0" sz="1000" i="1">
                <a:latin typeface="Trebuchet MS"/>
                <a:cs typeface="Trebuchet MS"/>
              </a:rPr>
              <a:t>U</a:t>
            </a:r>
            <a:r>
              <a:rPr dirty="0" sz="1000">
                <a:latin typeface="Tahoma"/>
                <a:cs typeface="Tahoma"/>
              </a:rPr>
              <a:t>(0)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i="1">
                <a:latin typeface="DejaVu Sans Condensed"/>
                <a:cs typeface="DejaVu Sans Condensed"/>
              </a:rPr>
              <a:t>≈</a:t>
            </a:r>
            <a:r>
              <a:rPr dirty="0" sz="1000" spc="20" i="1">
                <a:latin typeface="DejaVu Sans Condensed"/>
                <a:cs typeface="DejaVu Sans Condensed"/>
              </a:rPr>
              <a:t> </a:t>
            </a:r>
            <a:r>
              <a:rPr dirty="0" sz="1000" i="1">
                <a:latin typeface="Trebuchet MS"/>
                <a:cs typeface="Trebuchet MS"/>
              </a:rPr>
              <a:t>U</a:t>
            </a:r>
            <a:r>
              <a:rPr dirty="0" sz="1000">
                <a:latin typeface="Tahoma"/>
                <a:cs typeface="Tahoma"/>
              </a:rPr>
              <a:t>(</a:t>
            </a:r>
            <a:r>
              <a:rPr dirty="0" sz="1000" i="1">
                <a:latin typeface="Trebuchet MS"/>
                <a:cs typeface="Trebuchet MS"/>
              </a:rPr>
              <a:t>x</a:t>
            </a:r>
            <a:r>
              <a:rPr dirty="0" sz="1000" spc="-200" i="1">
                <a:latin typeface="Trebuchet MS"/>
                <a:cs typeface="Trebuchet MS"/>
              </a:rPr>
              <a:t> </a:t>
            </a:r>
            <a:r>
              <a:rPr dirty="0" sz="1000" spc="-10">
                <a:latin typeface="Tahoma"/>
                <a:cs typeface="Tahoma"/>
              </a:rPr>
              <a:t>)</a:t>
            </a:r>
            <a:r>
              <a:rPr dirty="0" sz="1000" spc="-7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-70">
                <a:latin typeface="Tahoma"/>
                <a:cs typeface="Tahoma"/>
              </a:rPr>
              <a:t> </a:t>
            </a:r>
            <a:r>
              <a:rPr dirty="0" sz="1000" i="1">
                <a:latin typeface="Trebuchet MS"/>
                <a:cs typeface="Trebuchet MS"/>
              </a:rPr>
              <a:t>U</a:t>
            </a:r>
            <a:r>
              <a:rPr dirty="0" baseline="31746" sz="1050" i="1">
                <a:latin typeface="DejaVu Serif"/>
                <a:cs typeface="DejaVu Serif"/>
              </a:rPr>
              <a:t>′</a:t>
            </a:r>
            <a:r>
              <a:rPr dirty="0" sz="1000">
                <a:latin typeface="Tahoma"/>
                <a:cs typeface="Tahoma"/>
              </a:rPr>
              <a:t>(</a:t>
            </a:r>
            <a:r>
              <a:rPr dirty="0" sz="1000" i="1">
                <a:latin typeface="Trebuchet MS"/>
                <a:cs typeface="Trebuchet MS"/>
              </a:rPr>
              <a:t>x</a:t>
            </a:r>
            <a:r>
              <a:rPr dirty="0" sz="1000" spc="-200" i="1">
                <a:latin typeface="Trebuchet MS"/>
                <a:cs typeface="Trebuchet MS"/>
              </a:rPr>
              <a:t> </a:t>
            </a:r>
            <a:r>
              <a:rPr dirty="0" sz="1000" spc="-30">
                <a:latin typeface="Tahoma"/>
                <a:cs typeface="Tahoma"/>
              </a:rPr>
              <a:t>)(0</a:t>
            </a:r>
            <a:r>
              <a:rPr dirty="0" sz="1000" spc="-70">
                <a:latin typeface="Tahoma"/>
                <a:cs typeface="Tahoma"/>
              </a:rPr>
              <a:t> </a:t>
            </a:r>
            <a:r>
              <a:rPr dirty="0" sz="1000" i="1">
                <a:latin typeface="DejaVu Sans Condensed"/>
                <a:cs typeface="DejaVu Sans Condensed"/>
              </a:rPr>
              <a:t>−</a:t>
            </a:r>
            <a:r>
              <a:rPr dirty="0" sz="1000" spc="-40" i="1">
                <a:latin typeface="DejaVu Sans Condensed"/>
                <a:cs typeface="DejaVu Sans Condensed"/>
              </a:rPr>
              <a:t> </a:t>
            </a:r>
            <a:r>
              <a:rPr dirty="0" sz="1000" spc="-45" i="1">
                <a:latin typeface="Trebuchet MS"/>
                <a:cs typeface="Trebuchet MS"/>
              </a:rPr>
              <a:t>x</a:t>
            </a:r>
            <a:r>
              <a:rPr dirty="0" sz="1000" spc="-200" i="1">
                <a:latin typeface="Trebuchet MS"/>
                <a:cs typeface="Trebuchet MS"/>
              </a:rPr>
              <a:t> </a:t>
            </a:r>
            <a:r>
              <a:rPr dirty="0" sz="1000">
                <a:latin typeface="Tahoma"/>
                <a:cs typeface="Tahoma"/>
              </a:rPr>
              <a:t>)</a:t>
            </a:r>
            <a:r>
              <a:rPr dirty="0" sz="1000" spc="235">
                <a:latin typeface="Tahoma"/>
                <a:cs typeface="Tahoma"/>
              </a:rPr>
              <a:t>  </a:t>
            </a:r>
            <a:r>
              <a:rPr dirty="0" sz="1000">
                <a:latin typeface="Tahoma"/>
                <a:cs typeface="Tahoma"/>
              </a:rPr>
              <a:t>(Do</a:t>
            </a:r>
            <a:r>
              <a:rPr dirty="0" sz="1000" spc="60">
                <a:latin typeface="Tahoma"/>
                <a:cs typeface="Tahoma"/>
              </a:rPr>
              <a:t> </a:t>
            </a:r>
            <a:r>
              <a:rPr dirty="0" sz="1000" spc="80" i="1">
                <a:latin typeface="Trebuchet MS"/>
                <a:cs typeface="Trebuchet MS"/>
              </a:rPr>
              <a:t>U</a:t>
            </a:r>
            <a:r>
              <a:rPr dirty="0" baseline="31746" sz="1050" spc="120" i="1">
                <a:latin typeface="DejaVu Serif"/>
                <a:cs typeface="DejaVu Serif"/>
              </a:rPr>
              <a:t>′′</a:t>
            </a:r>
            <a:r>
              <a:rPr dirty="0" baseline="31746" sz="1050" spc="202" i="1">
                <a:latin typeface="DejaVu Serif"/>
                <a:cs typeface="DejaVu Serif"/>
              </a:rPr>
              <a:t> </a:t>
            </a:r>
            <a:r>
              <a:rPr dirty="0" sz="1000" spc="90" i="1">
                <a:latin typeface="Times New Roman"/>
                <a:cs typeface="Times New Roman"/>
              </a:rPr>
              <a:t>&lt;</a:t>
            </a:r>
            <a:r>
              <a:rPr dirty="0" sz="1000" spc="55" i="1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ahoma"/>
                <a:cs typeface="Tahoma"/>
              </a:rPr>
              <a:t>0)</a:t>
            </a:r>
            <a:endParaRPr sz="1000">
              <a:latin typeface="Tahoma"/>
              <a:cs typeface="Tahoma"/>
            </a:endParaRPr>
          </a:p>
          <a:p>
            <a:pPr algn="ctr" marL="81915">
              <a:lnSpc>
                <a:spcPct val="100000"/>
              </a:lnSpc>
              <a:spcBef>
                <a:spcPts val="595"/>
              </a:spcBef>
            </a:pPr>
            <a:r>
              <a:rPr dirty="0" sz="1000" spc="-55">
                <a:latin typeface="Tahoma"/>
                <a:cs typeface="Tahoma"/>
              </a:rPr>
              <a:t>0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spc="90" i="1">
                <a:latin typeface="Times New Roman"/>
                <a:cs typeface="Times New Roman"/>
              </a:rPr>
              <a:t>&lt;</a:t>
            </a:r>
            <a:r>
              <a:rPr dirty="0" sz="1000" spc="80" i="1">
                <a:latin typeface="Times New Roman"/>
                <a:cs typeface="Times New Roman"/>
              </a:rPr>
              <a:t> </a:t>
            </a:r>
            <a:r>
              <a:rPr dirty="0" sz="1000" i="1">
                <a:latin typeface="Trebuchet MS"/>
                <a:cs typeface="Trebuchet MS"/>
              </a:rPr>
              <a:t>U</a:t>
            </a:r>
            <a:r>
              <a:rPr dirty="0" sz="1000">
                <a:latin typeface="Tahoma"/>
                <a:cs typeface="Tahoma"/>
              </a:rPr>
              <a:t>(</a:t>
            </a:r>
            <a:r>
              <a:rPr dirty="0" sz="1000" i="1">
                <a:latin typeface="Trebuchet MS"/>
                <a:cs typeface="Trebuchet MS"/>
              </a:rPr>
              <a:t>x</a:t>
            </a:r>
            <a:r>
              <a:rPr dirty="0" sz="1000" spc="-195" i="1">
                <a:latin typeface="Trebuchet MS"/>
                <a:cs typeface="Trebuchet MS"/>
              </a:rPr>
              <a:t> </a:t>
            </a:r>
            <a:r>
              <a:rPr dirty="0" sz="1000" spc="-10">
                <a:latin typeface="Tahoma"/>
                <a:cs typeface="Tahoma"/>
              </a:rPr>
              <a:t>)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i="1">
                <a:latin typeface="DejaVu Sans Condensed"/>
                <a:cs typeface="DejaVu Sans Condensed"/>
              </a:rPr>
              <a:t>−</a:t>
            </a:r>
            <a:r>
              <a:rPr dirty="0" sz="1000" spc="-20" i="1">
                <a:latin typeface="DejaVu Sans Condensed"/>
                <a:cs typeface="DejaVu Sans Condensed"/>
              </a:rPr>
              <a:t> </a:t>
            </a:r>
            <a:r>
              <a:rPr dirty="0" sz="1000" i="1">
                <a:latin typeface="Trebuchet MS"/>
                <a:cs typeface="Trebuchet MS"/>
              </a:rPr>
              <a:t>xU</a:t>
            </a:r>
            <a:r>
              <a:rPr dirty="0" baseline="31746" sz="1050" i="1">
                <a:latin typeface="DejaVu Serif"/>
                <a:cs typeface="DejaVu Serif"/>
              </a:rPr>
              <a:t>′</a:t>
            </a:r>
            <a:r>
              <a:rPr dirty="0" sz="1000">
                <a:latin typeface="Tahoma"/>
                <a:cs typeface="Tahoma"/>
              </a:rPr>
              <a:t>(</a:t>
            </a:r>
            <a:r>
              <a:rPr dirty="0" sz="1000" i="1">
                <a:latin typeface="Trebuchet MS"/>
                <a:cs typeface="Trebuchet MS"/>
              </a:rPr>
              <a:t>x</a:t>
            </a:r>
            <a:r>
              <a:rPr dirty="0" sz="1000" spc="-195" i="1">
                <a:latin typeface="Trebuchet MS"/>
                <a:cs typeface="Trebuchet MS"/>
              </a:rPr>
              <a:t> </a:t>
            </a:r>
            <a:r>
              <a:rPr dirty="0" sz="1000" spc="-5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596246" y="2424353"/>
            <a:ext cx="303530" cy="0"/>
          </a:xfrm>
          <a:custGeom>
            <a:avLst/>
            <a:gdLst/>
            <a:ahLst/>
            <a:cxnLst/>
            <a:rect l="l" t="t" r="r" b="b"/>
            <a:pathLst>
              <a:path w="303529" h="0">
                <a:moveTo>
                  <a:pt x="0" y="0"/>
                </a:moveTo>
                <a:lnTo>
                  <a:pt x="30347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670528" y="2472781"/>
            <a:ext cx="577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 i="1">
                <a:latin typeface="Calibri"/>
                <a:cs typeface="Calibri"/>
              </a:rPr>
              <a:t>r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489689" y="3138668"/>
            <a:ext cx="215900" cy="89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80"/>
              </a:lnSpc>
            </a:pPr>
            <a:r>
              <a:rPr dirty="0" sz="500" spc="-20">
                <a:latin typeface="Arial"/>
                <a:cs typeface="Arial"/>
              </a:rPr>
              <a:t>15</a:t>
            </a:r>
            <a:r>
              <a:rPr dirty="0" sz="500" spc="-50">
                <a:latin typeface="Arial"/>
                <a:cs typeface="Arial"/>
              </a:rPr>
              <a:t> </a:t>
            </a:r>
            <a:r>
              <a:rPr dirty="0" sz="500" spc="125">
                <a:latin typeface="Arial"/>
                <a:cs typeface="Arial"/>
              </a:rPr>
              <a:t>/</a:t>
            </a:r>
            <a:r>
              <a:rPr dirty="0" sz="500" spc="-45">
                <a:latin typeface="Arial"/>
                <a:cs typeface="Arial"/>
              </a:rPr>
              <a:t> </a:t>
            </a:r>
            <a:r>
              <a:rPr dirty="0" sz="500" spc="-25">
                <a:latin typeface="Arial"/>
                <a:cs typeface="Arial"/>
              </a:rPr>
              <a:t>15</a:t>
            </a:r>
            <a:endParaRPr sz="5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558146" y="2403543"/>
            <a:ext cx="3797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30" i="1">
                <a:latin typeface="Trebuchet MS"/>
                <a:cs typeface="Trebuchet MS"/>
              </a:rPr>
              <a:t>U</a:t>
            </a:r>
            <a:r>
              <a:rPr dirty="0" baseline="23809" sz="1050" spc="44" i="1">
                <a:latin typeface="DejaVu Serif"/>
                <a:cs typeface="DejaVu Serif"/>
              </a:rPr>
              <a:t>′</a:t>
            </a:r>
            <a:r>
              <a:rPr dirty="0" sz="1000" spc="30">
                <a:latin typeface="Tahoma"/>
                <a:cs typeface="Tahoma"/>
              </a:rPr>
              <a:t>(</a:t>
            </a:r>
            <a:r>
              <a:rPr dirty="0" sz="1000" spc="30" i="1">
                <a:latin typeface="Trebuchet MS"/>
                <a:cs typeface="Trebuchet MS"/>
              </a:rPr>
              <a:t>x</a:t>
            </a:r>
            <a:r>
              <a:rPr dirty="0" sz="1000" spc="-135" i="1">
                <a:latin typeface="Trebuchet MS"/>
                <a:cs typeface="Trebuchet MS"/>
              </a:rPr>
              <a:t> </a:t>
            </a:r>
            <a:r>
              <a:rPr dirty="0" sz="1000" spc="-5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90775" y="2316751"/>
            <a:ext cx="17894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240" i="1">
                <a:latin typeface="DejaVu Sans Condensed"/>
                <a:cs typeface="DejaVu Sans Condensed"/>
              </a:rPr>
              <a:t>⇒</a:t>
            </a:r>
            <a:r>
              <a:rPr dirty="0" sz="1000" i="1">
                <a:latin typeface="DejaVu Sans Condensed"/>
                <a:cs typeface="DejaVu Sans Condensed"/>
              </a:rPr>
              <a:t> </a:t>
            </a:r>
            <a:r>
              <a:rPr dirty="0" sz="1000" spc="10" i="1">
                <a:latin typeface="Trebuchet MS"/>
                <a:cs typeface="Trebuchet MS"/>
              </a:rPr>
              <a:t>U</a:t>
            </a:r>
            <a:r>
              <a:rPr dirty="0" sz="1000" spc="10">
                <a:latin typeface="Tahoma"/>
                <a:cs typeface="Tahoma"/>
              </a:rPr>
              <a:t>(</a:t>
            </a:r>
            <a:r>
              <a:rPr dirty="0" sz="1000" spc="10" i="1">
                <a:latin typeface="Trebuchet MS"/>
                <a:cs typeface="Trebuchet MS"/>
              </a:rPr>
              <a:t>x</a:t>
            </a:r>
            <a:r>
              <a:rPr dirty="0" sz="1000" spc="-210" i="1">
                <a:latin typeface="Trebuchet MS"/>
                <a:cs typeface="Trebuchet MS"/>
              </a:rPr>
              <a:t> </a:t>
            </a:r>
            <a:r>
              <a:rPr dirty="0" sz="1000" spc="10">
                <a:latin typeface="Tahoma"/>
                <a:cs typeface="Tahoma"/>
              </a:rPr>
              <a:t>)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90" i="1">
                <a:latin typeface="Times New Roman"/>
                <a:cs typeface="Times New Roman"/>
              </a:rPr>
              <a:t>&gt;</a:t>
            </a:r>
            <a:r>
              <a:rPr dirty="0" sz="1000" spc="40" i="1">
                <a:latin typeface="Times New Roman"/>
                <a:cs typeface="Times New Roman"/>
              </a:rPr>
              <a:t> </a:t>
            </a:r>
            <a:r>
              <a:rPr dirty="0" sz="1000" spc="10" i="1">
                <a:latin typeface="Trebuchet MS"/>
                <a:cs typeface="Trebuchet MS"/>
              </a:rPr>
              <a:t>xU</a:t>
            </a:r>
            <a:r>
              <a:rPr dirty="0" baseline="31746" sz="1050" spc="15" i="1">
                <a:latin typeface="DejaVu Serif"/>
                <a:cs typeface="DejaVu Serif"/>
              </a:rPr>
              <a:t>′</a:t>
            </a:r>
            <a:r>
              <a:rPr dirty="0" sz="1000" spc="10">
                <a:latin typeface="Tahoma"/>
                <a:cs typeface="Tahoma"/>
              </a:rPr>
              <a:t>(</a:t>
            </a:r>
            <a:r>
              <a:rPr dirty="0" sz="1000" spc="10" i="1">
                <a:latin typeface="Trebuchet MS"/>
                <a:cs typeface="Trebuchet MS"/>
              </a:rPr>
              <a:t>x</a:t>
            </a:r>
            <a:r>
              <a:rPr dirty="0" sz="1000" spc="-210" i="1">
                <a:latin typeface="Trebuchet MS"/>
                <a:cs typeface="Trebuchet MS"/>
              </a:rPr>
              <a:t> </a:t>
            </a:r>
            <a:r>
              <a:rPr dirty="0" sz="1000" spc="10">
                <a:latin typeface="Tahoma"/>
                <a:cs typeface="Tahoma"/>
              </a:rPr>
              <a:t>)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240" i="1">
                <a:latin typeface="DejaVu Sans Condensed"/>
                <a:cs typeface="DejaVu Sans Condensed"/>
              </a:rPr>
              <a:t>⇒</a:t>
            </a:r>
            <a:r>
              <a:rPr dirty="0" sz="1000" spc="285" i="1">
                <a:latin typeface="DejaVu Sans Condensed"/>
                <a:cs typeface="DejaVu Sans Condensed"/>
              </a:rPr>
              <a:t> </a:t>
            </a:r>
            <a:r>
              <a:rPr dirty="0" baseline="36111" sz="1500" spc="15" i="1">
                <a:latin typeface="Trebuchet MS"/>
                <a:cs typeface="Trebuchet MS"/>
              </a:rPr>
              <a:t>U</a:t>
            </a:r>
            <a:r>
              <a:rPr dirty="0" baseline="36111" sz="1500" spc="15">
                <a:latin typeface="Tahoma"/>
                <a:cs typeface="Tahoma"/>
              </a:rPr>
              <a:t>(</a:t>
            </a:r>
            <a:r>
              <a:rPr dirty="0" baseline="36111" sz="1500" spc="15" i="1">
                <a:latin typeface="Trebuchet MS"/>
                <a:cs typeface="Trebuchet MS"/>
              </a:rPr>
              <a:t>x</a:t>
            </a:r>
            <a:r>
              <a:rPr dirty="0" baseline="36111" sz="1500" spc="-315" i="1">
                <a:latin typeface="Trebuchet MS"/>
                <a:cs typeface="Trebuchet MS"/>
              </a:rPr>
              <a:t> </a:t>
            </a:r>
            <a:r>
              <a:rPr dirty="0" baseline="36111" sz="1500" spc="15">
                <a:latin typeface="Tahoma"/>
                <a:cs typeface="Tahoma"/>
              </a:rPr>
              <a:t>)</a:t>
            </a:r>
            <a:r>
              <a:rPr dirty="0" baseline="36111" sz="1500" spc="382">
                <a:latin typeface="Tahoma"/>
                <a:cs typeface="Tahoma"/>
              </a:rPr>
              <a:t> </a:t>
            </a:r>
            <a:r>
              <a:rPr dirty="0" sz="1000" spc="90" i="1">
                <a:latin typeface="Times New Roman"/>
                <a:cs typeface="Times New Roman"/>
              </a:rPr>
              <a:t>&gt;</a:t>
            </a:r>
            <a:r>
              <a:rPr dirty="0" sz="1000" spc="40" i="1">
                <a:latin typeface="Times New Roman"/>
                <a:cs typeface="Times New Roman"/>
              </a:rPr>
              <a:t> </a:t>
            </a:r>
            <a:r>
              <a:rPr dirty="0" sz="1000" spc="-50" i="1">
                <a:latin typeface="Trebuchet MS"/>
                <a:cs typeface="Trebuchet MS"/>
              </a:rPr>
              <a:t>x</a:t>
            </a:r>
            <a:endParaRPr sz="100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SINH VIÊN: LƯU BẢO PHÚC 0.5cm </dc:creator>
  <dc:subject>Seminar</dc:subject>
  <dc:title>PHỐI HỢP CHUỖI CUNG ỨNG BẰNG LÝ THUYẾT TRÒ CHƠI HỢP TÁC: MÔ HÌNH THƯƠNG LƯỢNG NASH </dc:title>
  <dcterms:created xsi:type="dcterms:W3CDTF">2026-01-19T15:07:19Z</dcterms:created>
  <dcterms:modified xsi:type="dcterms:W3CDTF">2026-01-19T15:07:19Z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2026-01-05T00:00:00Z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2026-01-19T00:00:00Z</vt:filetime>
  </property>
  <property fmtid="{D5CDD505-2E9C-101B-9397-08002B2CF9AE}" pid="5" name="PTEX.Fullbanner">
    <vt:lpwstr>This is pdfTeX, Version 3.141592653-2.6-1.40.27 (TeX Live 2025) kpathsea version 6.4.1</vt:lpwstr>
  </property>
  <property fmtid="{D5CDD505-2E9C-101B-9397-08002B2CF9AE}" pid="6" name="Producer">
    <vt:lpwstr>pdfTeX-1.40.27</vt:lpwstr>
  </property>
</Properties>
</file>